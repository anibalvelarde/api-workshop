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6" r:id="rId1"/>
  </p:sldMasterIdLst>
  <p:notesMasterIdLst>
    <p:notesMasterId r:id="rId45"/>
  </p:notesMasterIdLst>
  <p:sldIdLst>
    <p:sldId id="256" r:id="rId2"/>
    <p:sldId id="259" r:id="rId3"/>
    <p:sldId id="296" r:id="rId4"/>
    <p:sldId id="297" r:id="rId5"/>
    <p:sldId id="315" r:id="rId6"/>
    <p:sldId id="331" r:id="rId7"/>
    <p:sldId id="317" r:id="rId8"/>
    <p:sldId id="316" r:id="rId9"/>
    <p:sldId id="318" r:id="rId10"/>
    <p:sldId id="319" r:id="rId11"/>
    <p:sldId id="298" r:id="rId12"/>
    <p:sldId id="320" r:id="rId13"/>
    <p:sldId id="299" r:id="rId14"/>
    <p:sldId id="300" r:id="rId15"/>
    <p:sldId id="301" r:id="rId16"/>
    <p:sldId id="302" r:id="rId17"/>
    <p:sldId id="305" r:id="rId18"/>
    <p:sldId id="307" r:id="rId19"/>
    <p:sldId id="308" r:id="rId20"/>
    <p:sldId id="309" r:id="rId21"/>
    <p:sldId id="310" r:id="rId22"/>
    <p:sldId id="311" r:id="rId23"/>
    <p:sldId id="312" r:id="rId24"/>
    <p:sldId id="313" r:id="rId25"/>
    <p:sldId id="321" r:id="rId26"/>
    <p:sldId id="322" r:id="rId27"/>
    <p:sldId id="306" r:id="rId28"/>
    <p:sldId id="332" r:id="rId29"/>
    <p:sldId id="314" r:id="rId30"/>
    <p:sldId id="323" r:id="rId31"/>
    <p:sldId id="333" r:id="rId32"/>
    <p:sldId id="303" r:id="rId33"/>
    <p:sldId id="324" r:id="rId34"/>
    <p:sldId id="325" r:id="rId35"/>
    <p:sldId id="326" r:id="rId36"/>
    <p:sldId id="327" r:id="rId37"/>
    <p:sldId id="334" r:id="rId38"/>
    <p:sldId id="304" r:id="rId39"/>
    <p:sldId id="328" r:id="rId40"/>
    <p:sldId id="295" r:id="rId41"/>
    <p:sldId id="329" r:id="rId42"/>
    <p:sldId id="291" r:id="rId43"/>
    <p:sldId id="292" r:id="rId4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6C52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1233" autoAdjust="0"/>
    <p:restoredTop sz="94660"/>
  </p:normalViewPr>
  <p:slideViewPr>
    <p:cSldViewPr snapToGrid="0">
      <p:cViewPr varScale="1">
        <p:scale>
          <a:sx n="105" d="100"/>
          <a:sy n="105" d="100"/>
        </p:scale>
        <p:origin x="1050"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6A758EB-509B-4CCF-8AD3-97A8A991C7FF}" type="datetimeFigureOut">
              <a:rPr lang="en-US" smtClean="0"/>
              <a:t>9/29/2025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ABBF519-BB17-4C09-A473-025D7A25044D}" type="slidenum">
              <a:rPr lang="en-US" smtClean="0"/>
              <a:t>‹#›</a:t>
            </a:fld>
            <a:endParaRPr lang="en-US"/>
          </a:p>
        </p:txBody>
      </p:sp>
    </p:spTree>
    <p:extLst>
      <p:ext uri="{BB962C8B-B14F-4D97-AF65-F5344CB8AC3E}">
        <p14:creationId xmlns:p14="http://schemas.microsoft.com/office/powerpoint/2010/main" val="147768480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370693" y="1769540"/>
            <a:ext cx="9440034" cy="1828801"/>
          </a:xfrm>
        </p:spPr>
        <p:txBody>
          <a:bodyPr anchor="b">
            <a:normAutofit/>
          </a:bodyPr>
          <a:lstStyle>
            <a:lvl1pPr algn="ctr">
              <a:defRPr sz="5400"/>
            </a:lvl1pPr>
          </a:lstStyle>
          <a:p>
            <a:r>
              <a:rPr lang="en-US"/>
              <a:t>Click to edit Master title style</a:t>
            </a:r>
            <a:endParaRPr lang="en-US" dirty="0"/>
          </a:p>
        </p:txBody>
      </p:sp>
      <p:sp>
        <p:nvSpPr>
          <p:cNvPr id="3" name="Subtitle 2"/>
          <p:cNvSpPr>
            <a:spLocks noGrp="1"/>
          </p:cNvSpPr>
          <p:nvPr>
            <p:ph type="subTitle" idx="1"/>
          </p:nvPr>
        </p:nvSpPr>
        <p:spPr>
          <a:xfrm>
            <a:off x="1370693" y="3598339"/>
            <a:ext cx="9440034" cy="1049867"/>
          </a:xfrm>
        </p:spPr>
        <p:txBody>
          <a:bodyPr anchor="t"/>
          <a:lstStyle>
            <a:lvl1pPr marL="0" indent="0" algn="ctr">
              <a:buNone/>
              <a:defRPr>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C4D53D78-2354-48EA-98FF-9805F4E9985B}" type="datetimeFigureOut">
              <a:rPr lang="en-US" smtClean="0"/>
              <a:t>9/29/2025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E5487CE-8276-4F87-8806-64BE97744ADD}" type="slidenum">
              <a:rPr lang="en-US" smtClean="0"/>
              <a:t>‹#›</a:t>
            </a:fld>
            <a:endParaRPr lang="en-US"/>
          </a:p>
        </p:txBody>
      </p:sp>
    </p:spTree>
    <p:extLst>
      <p:ext uri="{BB962C8B-B14F-4D97-AF65-F5344CB8AC3E}">
        <p14:creationId xmlns:p14="http://schemas.microsoft.com/office/powerpoint/2010/main" val="78707004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4D53D78-2354-48EA-98FF-9805F4E9985B}" type="datetimeFigureOut">
              <a:rPr lang="en-US" smtClean="0"/>
              <a:t>9/29/2025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E5487CE-8276-4F87-8806-64BE97744ADD}" type="slidenum">
              <a:rPr lang="en-US" smtClean="0"/>
              <a:t>‹#›</a:t>
            </a:fld>
            <a:endParaRPr lang="en-US"/>
          </a:p>
        </p:txBody>
      </p:sp>
    </p:spTree>
    <p:extLst>
      <p:ext uri="{BB962C8B-B14F-4D97-AF65-F5344CB8AC3E}">
        <p14:creationId xmlns:p14="http://schemas.microsoft.com/office/powerpoint/2010/main" val="78455920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295401" y="1761067"/>
            <a:ext cx="9590550" cy="1828813"/>
          </a:xfrm>
        </p:spPr>
        <p:txBody>
          <a:bodyPr anchor="b"/>
          <a:lstStyle>
            <a:lvl1pPr algn="ctr">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295401" y="3589879"/>
            <a:ext cx="9590550" cy="1507054"/>
          </a:xfrm>
        </p:spPr>
        <p:txBody>
          <a:bodyPr anchor="t"/>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4D53D78-2354-48EA-98FF-9805F4E9985B}" type="datetimeFigureOut">
              <a:rPr lang="en-US" smtClean="0"/>
              <a:t>9/29/2025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E5487CE-8276-4F87-8806-64BE97744ADD}" type="slidenum">
              <a:rPr lang="en-US" smtClean="0"/>
              <a:t>‹#›</a:t>
            </a:fld>
            <a:endParaRPr lang="en-US"/>
          </a:p>
        </p:txBody>
      </p:sp>
    </p:spTree>
    <p:extLst>
      <p:ext uri="{BB962C8B-B14F-4D97-AF65-F5344CB8AC3E}">
        <p14:creationId xmlns:p14="http://schemas.microsoft.com/office/powerpoint/2010/main" val="198895157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913795" y="1732449"/>
            <a:ext cx="5060497" cy="4058750"/>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02892" y="1732449"/>
            <a:ext cx="5064665" cy="4058751"/>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C4D53D78-2354-48EA-98FF-9805F4E9985B}" type="datetimeFigureOut">
              <a:rPr lang="en-US" smtClean="0"/>
              <a:t>9/29/2025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E5487CE-8276-4F87-8806-64BE97744ADD}" type="slidenum">
              <a:rPr lang="en-US" smtClean="0"/>
              <a:t>‹#›</a:t>
            </a:fld>
            <a:endParaRPr lang="en-US"/>
          </a:p>
        </p:txBody>
      </p:sp>
    </p:spTree>
    <p:extLst>
      <p:ext uri="{BB962C8B-B14F-4D97-AF65-F5344CB8AC3E}">
        <p14:creationId xmlns:p14="http://schemas.microsoft.com/office/powerpoint/2010/main" val="80946814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20" name="Picture 19" descr="Slate-V2-HD-comp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13795" y="1734506"/>
            <a:ext cx="5089072" cy="4148769"/>
          </a:xfrm>
          <a:prstGeom prst="rect">
            <a:avLst/>
          </a:prstGeom>
        </p:spPr>
      </p:pic>
      <p:pic>
        <p:nvPicPr>
          <p:cNvPr id="21" name="Picture 20" descr="Slate-V2-HD-comp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178485" y="1734506"/>
            <a:ext cx="5089072" cy="4148769"/>
          </a:xfrm>
          <a:prstGeom prst="rect">
            <a:avLst/>
          </a:prstGeom>
        </p:spPr>
      </p:pic>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005872" y="1835254"/>
            <a:ext cx="4876344" cy="544884"/>
          </a:xfrm>
        </p:spPr>
        <p:txBody>
          <a:bodyPr anchor="b">
            <a:noAutofit/>
          </a:bodyPr>
          <a:lstStyle>
            <a:lvl1pPr marL="0" indent="0" algn="ctr">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05872" y="2380137"/>
            <a:ext cx="4876344" cy="3411063"/>
          </a:xfrm>
        </p:spPr>
        <p:txBody>
          <a:bodyPr anchor="t">
            <a:normAutofit/>
          </a:bodyPr>
          <a:lstStyle>
            <a:lvl1pPr>
              <a:defRPr sz="1800"/>
            </a:lvl1pPr>
            <a:lvl2pPr>
              <a:defRPr sz="1600"/>
            </a:lvl2pPr>
            <a:lvl3pPr>
              <a:defRPr sz="14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94967" y="1835254"/>
            <a:ext cx="4895330" cy="544883"/>
          </a:xfrm>
        </p:spPr>
        <p:txBody>
          <a:bodyPr anchor="b">
            <a:noAutofit/>
          </a:bodyPr>
          <a:lstStyle>
            <a:lvl1pPr marL="0" indent="0" algn="ctr">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94967" y="2380137"/>
            <a:ext cx="4895330" cy="3411063"/>
          </a:xfrm>
        </p:spPr>
        <p:txBody>
          <a:bodyPr anchor="t">
            <a:normAutofit/>
          </a:bodyPr>
          <a:lstStyle>
            <a:lvl1pPr>
              <a:defRPr sz="1800"/>
            </a:lvl1pPr>
            <a:lvl2pPr>
              <a:defRPr sz="1600"/>
            </a:lvl2pPr>
            <a:lvl3pPr>
              <a:defRPr sz="14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C4D53D78-2354-48EA-98FF-9805F4E9985B}" type="datetimeFigureOut">
              <a:rPr lang="en-US" smtClean="0"/>
              <a:t>9/29/2025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E5487CE-8276-4F87-8806-64BE97744ADD}" type="slidenum">
              <a:rPr lang="en-US" smtClean="0"/>
              <a:t>‹#›</a:t>
            </a:fld>
            <a:endParaRPr lang="en-US"/>
          </a:p>
        </p:txBody>
      </p:sp>
    </p:spTree>
    <p:extLst>
      <p:ext uri="{BB962C8B-B14F-4D97-AF65-F5344CB8AC3E}">
        <p14:creationId xmlns:p14="http://schemas.microsoft.com/office/powerpoint/2010/main" val="418526686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C4D53D78-2354-48EA-98FF-9805F4E9985B}" type="datetimeFigureOut">
              <a:rPr lang="en-US" smtClean="0"/>
              <a:t>9/29/2025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E5487CE-8276-4F87-8806-64BE97744ADD}" type="slidenum">
              <a:rPr lang="en-US" smtClean="0"/>
              <a:t>‹#›</a:t>
            </a:fld>
            <a:endParaRPr lang="en-US"/>
          </a:p>
        </p:txBody>
      </p:sp>
    </p:spTree>
    <p:extLst>
      <p:ext uri="{BB962C8B-B14F-4D97-AF65-F5344CB8AC3E}">
        <p14:creationId xmlns:p14="http://schemas.microsoft.com/office/powerpoint/2010/main" val="275737203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4D53D78-2354-48EA-98FF-9805F4E9985B}" type="datetimeFigureOut">
              <a:rPr lang="en-US" smtClean="0"/>
              <a:t>9/29/2025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E5487CE-8276-4F87-8806-64BE97744ADD}" type="slidenum">
              <a:rPr lang="en-US" smtClean="0"/>
              <a:t>‹#›</a:t>
            </a:fld>
            <a:endParaRPr lang="en-US"/>
          </a:p>
        </p:txBody>
      </p:sp>
    </p:spTree>
    <p:extLst>
      <p:ext uri="{BB962C8B-B14F-4D97-AF65-F5344CB8AC3E}">
        <p14:creationId xmlns:p14="http://schemas.microsoft.com/office/powerpoint/2010/main" val="387440567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3706889" cy="1821918"/>
          </a:xfrm>
        </p:spPr>
        <p:txBody>
          <a:bodyPr anchor="b">
            <a:normAutofit/>
          </a:bodyPr>
          <a:lstStyle>
            <a:lvl1pPr algn="ctr">
              <a:defRPr sz="2400" b="0"/>
            </a:lvl1pPr>
          </a:lstStyle>
          <a:p>
            <a:r>
              <a:rPr lang="en-US"/>
              <a:t>Click to edit Master title style</a:t>
            </a:r>
            <a:endParaRPr lang="en-US" dirty="0"/>
          </a:p>
        </p:txBody>
      </p:sp>
      <p:sp>
        <p:nvSpPr>
          <p:cNvPr id="3" name="Content Placeholder 2"/>
          <p:cNvSpPr>
            <a:spLocks noGrp="1"/>
          </p:cNvSpPr>
          <p:nvPr>
            <p:ph idx="1"/>
          </p:nvPr>
        </p:nvSpPr>
        <p:spPr>
          <a:xfrm>
            <a:off x="4855633" y="609600"/>
            <a:ext cx="6411924" cy="518160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913795" y="2431518"/>
            <a:ext cx="3706889" cy="3359681"/>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C4D53D78-2354-48EA-98FF-9805F4E9985B}" type="datetimeFigureOut">
              <a:rPr lang="en-US" smtClean="0"/>
              <a:t>9/29/2025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E5487CE-8276-4F87-8806-64BE97744ADD}" type="slidenum">
              <a:rPr lang="en-US" smtClean="0"/>
              <a:t>‹#›</a:t>
            </a:fld>
            <a:endParaRPr lang="en-US"/>
          </a:p>
        </p:txBody>
      </p:sp>
    </p:spTree>
    <p:extLst>
      <p:ext uri="{BB962C8B-B14F-4D97-AF65-F5344CB8AC3E}">
        <p14:creationId xmlns:p14="http://schemas.microsoft.com/office/powerpoint/2010/main" val="41817894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22" name="Picture 21" descr="Slate-V2-HD-vert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93665" y="609600"/>
            <a:ext cx="3584166" cy="5204832"/>
          </a:xfrm>
          <a:prstGeom prst="rect">
            <a:avLst/>
          </a:prstGeom>
        </p:spPr>
      </p:pic>
      <p:sp>
        <p:nvSpPr>
          <p:cNvPr id="2" name="Title 1"/>
          <p:cNvSpPr>
            <a:spLocks noGrp="1"/>
          </p:cNvSpPr>
          <p:nvPr>
            <p:ph type="title"/>
          </p:nvPr>
        </p:nvSpPr>
        <p:spPr>
          <a:xfrm>
            <a:off x="913795" y="609923"/>
            <a:ext cx="5934949" cy="1829338"/>
          </a:xfrm>
        </p:spPr>
        <p:txBody>
          <a:bodyPr anchor="b">
            <a:noAutofit/>
          </a:bodyPr>
          <a:lstStyle>
            <a:lvl1pPr algn="ctr">
              <a:defRPr sz="32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7442551" y="763702"/>
            <a:ext cx="3275751" cy="4912822"/>
          </a:xfr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913795" y="2439261"/>
            <a:ext cx="5934949" cy="3376134"/>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C4D53D78-2354-48EA-98FF-9805F4E9985B}" type="datetimeFigureOut">
              <a:rPr lang="en-US" smtClean="0"/>
              <a:t>9/29/2025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E5487CE-8276-4F87-8806-64BE97744ADD}" type="slidenum">
              <a:rPr lang="en-US" smtClean="0"/>
              <a:t>‹#›</a:t>
            </a:fld>
            <a:endParaRPr lang="en-US"/>
          </a:p>
        </p:txBody>
      </p:sp>
    </p:spTree>
    <p:extLst>
      <p:ext uri="{BB962C8B-B14F-4D97-AF65-F5344CB8AC3E}">
        <p14:creationId xmlns:p14="http://schemas.microsoft.com/office/powerpoint/2010/main" val="119403724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pic>
        <p:nvPicPr>
          <p:cNvPr id="16" name="Picture 15" descr="Slate-V2-HD-pano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13883" y="547807"/>
            <a:ext cx="10141799" cy="3816806"/>
          </a:xfrm>
          <a:prstGeom prst="rect">
            <a:avLst/>
          </a:prstGeom>
        </p:spPr>
      </p:pic>
      <p:sp>
        <p:nvSpPr>
          <p:cNvPr id="2" name="Title 1"/>
          <p:cNvSpPr>
            <a:spLocks noGrp="1"/>
          </p:cNvSpPr>
          <p:nvPr>
            <p:ph type="title"/>
          </p:nvPr>
        </p:nvSpPr>
        <p:spPr>
          <a:xfrm>
            <a:off x="913806" y="4565255"/>
            <a:ext cx="10355326" cy="543472"/>
          </a:xfrm>
        </p:spPr>
        <p:txBody>
          <a:bodyPr anchor="b">
            <a:normAutofit/>
          </a:bodyPr>
          <a:lstStyle>
            <a:lvl1pPr algn="ctr">
              <a:defRPr sz="280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69349" y="695009"/>
            <a:ext cx="9845346" cy="3525671"/>
          </a:xfrm>
          <a:effectLst>
            <a:outerShdw blurRad="38100" dist="25400" dir="4440000">
              <a:srgbClr val="000000">
                <a:alpha val="36000"/>
              </a:srgbClr>
            </a:outerShdw>
          </a:effectLst>
        </p:spPr>
        <p:txBody>
          <a:bodyPr anchor="t">
            <a:normAutofit/>
          </a:bodyPr>
          <a:lstStyle>
            <a:lvl1pPr marL="0" indent="0" algn="ctr">
              <a:buNone/>
              <a:defRPr sz="2000"/>
            </a:lvl1pPr>
            <a:lvl2pPr marL="457200" indent="0">
              <a:buNone/>
              <a:defRPr sz="2000"/>
            </a:lvl2pPr>
            <a:lvl3pPr marL="914400" indent="0">
              <a:buNone/>
              <a:defRPr sz="20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3795" y="5108728"/>
            <a:ext cx="10353762" cy="682472"/>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4D53D78-2354-48EA-98FF-9805F4E9985B}" type="datetimeFigureOut">
              <a:rPr lang="en-US" smtClean="0"/>
              <a:t>9/29/2025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E5487CE-8276-4F87-8806-64BE97744ADD}" type="slidenum">
              <a:rPr lang="en-US" smtClean="0"/>
              <a:t>‹#›</a:t>
            </a:fld>
            <a:endParaRPr lang="en-US"/>
          </a:p>
        </p:txBody>
      </p:sp>
    </p:spTree>
    <p:extLst>
      <p:ext uri="{BB962C8B-B14F-4D97-AF65-F5344CB8AC3E}">
        <p14:creationId xmlns:p14="http://schemas.microsoft.com/office/powerpoint/2010/main" val="365514151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913795" y="608437"/>
            <a:ext cx="10353762" cy="3534344"/>
          </a:xfrm>
        </p:spPr>
        <p:txBody>
          <a:bodyPr anchor="ctr"/>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94" y="4295180"/>
            <a:ext cx="10353763" cy="1501826"/>
          </a:xfrm>
        </p:spPr>
        <p:txBody>
          <a:bodyPr anchor="ct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4D53D78-2354-48EA-98FF-9805F4E9985B}" type="datetimeFigureOut">
              <a:rPr lang="en-US" smtClean="0"/>
              <a:t>9/29/2025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E5487CE-8276-4F87-8806-64BE97744ADD}" type="slidenum">
              <a:rPr lang="en-US" smtClean="0"/>
              <a:t>‹#›</a:t>
            </a:fld>
            <a:endParaRPr lang="en-US"/>
          </a:p>
        </p:txBody>
      </p:sp>
    </p:spTree>
    <p:extLst>
      <p:ext uri="{BB962C8B-B14F-4D97-AF65-F5344CB8AC3E}">
        <p14:creationId xmlns:p14="http://schemas.microsoft.com/office/powerpoint/2010/main" val="352359100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600"/>
            <a:ext cx="9302752" cy="2992904"/>
          </a:xfrm>
        </p:spPr>
        <p:txBody>
          <a:bodyPr anchor="ctr"/>
          <a:lstStyle>
            <a:lvl1pPr>
              <a:defRPr sz="3200"/>
            </a:lvl1pPr>
          </a:lstStyle>
          <a:p>
            <a:r>
              <a:rPr lang="en-US"/>
              <a:t>Click to edit Master title style</a:t>
            </a:r>
            <a:endParaRPr lang="en-US" dirty="0"/>
          </a:p>
        </p:txBody>
      </p:sp>
      <p:sp>
        <p:nvSpPr>
          <p:cNvPr id="12" name="Text Placeholder 3"/>
          <p:cNvSpPr>
            <a:spLocks noGrp="1"/>
          </p:cNvSpPr>
          <p:nvPr>
            <p:ph type="body" sz="half" idx="13"/>
          </p:nvPr>
        </p:nvSpPr>
        <p:spPr>
          <a:xfrm>
            <a:off x="1720644" y="3610032"/>
            <a:ext cx="8752299" cy="532749"/>
          </a:xfrm>
        </p:spPr>
        <p:txBody>
          <a:bodyPr anchor="t">
            <a:normAutofit/>
          </a:bodyPr>
          <a:lstStyle>
            <a:lvl1pPr marL="0" indent="0" algn="r">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913794" y="4304353"/>
            <a:ext cx="10353763" cy="1489496"/>
          </a:xfrm>
        </p:spPr>
        <p:txBody>
          <a:bodyPr anchor="ctr">
            <a:normAutofit/>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4D53D78-2354-48EA-98FF-9805F4E9985B}" type="datetimeFigureOut">
              <a:rPr lang="en-US" smtClean="0"/>
              <a:t>9/29/2025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E5487CE-8276-4F87-8806-64BE97744ADD}" type="slidenum">
              <a:rPr lang="en-US" smtClean="0"/>
              <a:t>‹#›</a:t>
            </a:fld>
            <a:endParaRPr lang="en-US"/>
          </a:p>
        </p:txBody>
      </p:sp>
      <p:sp>
        <p:nvSpPr>
          <p:cNvPr id="11" name="TextBox 10"/>
          <p:cNvSpPr txBox="1"/>
          <p:nvPr/>
        </p:nvSpPr>
        <p:spPr>
          <a:xfrm>
            <a:off x="990600" y="884796"/>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3" name="TextBox 12"/>
          <p:cNvSpPr txBox="1"/>
          <p:nvPr/>
        </p:nvSpPr>
        <p:spPr>
          <a:xfrm>
            <a:off x="10504716" y="2928258"/>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288317621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913794" y="2126942"/>
            <a:ext cx="10353763" cy="2511835"/>
          </a:xfrm>
        </p:spPr>
        <p:txBody>
          <a:bodyPr anchor="b"/>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84" y="4650556"/>
            <a:ext cx="10352199" cy="1140644"/>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4D53D78-2354-48EA-98FF-9805F4E9985B}" type="datetimeFigureOut">
              <a:rPr lang="en-US" smtClean="0"/>
              <a:t>9/29/2025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E5487CE-8276-4F87-8806-64BE97744ADD}" type="slidenum">
              <a:rPr lang="en-US" smtClean="0"/>
              <a:t>‹#›</a:t>
            </a:fld>
            <a:endParaRPr lang="en-US"/>
          </a:p>
        </p:txBody>
      </p:sp>
    </p:spTree>
    <p:extLst>
      <p:ext uri="{BB962C8B-B14F-4D97-AF65-F5344CB8AC3E}">
        <p14:creationId xmlns:p14="http://schemas.microsoft.com/office/powerpoint/2010/main" val="238593758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913795" y="609600"/>
            <a:ext cx="10353762" cy="970450"/>
          </a:xfrm>
        </p:spPr>
        <p:txBody>
          <a:bodyPr/>
          <a:lstStyle/>
          <a:p>
            <a:r>
              <a:rPr lang="en-US"/>
              <a:t>Click to edit Master title style</a:t>
            </a:r>
            <a:endParaRPr lang="en-US" dirty="0"/>
          </a:p>
        </p:txBody>
      </p:sp>
      <p:sp>
        <p:nvSpPr>
          <p:cNvPr id="7" name="Text Placeholder 2"/>
          <p:cNvSpPr>
            <a:spLocks noGrp="1"/>
          </p:cNvSpPr>
          <p:nvPr>
            <p:ph type="body" idx="1"/>
          </p:nvPr>
        </p:nvSpPr>
        <p:spPr>
          <a:xfrm>
            <a:off x="913795" y="1885950"/>
            <a:ext cx="3300984" cy="576262"/>
          </a:xfrm>
        </p:spPr>
        <p:txBody>
          <a:bodyPr anchor="b">
            <a:noAutofit/>
          </a:bodyPr>
          <a:lstStyle>
            <a:lvl1pPr marL="0" indent="0" algn="ctr">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913795" y="2571750"/>
            <a:ext cx="3300984" cy="3219450"/>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446711" y="1885950"/>
            <a:ext cx="3300984" cy="576262"/>
          </a:xfrm>
        </p:spPr>
        <p:txBody>
          <a:bodyPr anchor="b">
            <a:noAutofit/>
          </a:bodyPr>
          <a:lstStyle>
            <a:lvl1pPr marL="0" indent="0" algn="ctr">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4441435" y="2571750"/>
            <a:ext cx="3300984" cy="3219450"/>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7966572" y="1885950"/>
            <a:ext cx="3300984" cy="576262"/>
          </a:xfrm>
        </p:spPr>
        <p:txBody>
          <a:bodyPr anchor="b">
            <a:noAutofit/>
          </a:bodyPr>
          <a:lstStyle>
            <a:lvl1pPr marL="0" indent="0" algn="ctr">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7966572" y="2571750"/>
            <a:ext cx="3300984" cy="3219450"/>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C4D53D78-2354-48EA-98FF-9805F4E9985B}" type="datetimeFigureOut">
              <a:rPr lang="en-US" smtClean="0"/>
              <a:t>9/29/2025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E5487CE-8276-4F87-8806-64BE97744ADD}" type="slidenum">
              <a:rPr lang="en-US" smtClean="0"/>
              <a:t>‹#›</a:t>
            </a:fld>
            <a:endParaRPr lang="en-US"/>
          </a:p>
        </p:txBody>
      </p:sp>
    </p:spTree>
    <p:extLst>
      <p:ext uri="{BB962C8B-B14F-4D97-AF65-F5344CB8AC3E}">
        <p14:creationId xmlns:p14="http://schemas.microsoft.com/office/powerpoint/2010/main" val="381758175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pic>
        <p:nvPicPr>
          <p:cNvPr id="2" name="Picture 1" descr="Slate-V2-HD-3col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97962" y="1818214"/>
            <a:ext cx="3339972" cy="1847851"/>
          </a:xfrm>
          <a:prstGeom prst="rect">
            <a:avLst/>
          </a:prstGeom>
        </p:spPr>
      </p:pic>
      <p:pic>
        <p:nvPicPr>
          <p:cNvPr id="36" name="Picture 35" descr="Slate-V2-HD-3col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403800" y="1818214"/>
            <a:ext cx="3339972" cy="1847851"/>
          </a:xfrm>
          <a:prstGeom prst="rect">
            <a:avLst/>
          </a:prstGeom>
        </p:spPr>
      </p:pic>
      <p:pic>
        <p:nvPicPr>
          <p:cNvPr id="37" name="Picture 36" descr="Slate-V2-HD-3col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936051" y="1818214"/>
            <a:ext cx="3339972" cy="1847851"/>
          </a:xfrm>
          <a:prstGeom prst="rect">
            <a:avLst/>
          </a:prstGeom>
        </p:spPr>
      </p:pic>
      <p:sp>
        <p:nvSpPr>
          <p:cNvPr id="30" name="Title 1"/>
          <p:cNvSpPr>
            <a:spLocks noGrp="1"/>
          </p:cNvSpPr>
          <p:nvPr>
            <p:ph type="title"/>
          </p:nvPr>
        </p:nvSpPr>
        <p:spPr>
          <a:xfrm>
            <a:off x="913794" y="609600"/>
            <a:ext cx="10353763" cy="970450"/>
          </a:xfrm>
        </p:spPr>
        <p:txBody>
          <a:bodyPr/>
          <a:lstStyle/>
          <a:p>
            <a:r>
              <a:rPr lang="en-US"/>
              <a:t>Click to edit Master title style</a:t>
            </a:r>
            <a:endParaRPr lang="en-US" dirty="0"/>
          </a:p>
        </p:txBody>
      </p:sp>
      <p:sp>
        <p:nvSpPr>
          <p:cNvPr id="19" name="Text Placeholder 2"/>
          <p:cNvSpPr>
            <a:spLocks noGrp="1"/>
          </p:cNvSpPr>
          <p:nvPr>
            <p:ph type="body" idx="1"/>
          </p:nvPr>
        </p:nvSpPr>
        <p:spPr>
          <a:xfrm>
            <a:off x="913795" y="3904106"/>
            <a:ext cx="3300984" cy="576262"/>
          </a:xfrm>
        </p:spPr>
        <p:txBody>
          <a:bodyPr anchor="b">
            <a:noAutofit/>
          </a:bodyPr>
          <a:lstStyle>
            <a:lvl1pPr marL="0" indent="0" algn="ctr">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1018102" y="1938918"/>
            <a:ext cx="3092368" cy="1602954"/>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1" name="Text Placeholder 3"/>
          <p:cNvSpPr>
            <a:spLocks noGrp="1"/>
          </p:cNvSpPr>
          <p:nvPr>
            <p:ph type="body" sz="half" idx="18"/>
          </p:nvPr>
        </p:nvSpPr>
        <p:spPr>
          <a:xfrm>
            <a:off x="913795" y="4480368"/>
            <a:ext cx="3300984" cy="1310833"/>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442788" y="3904106"/>
            <a:ext cx="3300984" cy="576262"/>
          </a:xfrm>
        </p:spPr>
        <p:txBody>
          <a:bodyPr anchor="b">
            <a:noAutofit/>
          </a:bodyPr>
          <a:lstStyle>
            <a:lvl1pPr marL="0" indent="0" algn="ctr">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545743" y="1939094"/>
            <a:ext cx="3092368" cy="1608164"/>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4441435" y="4480367"/>
            <a:ext cx="3300984" cy="1310833"/>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966697" y="3904106"/>
            <a:ext cx="3300984" cy="576262"/>
          </a:xfrm>
        </p:spPr>
        <p:txBody>
          <a:bodyPr anchor="b">
            <a:noAutofit/>
          </a:bodyPr>
          <a:lstStyle>
            <a:lvl1pPr marL="0" indent="0" algn="ctr">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8075698" y="1934432"/>
            <a:ext cx="3092368" cy="1607294"/>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7966572" y="4480365"/>
            <a:ext cx="3300984" cy="131083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C4D53D78-2354-48EA-98FF-9805F4E9985B}" type="datetimeFigureOut">
              <a:rPr lang="en-US" smtClean="0"/>
              <a:t>9/29/2025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E5487CE-8276-4F87-8806-64BE97744ADD}" type="slidenum">
              <a:rPr lang="en-US" smtClean="0"/>
              <a:t>‹#›</a:t>
            </a:fld>
            <a:endParaRPr lang="en-US"/>
          </a:p>
        </p:txBody>
      </p:sp>
    </p:spTree>
    <p:extLst>
      <p:ext uri="{BB962C8B-B14F-4D97-AF65-F5344CB8AC3E}">
        <p14:creationId xmlns:p14="http://schemas.microsoft.com/office/powerpoint/2010/main" val="222170556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4D53D78-2354-48EA-98FF-9805F4E9985B}" type="datetimeFigureOut">
              <a:rPr lang="en-US" smtClean="0"/>
              <a:t>9/29/2025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E5487CE-8276-4F87-8806-64BE97744ADD}" type="slidenum">
              <a:rPr lang="en-US" smtClean="0"/>
              <a:t>‹#›</a:t>
            </a:fld>
            <a:endParaRPr lang="en-US"/>
          </a:p>
        </p:txBody>
      </p:sp>
    </p:spTree>
    <p:extLst>
      <p:ext uri="{BB962C8B-B14F-4D97-AF65-F5344CB8AC3E}">
        <p14:creationId xmlns:p14="http://schemas.microsoft.com/office/powerpoint/2010/main" val="222183891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83068" y="609599"/>
            <a:ext cx="2284487" cy="5181601"/>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913796" y="609599"/>
            <a:ext cx="7916872" cy="5181601"/>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4D53D78-2354-48EA-98FF-9805F4E9985B}" type="datetimeFigureOut">
              <a:rPr lang="en-US" smtClean="0"/>
              <a:t>9/29/2025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E5487CE-8276-4F87-8806-64BE97744ADD}" type="slidenum">
              <a:rPr lang="en-US" smtClean="0"/>
              <a:t>‹#›</a:t>
            </a:fld>
            <a:endParaRPr lang="en-US"/>
          </a:p>
        </p:txBody>
      </p:sp>
    </p:spTree>
    <p:extLst>
      <p:ext uri="{BB962C8B-B14F-4D97-AF65-F5344CB8AC3E}">
        <p14:creationId xmlns:p14="http://schemas.microsoft.com/office/powerpoint/2010/main" val="268995480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913795" y="609600"/>
            <a:ext cx="10353762" cy="970450"/>
          </a:xfrm>
          <a:prstGeom prst="rect">
            <a:avLst/>
          </a:prstGeom>
          <a:effectLst>
            <a:outerShdw blurRad="25400" dir="17880000">
              <a:srgbClr val="000000">
                <a:alpha val="46000"/>
              </a:srgbClr>
            </a:outerShdw>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913795" y="1732449"/>
            <a:ext cx="10353762" cy="4058751"/>
          </a:xfrm>
          <a:prstGeom prst="rect">
            <a:avLst/>
          </a:prstGeom>
          <a:effectLst>
            <a:outerShdw blurRad="25400" dir="17880000">
              <a:srgbClr val="000000">
                <a:alpha val="46000"/>
              </a:srgbClr>
            </a:outerShdw>
          </a:effectLst>
        </p:spPr>
        <p:txBody>
          <a:bodyPr vert="horz" lIns="91440" tIns="45720" rIns="91440" bIns="45720" rtlCol="0"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678736" y="5883275"/>
            <a:ext cx="2743200" cy="365125"/>
          </a:xfrm>
          <a:prstGeom prst="rect">
            <a:avLst/>
          </a:prstGeom>
        </p:spPr>
        <p:txBody>
          <a:bodyPr vert="horz" lIns="91440" tIns="45720" rIns="91440" bIns="45720" rtlCol="0" anchor="ctr"/>
          <a:lstStyle>
            <a:lvl1pPr algn="r">
              <a:defRPr sz="1000">
                <a:solidFill>
                  <a:schemeClr val="tx1">
                    <a:lumMod val="95000"/>
                  </a:schemeClr>
                </a:solidFill>
                <a:effectLst>
                  <a:outerShdw blurRad="50800" dist="38100" dir="2700000" algn="tl" rotWithShape="0">
                    <a:schemeClr val="bg1">
                      <a:alpha val="43000"/>
                    </a:schemeClr>
                  </a:outerShdw>
                </a:effectLst>
              </a:defRPr>
            </a:lvl1pPr>
          </a:lstStyle>
          <a:p>
            <a:fld id="{C4D53D78-2354-48EA-98FF-9805F4E9985B}" type="datetimeFigureOut">
              <a:rPr lang="en-US" smtClean="0"/>
              <a:t>9/29/2025</a:t>
            </a:fld>
            <a:endParaRPr lang="en-US"/>
          </a:p>
        </p:txBody>
      </p:sp>
      <p:sp>
        <p:nvSpPr>
          <p:cNvPr id="5" name="Footer Placeholder 4"/>
          <p:cNvSpPr>
            <a:spLocks noGrp="1"/>
          </p:cNvSpPr>
          <p:nvPr>
            <p:ph type="ftr" sz="quarter" idx="3"/>
          </p:nvPr>
        </p:nvSpPr>
        <p:spPr>
          <a:xfrm>
            <a:off x="913795" y="5883275"/>
            <a:ext cx="6672865" cy="365125"/>
          </a:xfrm>
          <a:prstGeom prst="rect">
            <a:avLst/>
          </a:prstGeom>
        </p:spPr>
        <p:txBody>
          <a:bodyPr vert="horz" lIns="91440" tIns="45720" rIns="91440" bIns="45720" rtlCol="0" anchor="ctr"/>
          <a:lstStyle>
            <a:lvl1pPr algn="l">
              <a:defRPr sz="1000">
                <a:solidFill>
                  <a:schemeClr val="tx1">
                    <a:lumMod val="95000"/>
                  </a:schemeClr>
                </a:solidFill>
                <a:effectLst>
                  <a:outerShdw blurRad="50800" dist="38100" dir="2700000" algn="tl" rotWithShape="0">
                    <a:schemeClr val="bg1">
                      <a:alpha val="43000"/>
                    </a:schemeClr>
                  </a:outerShdw>
                </a:effectLst>
              </a:defRPr>
            </a:lvl1pPr>
          </a:lstStyle>
          <a:p>
            <a:endParaRPr lang="en-US"/>
          </a:p>
        </p:txBody>
      </p:sp>
      <p:sp>
        <p:nvSpPr>
          <p:cNvPr id="6" name="Slide Number Placeholder 5"/>
          <p:cNvSpPr>
            <a:spLocks noGrp="1"/>
          </p:cNvSpPr>
          <p:nvPr>
            <p:ph type="sldNum" sz="quarter" idx="4"/>
          </p:nvPr>
        </p:nvSpPr>
        <p:spPr>
          <a:xfrm>
            <a:off x="10514011" y="5883275"/>
            <a:ext cx="753545" cy="365125"/>
          </a:xfrm>
          <a:prstGeom prst="rect">
            <a:avLst/>
          </a:prstGeom>
        </p:spPr>
        <p:txBody>
          <a:bodyPr vert="horz" lIns="91440" tIns="45720" rIns="91440" bIns="45720" rtlCol="0" anchor="ctr"/>
          <a:lstStyle>
            <a:lvl1pPr algn="r">
              <a:defRPr sz="1000">
                <a:solidFill>
                  <a:schemeClr val="tx1">
                    <a:lumMod val="95000"/>
                  </a:schemeClr>
                </a:solidFill>
                <a:effectLst>
                  <a:outerShdw blurRad="50800" dist="38100" dir="2700000" algn="tl" rotWithShape="0">
                    <a:schemeClr val="bg1">
                      <a:alpha val="43000"/>
                    </a:schemeClr>
                  </a:outerShdw>
                </a:effectLst>
              </a:defRPr>
            </a:lvl1pPr>
          </a:lstStyle>
          <a:p>
            <a:fld id="{9E5487CE-8276-4F87-8806-64BE97744ADD}" type="slidenum">
              <a:rPr lang="en-US" smtClean="0"/>
              <a:t>‹#›</a:t>
            </a:fld>
            <a:endParaRPr lang="en-US"/>
          </a:p>
        </p:txBody>
      </p:sp>
    </p:spTree>
    <p:extLst>
      <p:ext uri="{BB962C8B-B14F-4D97-AF65-F5344CB8AC3E}">
        <p14:creationId xmlns:p14="http://schemas.microsoft.com/office/powerpoint/2010/main" val="4261197827"/>
      </p:ext>
    </p:extLst>
  </p:cSld>
  <p:clrMap bg1="dk1" tx1="lt1" bg2="dk2" tx2="lt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 id="2147483708" r:id="rId12"/>
    <p:sldLayoutId id="2147483709" r:id="rId13"/>
    <p:sldLayoutId id="2147483710" r:id="rId14"/>
    <p:sldLayoutId id="2147483711" r:id="rId15"/>
    <p:sldLayoutId id="2147483712" r:id="rId16"/>
    <p:sldLayoutId id="2147483713" r:id="rId17"/>
  </p:sldLayoutIdLst>
  <p:txStyles>
    <p:titleStyle>
      <a:lvl1pPr algn="ctr" defTabSz="457200" rtl="0" eaLnBrk="1" latinLnBrk="0" hangingPunct="1">
        <a:spcBef>
          <a:spcPct val="0"/>
        </a:spcBef>
        <a:buNone/>
        <a:defRPr sz="4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j-lt"/>
          <a:ea typeface="+mj-ea"/>
          <a:cs typeface="Trebuchet M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06000" algn="l" defTabSz="457200" rtl="0" eaLnBrk="1" latinLnBrk="0" hangingPunct="1">
        <a:spcBef>
          <a:spcPct val="20000"/>
        </a:spcBef>
        <a:spcAft>
          <a:spcPts val="600"/>
        </a:spcAft>
        <a:buClr>
          <a:schemeClr val="tx2"/>
        </a:buClr>
        <a:buSzPct val="70000"/>
        <a:buFont typeface="Wingdings 2" charset="2"/>
        <a:buChar char=""/>
        <a:defRPr sz="2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1pPr>
      <a:lvl2pPr marL="720000" indent="-270000" algn="l" defTabSz="457200" rtl="0" eaLnBrk="1" latinLnBrk="0" hangingPunct="1">
        <a:spcBef>
          <a:spcPct val="20000"/>
        </a:spcBef>
        <a:spcAft>
          <a:spcPts val="600"/>
        </a:spcAft>
        <a:buClr>
          <a:schemeClr val="tx2"/>
        </a:buClr>
        <a:buSzPct val="70000"/>
        <a:buFont typeface="Wingdings 2" charset="2"/>
        <a:buChar char=""/>
        <a:defRPr sz="18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2pPr>
      <a:lvl3pPr marL="1026000" indent="-216000" algn="l" defTabSz="457200" rtl="0" eaLnBrk="1" latinLnBrk="0" hangingPunct="1">
        <a:spcBef>
          <a:spcPct val="20000"/>
        </a:spcBef>
        <a:spcAft>
          <a:spcPts val="600"/>
        </a:spcAft>
        <a:buClr>
          <a:schemeClr val="tx2"/>
        </a:buClr>
        <a:buSzPct val="70000"/>
        <a:buFont typeface="Wingdings 2" charset="2"/>
        <a:buChar char=""/>
        <a:defRPr sz="16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3pPr>
      <a:lvl4pPr marL="1386000" indent="-2160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4pPr>
      <a:lvl5pPr marL="1674000" indent="-2160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5pPr>
      <a:lvl6pPr marL="20146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6pPr>
      <a:lvl7pPr marL="24018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7pPr>
      <a:lvl8pPr marL="27890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8pPr>
      <a:lvl9pPr marL="31062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peg"/><Relationship Id="rId1" Type="http://schemas.openxmlformats.org/officeDocument/2006/relationships/slideLayout" Target="../slideLayouts/slideLayout2.xml"/><Relationship Id="rId4" Type="http://schemas.openxmlformats.org/officeDocument/2006/relationships/image" Target="../media/image11.jpg"/></Relationships>
</file>

<file path=ppt/slides/_rels/slide1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1.jpeg"/><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80000"/>
                <a:lumMod val="80000"/>
              </a:schemeClr>
              <a:schemeClr val="bg2">
                <a:tint val="98000"/>
              </a:schemeClr>
            </a:duotone>
          </a:blip>
          <a:stretch/>
        </a:blip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AB482FD-C684-4DAA-AC4C-1739F51A98A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454B8E8-9736-EF31-A0C6-1925343F7335}"/>
              </a:ext>
            </a:extLst>
          </p:cNvPr>
          <p:cNvSpPr>
            <a:spLocks noGrp="1"/>
          </p:cNvSpPr>
          <p:nvPr>
            <p:ph type="ctrTitle"/>
          </p:nvPr>
        </p:nvSpPr>
        <p:spPr>
          <a:xfrm>
            <a:off x="5139236" y="1097280"/>
            <a:ext cx="6043875" cy="4626864"/>
          </a:xfrm>
        </p:spPr>
        <p:txBody>
          <a:bodyPr anchor="ctr">
            <a:normAutofit/>
          </a:bodyPr>
          <a:lstStyle/>
          <a:p>
            <a:pPr algn="l"/>
            <a:r>
              <a:rPr lang="en-US" dirty="0"/>
              <a:t>REST APIs</a:t>
            </a:r>
            <a:endParaRPr lang="en-US"/>
          </a:p>
        </p:txBody>
      </p:sp>
      <p:sp>
        <p:nvSpPr>
          <p:cNvPr id="3" name="Subtitle 2">
            <a:extLst>
              <a:ext uri="{FF2B5EF4-FFF2-40B4-BE49-F238E27FC236}">
                <a16:creationId xmlns:a16="http://schemas.microsoft.com/office/drawing/2014/main" id="{4838A3D6-13CF-F018-5280-8293C234A764}"/>
              </a:ext>
            </a:extLst>
          </p:cNvPr>
          <p:cNvSpPr>
            <a:spLocks noGrp="1"/>
          </p:cNvSpPr>
          <p:nvPr>
            <p:ph type="subTitle" idx="1"/>
          </p:nvPr>
        </p:nvSpPr>
        <p:spPr>
          <a:xfrm>
            <a:off x="913795" y="1097280"/>
            <a:ext cx="3256177" cy="4626863"/>
          </a:xfrm>
        </p:spPr>
        <p:txBody>
          <a:bodyPr anchor="ctr">
            <a:normAutofit/>
          </a:bodyPr>
          <a:lstStyle/>
          <a:p>
            <a:pPr algn="r"/>
            <a:r>
              <a:rPr lang="en-US" dirty="0"/>
              <a:t>Design | Build | Run</a:t>
            </a:r>
            <a:endParaRPr lang="en-US"/>
          </a:p>
        </p:txBody>
      </p:sp>
      <p:cxnSp>
        <p:nvCxnSpPr>
          <p:cNvPr id="10" name="Straight Connector 9">
            <a:extLst>
              <a:ext uri="{FF2B5EF4-FFF2-40B4-BE49-F238E27FC236}">
                <a16:creationId xmlns:a16="http://schemas.microsoft.com/office/drawing/2014/main" id="{2DAA738B-EDF5-4694-B25A-3488245BC87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654605" y="2057399"/>
            <a:ext cx="0" cy="2743200"/>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527144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par>
                                <p:cTn id="8" presetID="10" presetClass="entr" presetSubtype="0" fill="hold" grpId="0" nodeType="withEffect">
                                  <p:stCondLst>
                                    <p:cond delay="1000"/>
                                  </p:stCondLst>
                                  <p:iterate>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7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80000"/>
                <a:lumMod val="80000"/>
              </a:schemeClr>
              <a:schemeClr val="bg2">
                <a:tint val="98000"/>
              </a:schemeClr>
            </a:duotone>
          </a:blip>
          <a:stretch/>
        </a:blip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F7471772-E57F-4CD9-9241-D264A2F782E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321564" y="320040"/>
            <a:ext cx="11548872" cy="6217920"/>
          </a:xfrm>
          <a:prstGeom prst="rect">
            <a:avLst/>
          </a:prstGeom>
          <a:solidFill>
            <a:schemeClr val="bg1">
              <a:lumMod val="75000"/>
              <a:lumOff val="25000"/>
            </a:schemeClr>
          </a:solidFill>
          <a:ln>
            <a:noFill/>
          </a:ln>
          <a:effectLst>
            <a:innerShdw blurRad="63500" dist="50800" dir="162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7DED014-2B4B-14A1-DECF-BC4EE94126DC}"/>
              </a:ext>
            </a:extLst>
          </p:cNvPr>
          <p:cNvSpPr>
            <a:spLocks noGrp="1"/>
          </p:cNvSpPr>
          <p:nvPr>
            <p:ph type="title"/>
          </p:nvPr>
        </p:nvSpPr>
        <p:spPr>
          <a:xfrm>
            <a:off x="4377625" y="963507"/>
            <a:ext cx="6849344" cy="4995027"/>
          </a:xfrm>
        </p:spPr>
        <p:txBody>
          <a:bodyPr vert="horz" lIns="91440" tIns="45720" rIns="91440" bIns="45720" rtlCol="0" anchor="ctr">
            <a:normAutofit/>
          </a:bodyPr>
          <a:lstStyle/>
          <a:p>
            <a:pPr algn="l"/>
            <a:r>
              <a:rPr lang="en-US" sz="5200" dirty="0"/>
              <a:t>Module 5</a:t>
            </a:r>
          </a:p>
        </p:txBody>
      </p:sp>
      <p:sp>
        <p:nvSpPr>
          <p:cNvPr id="3" name="Content Placeholder 2">
            <a:extLst>
              <a:ext uri="{FF2B5EF4-FFF2-40B4-BE49-F238E27FC236}">
                <a16:creationId xmlns:a16="http://schemas.microsoft.com/office/drawing/2014/main" id="{D4AF6F9C-4899-3B51-F98F-5D85BA5241A4}"/>
              </a:ext>
            </a:extLst>
          </p:cNvPr>
          <p:cNvSpPr>
            <a:spLocks noGrp="1"/>
          </p:cNvSpPr>
          <p:nvPr>
            <p:ph idx="1"/>
          </p:nvPr>
        </p:nvSpPr>
        <p:spPr>
          <a:xfrm>
            <a:off x="965031" y="957287"/>
            <a:ext cx="2760795" cy="4995027"/>
          </a:xfrm>
        </p:spPr>
        <p:txBody>
          <a:bodyPr vert="horz" lIns="91440" tIns="45720" rIns="91440" bIns="45720" rtlCol="0" anchor="ctr">
            <a:normAutofit/>
          </a:bodyPr>
          <a:lstStyle/>
          <a:p>
            <a:pPr marL="0" indent="0" algn="r">
              <a:buNone/>
            </a:pPr>
            <a:r>
              <a:rPr lang="en-US" dirty="0" err="1">
                <a:solidFill>
                  <a:schemeClr val="tx1"/>
                </a:solidFill>
              </a:rPr>
              <a:t>FastAPI</a:t>
            </a:r>
            <a:endParaRPr lang="en-US" dirty="0">
              <a:solidFill>
                <a:schemeClr val="tx1"/>
              </a:solidFill>
            </a:endParaRPr>
          </a:p>
          <a:p>
            <a:pPr marL="0" indent="0" algn="r">
              <a:buNone/>
            </a:pPr>
            <a:endParaRPr lang="en-US" dirty="0">
              <a:solidFill>
                <a:schemeClr val="tx1"/>
              </a:solidFill>
            </a:endParaRPr>
          </a:p>
          <a:p>
            <a:pPr marL="0" indent="0" algn="r">
              <a:buNone/>
            </a:pPr>
            <a:r>
              <a:rPr lang="en-US" dirty="0">
                <a:solidFill>
                  <a:schemeClr val="tx1"/>
                </a:solidFill>
              </a:rPr>
              <a:t>Hands-On</a:t>
            </a:r>
          </a:p>
          <a:p>
            <a:pPr marL="0" indent="0" algn="r">
              <a:buNone/>
            </a:pPr>
            <a:r>
              <a:rPr lang="en-US" dirty="0">
                <a:solidFill>
                  <a:schemeClr val="tx1"/>
                </a:solidFill>
              </a:rPr>
              <a:t>Implementation</a:t>
            </a:r>
          </a:p>
          <a:p>
            <a:pPr marL="0" indent="0" algn="r">
              <a:buNone/>
            </a:pPr>
            <a:r>
              <a:rPr lang="en-US" dirty="0">
                <a:solidFill>
                  <a:schemeClr val="tx1"/>
                </a:solidFill>
              </a:rPr>
              <a:t>With Python</a:t>
            </a:r>
          </a:p>
        </p:txBody>
      </p:sp>
      <p:cxnSp>
        <p:nvCxnSpPr>
          <p:cNvPr id="10" name="Straight Connector 9">
            <a:extLst>
              <a:ext uri="{FF2B5EF4-FFF2-40B4-BE49-F238E27FC236}">
                <a16:creationId xmlns:a16="http://schemas.microsoft.com/office/drawing/2014/main" id="{31CC7E9E-3FF6-4189-9B36-995A779F3C5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055891" y="2057399"/>
            <a:ext cx="0" cy="2743200"/>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1911697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C1815D-36C6-DEBE-F293-37C7520FEA2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D6B405A-4B6E-66FF-DD0D-ACDC5B1476C1}"/>
              </a:ext>
            </a:extLst>
          </p:cNvPr>
          <p:cNvSpPr>
            <a:spLocks noGrp="1"/>
          </p:cNvSpPr>
          <p:nvPr>
            <p:ph type="title"/>
          </p:nvPr>
        </p:nvSpPr>
        <p:spPr/>
        <p:txBody>
          <a:bodyPr/>
          <a:lstStyle/>
          <a:p>
            <a:r>
              <a:rPr lang="en-US" dirty="0"/>
              <a:t>Recap |  REST API Design</a:t>
            </a:r>
          </a:p>
        </p:txBody>
      </p:sp>
      <p:sp>
        <p:nvSpPr>
          <p:cNvPr id="3" name="Content Placeholder 2">
            <a:extLst>
              <a:ext uri="{FF2B5EF4-FFF2-40B4-BE49-F238E27FC236}">
                <a16:creationId xmlns:a16="http://schemas.microsoft.com/office/drawing/2014/main" id="{10EE9929-B94D-4B32-DA27-A1881E8D68DD}"/>
              </a:ext>
            </a:extLst>
          </p:cNvPr>
          <p:cNvSpPr>
            <a:spLocks noGrp="1"/>
          </p:cNvSpPr>
          <p:nvPr>
            <p:ph idx="1"/>
          </p:nvPr>
        </p:nvSpPr>
        <p:spPr>
          <a:xfrm>
            <a:off x="913795" y="1732449"/>
            <a:ext cx="4426301" cy="4515951"/>
          </a:xfrm>
        </p:spPr>
        <p:txBody>
          <a:bodyPr>
            <a:normAutofit fontScale="92500" lnSpcReduction="10000"/>
          </a:bodyPr>
          <a:lstStyle/>
          <a:p>
            <a:r>
              <a:rPr lang="en-US" dirty="0"/>
              <a:t>Resource-Centric Thinking</a:t>
            </a:r>
          </a:p>
          <a:p>
            <a:pPr lvl="1"/>
            <a:r>
              <a:rPr lang="en-US" dirty="0"/>
              <a:t>Start naming resources (nouns) </a:t>
            </a:r>
          </a:p>
          <a:p>
            <a:r>
              <a:rPr lang="en-US" dirty="0"/>
              <a:t>Map actions to </a:t>
            </a:r>
            <a:r>
              <a:rPr lang="en-US" dirty="0">
                <a:solidFill>
                  <a:srgbClr val="FFC000"/>
                </a:solidFill>
              </a:rPr>
              <a:t>HTTP</a:t>
            </a:r>
            <a:r>
              <a:rPr lang="en-US" dirty="0"/>
              <a:t> Verbs</a:t>
            </a:r>
          </a:p>
          <a:p>
            <a:pPr lvl="1"/>
            <a:r>
              <a:rPr lang="en-US" dirty="0">
                <a:solidFill>
                  <a:srgbClr val="00B050"/>
                </a:solidFill>
              </a:rPr>
              <a:t>GET</a:t>
            </a:r>
            <a:r>
              <a:rPr lang="en-US" dirty="0"/>
              <a:t> – Retrieve a resource</a:t>
            </a:r>
          </a:p>
          <a:p>
            <a:pPr lvl="1"/>
            <a:r>
              <a:rPr lang="en-US" dirty="0">
                <a:solidFill>
                  <a:srgbClr val="00B0F0"/>
                </a:solidFill>
              </a:rPr>
              <a:t>POST</a:t>
            </a:r>
            <a:r>
              <a:rPr lang="en-US" dirty="0"/>
              <a:t> – Create a resource</a:t>
            </a:r>
          </a:p>
          <a:p>
            <a:pPr lvl="1"/>
            <a:r>
              <a:rPr lang="en-US" dirty="0">
                <a:solidFill>
                  <a:srgbClr val="FFC000"/>
                </a:solidFill>
              </a:rPr>
              <a:t>PUT</a:t>
            </a:r>
            <a:r>
              <a:rPr lang="en-US" dirty="0"/>
              <a:t> – Replace a whole resource</a:t>
            </a:r>
          </a:p>
          <a:p>
            <a:pPr lvl="1"/>
            <a:r>
              <a:rPr lang="en-US" dirty="0">
                <a:solidFill>
                  <a:srgbClr val="FFC000"/>
                </a:solidFill>
              </a:rPr>
              <a:t>PATCH</a:t>
            </a:r>
            <a:r>
              <a:rPr lang="en-US" dirty="0"/>
              <a:t> – Partially update a resource</a:t>
            </a:r>
          </a:p>
          <a:p>
            <a:pPr lvl="1"/>
            <a:r>
              <a:rPr lang="en-US" dirty="0">
                <a:solidFill>
                  <a:srgbClr val="FF0000"/>
                </a:solidFill>
              </a:rPr>
              <a:t>DELETE</a:t>
            </a:r>
            <a:r>
              <a:rPr lang="en-US" dirty="0"/>
              <a:t> – Remove a resource</a:t>
            </a:r>
          </a:p>
          <a:p>
            <a:r>
              <a:rPr lang="en-US" dirty="0"/>
              <a:t>Less common</a:t>
            </a:r>
          </a:p>
          <a:p>
            <a:pPr lvl="1"/>
            <a:r>
              <a:rPr lang="en-US" dirty="0">
                <a:solidFill>
                  <a:schemeClr val="accent3"/>
                </a:solidFill>
              </a:rPr>
              <a:t>HEAD</a:t>
            </a:r>
            <a:r>
              <a:rPr lang="en-US" dirty="0"/>
              <a:t> – Retrieves headers only</a:t>
            </a:r>
          </a:p>
          <a:p>
            <a:pPr lvl="1"/>
            <a:r>
              <a:rPr lang="en-US" dirty="0">
                <a:solidFill>
                  <a:schemeClr val="accent3"/>
                </a:solidFill>
              </a:rPr>
              <a:t>OPTIONS</a:t>
            </a:r>
            <a:r>
              <a:rPr lang="en-US" dirty="0"/>
              <a:t> – Discovery methods/metadata</a:t>
            </a:r>
          </a:p>
          <a:p>
            <a:pPr lvl="2"/>
            <a:endParaRPr lang="en-US" dirty="0"/>
          </a:p>
        </p:txBody>
      </p:sp>
      <p:sp>
        <p:nvSpPr>
          <p:cNvPr id="4" name="Content Placeholder 2">
            <a:extLst>
              <a:ext uri="{FF2B5EF4-FFF2-40B4-BE49-F238E27FC236}">
                <a16:creationId xmlns:a16="http://schemas.microsoft.com/office/drawing/2014/main" id="{4DC5A275-4BB4-3F3F-8753-9592B57DF693}"/>
              </a:ext>
            </a:extLst>
          </p:cNvPr>
          <p:cNvSpPr txBox="1">
            <a:spLocks/>
          </p:cNvSpPr>
          <p:nvPr/>
        </p:nvSpPr>
        <p:spPr>
          <a:xfrm>
            <a:off x="5464459" y="1732449"/>
            <a:ext cx="6047837" cy="4515951"/>
          </a:xfrm>
          <a:prstGeom prst="rect">
            <a:avLst/>
          </a:prstGeom>
          <a:effectLst>
            <a:outerShdw blurRad="25400" dir="17880000">
              <a:srgbClr val="000000">
                <a:alpha val="46000"/>
              </a:srgbClr>
            </a:outerShdw>
          </a:effectLst>
        </p:spPr>
        <p:txBody>
          <a:bodyPr vert="horz" lIns="91440" tIns="45720" rIns="91440" bIns="45720" rtlCol="0" anchor="t">
            <a:normAutofit fontScale="85000" lnSpcReduction="20000"/>
          </a:bodyPr>
          <a:lstStyle>
            <a:lvl1pPr marL="342900" indent="-306000" algn="l" defTabSz="457200" rtl="0" eaLnBrk="1" latinLnBrk="0" hangingPunct="1">
              <a:spcBef>
                <a:spcPct val="20000"/>
              </a:spcBef>
              <a:spcAft>
                <a:spcPts val="600"/>
              </a:spcAft>
              <a:buClr>
                <a:schemeClr val="tx2"/>
              </a:buClr>
              <a:buSzPct val="70000"/>
              <a:buFont typeface="Wingdings 2" charset="2"/>
              <a:buChar char=""/>
              <a:defRPr sz="2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1pPr>
            <a:lvl2pPr marL="720000" indent="-270000" algn="l" defTabSz="457200" rtl="0" eaLnBrk="1" latinLnBrk="0" hangingPunct="1">
              <a:spcBef>
                <a:spcPct val="20000"/>
              </a:spcBef>
              <a:spcAft>
                <a:spcPts val="600"/>
              </a:spcAft>
              <a:buClr>
                <a:schemeClr val="tx2"/>
              </a:buClr>
              <a:buSzPct val="70000"/>
              <a:buFont typeface="Wingdings 2" charset="2"/>
              <a:buChar char=""/>
              <a:defRPr sz="18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2pPr>
            <a:lvl3pPr marL="1026000" indent="-216000" algn="l" defTabSz="457200" rtl="0" eaLnBrk="1" latinLnBrk="0" hangingPunct="1">
              <a:spcBef>
                <a:spcPct val="20000"/>
              </a:spcBef>
              <a:spcAft>
                <a:spcPts val="600"/>
              </a:spcAft>
              <a:buClr>
                <a:schemeClr val="tx2"/>
              </a:buClr>
              <a:buSzPct val="70000"/>
              <a:buFont typeface="Wingdings 2" charset="2"/>
              <a:buChar char=""/>
              <a:defRPr sz="16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3pPr>
            <a:lvl4pPr marL="1386000" indent="-2160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4pPr>
            <a:lvl5pPr marL="1674000" indent="-2160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5pPr>
            <a:lvl6pPr marL="20146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6pPr>
            <a:lvl7pPr marL="24018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7pPr>
            <a:lvl8pPr marL="27890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8pPr>
            <a:lvl9pPr marL="31062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9pPr>
          </a:lstStyle>
          <a:p>
            <a:r>
              <a:rPr lang="en-US" dirty="0"/>
              <a:t>Map </a:t>
            </a:r>
            <a:r>
              <a:rPr lang="en-US" dirty="0">
                <a:solidFill>
                  <a:srgbClr val="FFC000"/>
                </a:solidFill>
              </a:rPr>
              <a:t>HTTP</a:t>
            </a:r>
            <a:r>
              <a:rPr lang="en-US" dirty="0"/>
              <a:t> Codes to API Operation Responses</a:t>
            </a:r>
          </a:p>
          <a:p>
            <a:r>
              <a:rPr lang="en-US" b="1" dirty="0"/>
              <a:t>RFC 9110 </a:t>
            </a:r>
            <a:r>
              <a:rPr lang="en-US" dirty="0"/>
              <a:t>| Part 15 – Specification definition for Status Codes</a:t>
            </a:r>
          </a:p>
          <a:p>
            <a:r>
              <a:rPr lang="en-US" dirty="0">
                <a:solidFill>
                  <a:srgbClr val="FFC000"/>
                </a:solidFill>
              </a:rPr>
              <a:t>1xx</a:t>
            </a:r>
            <a:r>
              <a:rPr lang="en-US" dirty="0"/>
              <a:t> | Informational</a:t>
            </a:r>
          </a:p>
          <a:p>
            <a:pPr lvl="1"/>
            <a:r>
              <a:rPr lang="en-US" dirty="0"/>
              <a:t>The request was received, continuing processing</a:t>
            </a:r>
          </a:p>
          <a:p>
            <a:r>
              <a:rPr lang="en-US" dirty="0">
                <a:solidFill>
                  <a:schemeClr val="accent1"/>
                </a:solidFill>
              </a:rPr>
              <a:t>2xx</a:t>
            </a:r>
            <a:r>
              <a:rPr lang="en-US" dirty="0"/>
              <a:t> | Successful</a:t>
            </a:r>
          </a:p>
          <a:p>
            <a:pPr lvl="1"/>
            <a:r>
              <a:rPr lang="en-US" dirty="0"/>
              <a:t>The request was successfully received, understood, and accepted</a:t>
            </a:r>
          </a:p>
          <a:p>
            <a:r>
              <a:rPr lang="en-US" dirty="0">
                <a:solidFill>
                  <a:srgbClr val="00B0F0"/>
                </a:solidFill>
              </a:rPr>
              <a:t>3xx</a:t>
            </a:r>
            <a:r>
              <a:rPr lang="en-US" dirty="0"/>
              <a:t> | Redirection</a:t>
            </a:r>
          </a:p>
          <a:p>
            <a:pPr lvl="1"/>
            <a:r>
              <a:rPr lang="en-US" dirty="0"/>
              <a:t>Further action needs to be taken in order to complete the request</a:t>
            </a:r>
          </a:p>
          <a:p>
            <a:r>
              <a:rPr lang="en-US" dirty="0">
                <a:solidFill>
                  <a:srgbClr val="C00000"/>
                </a:solidFill>
              </a:rPr>
              <a:t>4xx</a:t>
            </a:r>
            <a:r>
              <a:rPr lang="en-US" dirty="0"/>
              <a:t> | Client Error</a:t>
            </a:r>
          </a:p>
          <a:p>
            <a:pPr lvl="1"/>
            <a:r>
              <a:rPr lang="en-US" dirty="0"/>
              <a:t>The request contains bad syntax or cannot be fulfilled</a:t>
            </a:r>
          </a:p>
          <a:p>
            <a:r>
              <a:rPr lang="en-US" dirty="0">
                <a:solidFill>
                  <a:srgbClr val="C00000"/>
                </a:solidFill>
              </a:rPr>
              <a:t>5xx</a:t>
            </a:r>
            <a:r>
              <a:rPr lang="en-US" dirty="0"/>
              <a:t> | Server Error</a:t>
            </a:r>
          </a:p>
          <a:p>
            <a:pPr lvl="1"/>
            <a:r>
              <a:rPr lang="en-US" dirty="0"/>
              <a:t>The server failed to fulfill an apparently valid request</a:t>
            </a:r>
          </a:p>
          <a:p>
            <a:pPr lvl="1"/>
            <a:endParaRPr lang="en-US" sz="1000" dirty="0"/>
          </a:p>
          <a:p>
            <a:pPr marL="450000" lvl="1" indent="0">
              <a:buNone/>
            </a:pPr>
            <a:endParaRPr lang="en-US" dirty="0"/>
          </a:p>
        </p:txBody>
      </p:sp>
    </p:spTree>
    <p:extLst>
      <p:ext uri="{BB962C8B-B14F-4D97-AF65-F5344CB8AC3E}">
        <p14:creationId xmlns:p14="http://schemas.microsoft.com/office/powerpoint/2010/main" val="280519978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0E3B46-876F-3C57-ECA8-4003DAE02AC8}"/>
              </a:ext>
            </a:extLst>
          </p:cNvPr>
          <p:cNvSpPr>
            <a:spLocks noGrp="1"/>
          </p:cNvSpPr>
          <p:nvPr>
            <p:ph type="title"/>
          </p:nvPr>
        </p:nvSpPr>
        <p:spPr/>
        <p:txBody>
          <a:bodyPr/>
          <a:lstStyle/>
          <a:p>
            <a:r>
              <a:rPr lang="en-US" dirty="0"/>
              <a:t>Pre-Flight Check</a:t>
            </a:r>
          </a:p>
        </p:txBody>
      </p:sp>
      <p:sp>
        <p:nvSpPr>
          <p:cNvPr id="3" name="Content Placeholder 2">
            <a:extLst>
              <a:ext uri="{FF2B5EF4-FFF2-40B4-BE49-F238E27FC236}">
                <a16:creationId xmlns:a16="http://schemas.microsoft.com/office/drawing/2014/main" id="{56CF61DF-D06B-AD92-3060-2B71136C44B3}"/>
              </a:ext>
            </a:extLst>
          </p:cNvPr>
          <p:cNvSpPr>
            <a:spLocks noGrp="1"/>
          </p:cNvSpPr>
          <p:nvPr>
            <p:ph idx="1"/>
          </p:nvPr>
        </p:nvSpPr>
        <p:spPr>
          <a:xfrm>
            <a:off x="913795" y="1732449"/>
            <a:ext cx="5935061" cy="4058751"/>
          </a:xfrm>
        </p:spPr>
        <p:txBody>
          <a:bodyPr>
            <a:normAutofit fontScale="92500" lnSpcReduction="10000"/>
          </a:bodyPr>
          <a:lstStyle/>
          <a:p>
            <a:r>
              <a:rPr lang="en-US" dirty="0"/>
              <a:t>You have setup up a work environment</a:t>
            </a:r>
          </a:p>
          <a:p>
            <a:pPr lvl="1"/>
            <a:r>
              <a:rPr lang="en-US" dirty="0"/>
              <a:t>Clone the </a:t>
            </a:r>
            <a:r>
              <a:rPr lang="en-US" dirty="0" err="1">
                <a:solidFill>
                  <a:schemeClr val="accent1"/>
                </a:solidFill>
                <a:latin typeface="OCR A Extended" panose="02010509020102010303" pitchFamily="50" charset="0"/>
              </a:rPr>
              <a:t>api</a:t>
            </a:r>
            <a:r>
              <a:rPr lang="en-US" dirty="0">
                <a:solidFill>
                  <a:schemeClr val="accent1"/>
                </a:solidFill>
                <a:latin typeface="OCR A Extended" panose="02010509020102010303" pitchFamily="50" charset="0"/>
              </a:rPr>
              <a:t>-workshop</a:t>
            </a:r>
            <a:r>
              <a:rPr lang="en-US" dirty="0"/>
              <a:t> mono-repo</a:t>
            </a:r>
          </a:p>
          <a:p>
            <a:pPr lvl="1"/>
            <a:r>
              <a:rPr lang="en-US" dirty="0"/>
              <a:t>You can run the REST API under the directory </a:t>
            </a:r>
            <a:r>
              <a:rPr lang="en-US" dirty="0">
                <a:solidFill>
                  <a:schemeClr val="accent1"/>
                </a:solidFill>
                <a:latin typeface="OCR A Extended" panose="02010509020102010303" pitchFamily="50" charset="0"/>
              </a:rPr>
              <a:t>library-</a:t>
            </a:r>
            <a:r>
              <a:rPr lang="en-US" dirty="0" err="1">
                <a:solidFill>
                  <a:schemeClr val="accent1"/>
                </a:solidFill>
                <a:latin typeface="OCR A Extended" panose="02010509020102010303" pitchFamily="50" charset="0"/>
              </a:rPr>
              <a:t>api</a:t>
            </a:r>
            <a:r>
              <a:rPr lang="en-US" dirty="0">
                <a:solidFill>
                  <a:schemeClr val="accent1"/>
                </a:solidFill>
                <a:latin typeface="OCR A Extended" panose="02010509020102010303" pitchFamily="50" charset="0"/>
              </a:rPr>
              <a:t>-basic</a:t>
            </a:r>
          </a:p>
          <a:p>
            <a:pPr lvl="1"/>
            <a:r>
              <a:rPr lang="en-US" dirty="0"/>
              <a:t>Look at the README.md document for instructions</a:t>
            </a:r>
          </a:p>
          <a:p>
            <a:r>
              <a:rPr lang="en-US" b="1" dirty="0">
                <a:solidFill>
                  <a:srgbClr val="FFC000"/>
                </a:solidFill>
              </a:rPr>
              <a:t>Disclaimer:</a:t>
            </a:r>
            <a:r>
              <a:rPr lang="en-US" dirty="0"/>
              <a:t>  Most of my experience is building REST APIs using </a:t>
            </a:r>
            <a:r>
              <a:rPr lang="en-US" dirty="0" err="1"/>
              <a:t>c#</a:t>
            </a:r>
            <a:r>
              <a:rPr lang="en-US" dirty="0"/>
              <a:t> and the dotnet core platform for RESTful APIs.  If you are experienced in Python and could improve upon the code presented here, feel free to submit PRs to the repo so others can benefit too</a:t>
            </a:r>
          </a:p>
          <a:p>
            <a:r>
              <a:rPr lang="en-US" dirty="0"/>
              <a:t>We continue the story from here…</a:t>
            </a:r>
          </a:p>
        </p:txBody>
      </p:sp>
    </p:spTree>
    <p:extLst>
      <p:ext uri="{BB962C8B-B14F-4D97-AF65-F5344CB8AC3E}">
        <p14:creationId xmlns:p14="http://schemas.microsoft.com/office/powerpoint/2010/main" val="181435579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4A3CD2-8A57-6303-FDC7-606D56A0E2F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9CC8ECA-FB2E-78D9-24FB-13875BE98455}"/>
              </a:ext>
            </a:extLst>
          </p:cNvPr>
          <p:cNvSpPr>
            <a:spLocks noGrp="1"/>
          </p:cNvSpPr>
          <p:nvPr>
            <p:ph type="title"/>
          </p:nvPr>
        </p:nvSpPr>
        <p:spPr>
          <a:xfrm>
            <a:off x="913794" y="80211"/>
            <a:ext cx="10353762" cy="970450"/>
          </a:xfrm>
        </p:spPr>
        <p:txBody>
          <a:bodyPr/>
          <a:lstStyle/>
          <a:p>
            <a:r>
              <a:rPr lang="en-US" dirty="0"/>
              <a:t>Recall | Conceptual Model</a:t>
            </a:r>
          </a:p>
        </p:txBody>
      </p:sp>
      <p:pic>
        <p:nvPicPr>
          <p:cNvPr id="11" name="Picture 10">
            <a:extLst>
              <a:ext uri="{FF2B5EF4-FFF2-40B4-BE49-F238E27FC236}">
                <a16:creationId xmlns:a16="http://schemas.microsoft.com/office/drawing/2014/main" id="{359D9DA3-A2AA-7C8F-74CF-E56FF3D4BFB6}"/>
              </a:ext>
            </a:extLst>
          </p:cNvPr>
          <p:cNvPicPr>
            <a:picLocks noChangeAspect="1"/>
          </p:cNvPicPr>
          <p:nvPr/>
        </p:nvPicPr>
        <p:blipFill>
          <a:blip r:embed="rId2"/>
          <a:stretch>
            <a:fillRect/>
          </a:stretch>
        </p:blipFill>
        <p:spPr>
          <a:xfrm>
            <a:off x="2179788" y="1050661"/>
            <a:ext cx="7832423" cy="5650788"/>
          </a:xfrm>
          <a:prstGeom prst="rect">
            <a:avLst/>
          </a:prstGeom>
        </p:spPr>
      </p:pic>
    </p:spTree>
    <p:extLst>
      <p:ext uri="{BB962C8B-B14F-4D97-AF65-F5344CB8AC3E}">
        <p14:creationId xmlns:p14="http://schemas.microsoft.com/office/powerpoint/2010/main" val="292822481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29C40C-103C-D24C-1A72-910C9AB93E2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9E03EE1-F804-8664-8C7A-959345FD1F92}"/>
              </a:ext>
            </a:extLst>
          </p:cNvPr>
          <p:cNvSpPr>
            <a:spLocks noGrp="1"/>
          </p:cNvSpPr>
          <p:nvPr>
            <p:ph type="title"/>
          </p:nvPr>
        </p:nvSpPr>
        <p:spPr/>
        <p:txBody>
          <a:bodyPr/>
          <a:lstStyle/>
          <a:p>
            <a:r>
              <a:rPr lang="en-US" dirty="0"/>
              <a:t>Inspect the Code | Browse</a:t>
            </a:r>
          </a:p>
        </p:txBody>
      </p:sp>
      <p:sp>
        <p:nvSpPr>
          <p:cNvPr id="3" name="Content Placeholder 2">
            <a:extLst>
              <a:ext uri="{FF2B5EF4-FFF2-40B4-BE49-F238E27FC236}">
                <a16:creationId xmlns:a16="http://schemas.microsoft.com/office/drawing/2014/main" id="{3AE19CF1-A310-0B20-5BA8-C03402D7373B}"/>
              </a:ext>
            </a:extLst>
          </p:cNvPr>
          <p:cNvSpPr>
            <a:spLocks noGrp="1"/>
          </p:cNvSpPr>
          <p:nvPr>
            <p:ph idx="1"/>
          </p:nvPr>
        </p:nvSpPr>
        <p:spPr/>
        <p:txBody>
          <a:bodyPr>
            <a:normAutofit fontScale="92500" lnSpcReduction="20000"/>
          </a:bodyPr>
          <a:lstStyle/>
          <a:p>
            <a:pPr marL="36900" indent="0">
              <a:buNone/>
            </a:pPr>
            <a:r>
              <a:rPr lang="en-US" dirty="0">
                <a:latin typeface="OCR A Extended" panose="02010509020102010303" pitchFamily="50" charset="0"/>
              </a:rPr>
              <a:t>&lt;root&gt;</a:t>
            </a:r>
          </a:p>
          <a:p>
            <a:pPr marL="36900" indent="0">
              <a:buNone/>
            </a:pPr>
            <a:r>
              <a:rPr lang="en-US" dirty="0">
                <a:latin typeface="OCR A Extended" panose="02010509020102010303" pitchFamily="50" charset="0"/>
              </a:rPr>
              <a:t>	|-- </a:t>
            </a:r>
            <a:r>
              <a:rPr lang="en-US" dirty="0">
                <a:solidFill>
                  <a:srgbClr val="FFC000"/>
                </a:solidFill>
                <a:latin typeface="OCR A Extended" panose="02010509020102010303" pitchFamily="50" charset="0"/>
              </a:rPr>
              <a:t>app</a:t>
            </a:r>
          </a:p>
          <a:p>
            <a:pPr marL="36900" indent="0">
              <a:buNone/>
            </a:pPr>
            <a:r>
              <a:rPr lang="en-US" dirty="0">
                <a:latin typeface="OCR A Extended" panose="02010509020102010303" pitchFamily="50" charset="0"/>
              </a:rPr>
              <a:t>		|-- </a:t>
            </a:r>
            <a:r>
              <a:rPr lang="en-US" dirty="0">
                <a:solidFill>
                  <a:srgbClr val="FFC000"/>
                </a:solidFill>
                <a:latin typeface="OCR A Extended" panose="02010509020102010303" pitchFamily="50" charset="0"/>
              </a:rPr>
              <a:t>crud</a:t>
            </a:r>
            <a:r>
              <a:rPr lang="en-US" dirty="0">
                <a:solidFill>
                  <a:schemeClr val="tx1"/>
                </a:solidFill>
                <a:latin typeface="OCR A Extended" panose="02010509020102010303" pitchFamily="50" charset="0"/>
              </a:rPr>
              <a:t>  </a:t>
            </a:r>
            <a:r>
              <a:rPr lang="en-US" sz="2100" dirty="0">
                <a:solidFill>
                  <a:srgbClr val="00B050"/>
                </a:solidFill>
                <a:latin typeface="OCR A Extended" panose="02010509020102010303" pitchFamily="50" charset="0"/>
                <a:sym typeface="Wingdings" panose="05000000000000000000" pitchFamily="2" charset="2"/>
              </a:rPr>
              <a:t>&lt;-- sub-</a:t>
            </a:r>
            <a:r>
              <a:rPr lang="en-US" sz="2100" dirty="0" err="1">
                <a:solidFill>
                  <a:srgbClr val="00B050"/>
                </a:solidFill>
                <a:latin typeface="OCR A Extended" panose="02010509020102010303" pitchFamily="50" charset="0"/>
                <a:sym typeface="Wingdings" panose="05000000000000000000" pitchFamily="2" charset="2"/>
              </a:rPr>
              <a:t>dir</a:t>
            </a:r>
            <a:r>
              <a:rPr lang="en-US" sz="2100" dirty="0">
                <a:solidFill>
                  <a:srgbClr val="00B050"/>
                </a:solidFill>
                <a:latin typeface="OCR A Extended" panose="02010509020102010303" pitchFamily="50" charset="0"/>
                <a:sym typeface="Wingdings" panose="05000000000000000000" pitchFamily="2" charset="2"/>
              </a:rPr>
              <a:t> for</a:t>
            </a:r>
            <a:r>
              <a:rPr lang="en-US" sz="2100" dirty="0">
                <a:solidFill>
                  <a:srgbClr val="00B050"/>
                </a:solidFill>
                <a:latin typeface="OCR A Extended" panose="02010509020102010303" pitchFamily="50" charset="0"/>
              </a:rPr>
              <a:t> CRUD services</a:t>
            </a:r>
          </a:p>
          <a:p>
            <a:pPr marL="36900" indent="0">
              <a:buNone/>
            </a:pPr>
            <a:r>
              <a:rPr lang="en-US" dirty="0">
                <a:latin typeface="OCR A Extended" panose="02010509020102010303" pitchFamily="50" charset="0"/>
              </a:rPr>
              <a:t>		|-- </a:t>
            </a:r>
            <a:r>
              <a:rPr lang="en-US" dirty="0">
                <a:solidFill>
                  <a:srgbClr val="FFC000"/>
                </a:solidFill>
                <a:latin typeface="OCR A Extended" panose="02010509020102010303" pitchFamily="50" charset="0"/>
              </a:rPr>
              <a:t>exceptions</a:t>
            </a:r>
            <a:r>
              <a:rPr lang="en-US" dirty="0">
                <a:solidFill>
                  <a:schemeClr val="tx1"/>
                </a:solidFill>
                <a:latin typeface="OCR A Extended" panose="02010509020102010303" pitchFamily="50" charset="0"/>
              </a:rPr>
              <a:t> </a:t>
            </a:r>
            <a:r>
              <a:rPr lang="en-US" sz="2100" dirty="0">
                <a:solidFill>
                  <a:srgbClr val="00B050"/>
                </a:solidFill>
                <a:latin typeface="OCR A Extended" panose="02010509020102010303" pitchFamily="50" charset="0"/>
                <a:sym typeface="Wingdings" panose="05000000000000000000" pitchFamily="2" charset="2"/>
              </a:rPr>
              <a:t>&lt;-- sub-</a:t>
            </a:r>
            <a:r>
              <a:rPr lang="en-US" sz="2100" dirty="0" err="1">
                <a:solidFill>
                  <a:srgbClr val="00B050"/>
                </a:solidFill>
                <a:latin typeface="OCR A Extended" panose="02010509020102010303" pitchFamily="50" charset="0"/>
                <a:sym typeface="Wingdings" panose="05000000000000000000" pitchFamily="2" charset="2"/>
              </a:rPr>
              <a:t>dir</a:t>
            </a:r>
            <a:r>
              <a:rPr lang="en-US" sz="2100" dirty="0">
                <a:solidFill>
                  <a:srgbClr val="00B050"/>
                </a:solidFill>
                <a:latin typeface="OCR A Extended" panose="02010509020102010303" pitchFamily="50" charset="0"/>
                <a:sym typeface="Wingdings" panose="05000000000000000000" pitchFamily="2" charset="2"/>
              </a:rPr>
              <a:t> for</a:t>
            </a:r>
            <a:r>
              <a:rPr lang="en-US" sz="2100" dirty="0">
                <a:solidFill>
                  <a:srgbClr val="00B050"/>
                </a:solidFill>
                <a:latin typeface="OCR A Extended" panose="02010509020102010303" pitchFamily="50" charset="0"/>
              </a:rPr>
              <a:t> Custom Exceptions</a:t>
            </a:r>
          </a:p>
          <a:p>
            <a:pPr marL="36900" indent="0">
              <a:buNone/>
            </a:pPr>
            <a:r>
              <a:rPr lang="en-US" dirty="0">
                <a:latin typeface="OCR A Extended" panose="02010509020102010303" pitchFamily="50" charset="0"/>
              </a:rPr>
              <a:t>		|-- </a:t>
            </a:r>
            <a:r>
              <a:rPr lang="en-US" dirty="0">
                <a:solidFill>
                  <a:srgbClr val="FFC000"/>
                </a:solidFill>
                <a:latin typeface="OCR A Extended" panose="02010509020102010303" pitchFamily="50" charset="0"/>
              </a:rPr>
              <a:t>models</a:t>
            </a:r>
            <a:r>
              <a:rPr lang="en-US" dirty="0">
                <a:solidFill>
                  <a:schemeClr val="tx1"/>
                </a:solidFill>
                <a:latin typeface="OCR A Extended" panose="02010509020102010303" pitchFamily="50" charset="0"/>
              </a:rPr>
              <a:t> </a:t>
            </a:r>
            <a:r>
              <a:rPr lang="en-US" sz="2100" dirty="0">
                <a:solidFill>
                  <a:srgbClr val="00B050"/>
                </a:solidFill>
                <a:latin typeface="OCR A Extended" panose="02010509020102010303" pitchFamily="50" charset="0"/>
                <a:sym typeface="Wingdings" panose="05000000000000000000" pitchFamily="2" charset="2"/>
              </a:rPr>
              <a:t>&lt;-- sub-</a:t>
            </a:r>
            <a:r>
              <a:rPr lang="en-US" sz="2100" dirty="0" err="1">
                <a:solidFill>
                  <a:srgbClr val="00B050"/>
                </a:solidFill>
                <a:latin typeface="OCR A Extended" panose="02010509020102010303" pitchFamily="50" charset="0"/>
                <a:sym typeface="Wingdings" panose="05000000000000000000" pitchFamily="2" charset="2"/>
              </a:rPr>
              <a:t>dir</a:t>
            </a:r>
            <a:r>
              <a:rPr lang="en-US" sz="2100" dirty="0">
                <a:solidFill>
                  <a:srgbClr val="00B050"/>
                </a:solidFill>
                <a:latin typeface="OCR A Extended" panose="02010509020102010303" pitchFamily="50" charset="0"/>
                <a:sym typeface="Wingdings" panose="05000000000000000000" pitchFamily="2" charset="2"/>
              </a:rPr>
              <a:t> for</a:t>
            </a:r>
            <a:r>
              <a:rPr lang="en-US" sz="2100" dirty="0">
                <a:solidFill>
                  <a:srgbClr val="00B050"/>
                </a:solidFill>
                <a:latin typeface="OCR A Extended" panose="02010509020102010303" pitchFamily="50" charset="0"/>
              </a:rPr>
              <a:t> data Models</a:t>
            </a:r>
          </a:p>
          <a:p>
            <a:pPr marL="36900" indent="0">
              <a:buNone/>
            </a:pPr>
            <a:r>
              <a:rPr lang="en-US" dirty="0">
                <a:latin typeface="OCR A Extended" panose="02010509020102010303" pitchFamily="50" charset="0"/>
              </a:rPr>
              <a:t>		|-- </a:t>
            </a:r>
            <a:r>
              <a:rPr lang="en-US" dirty="0">
                <a:solidFill>
                  <a:srgbClr val="FFC000"/>
                </a:solidFill>
                <a:latin typeface="OCR A Extended" panose="02010509020102010303" pitchFamily="50" charset="0"/>
              </a:rPr>
              <a:t>routers</a:t>
            </a:r>
            <a:r>
              <a:rPr lang="en-US" dirty="0">
                <a:solidFill>
                  <a:schemeClr val="tx1"/>
                </a:solidFill>
                <a:latin typeface="OCR A Extended" panose="02010509020102010303" pitchFamily="50" charset="0"/>
              </a:rPr>
              <a:t> </a:t>
            </a:r>
            <a:r>
              <a:rPr lang="en-US" sz="2100" dirty="0">
                <a:solidFill>
                  <a:srgbClr val="00B050"/>
                </a:solidFill>
                <a:latin typeface="OCR A Extended" panose="02010509020102010303" pitchFamily="50" charset="0"/>
                <a:sym typeface="Wingdings" panose="05000000000000000000" pitchFamily="2" charset="2"/>
              </a:rPr>
              <a:t>&lt;-- sub-</a:t>
            </a:r>
            <a:r>
              <a:rPr lang="en-US" sz="2100" dirty="0" err="1">
                <a:solidFill>
                  <a:srgbClr val="00B050"/>
                </a:solidFill>
                <a:latin typeface="OCR A Extended" panose="02010509020102010303" pitchFamily="50" charset="0"/>
                <a:sym typeface="Wingdings" panose="05000000000000000000" pitchFamily="2" charset="2"/>
              </a:rPr>
              <a:t>dir</a:t>
            </a:r>
            <a:r>
              <a:rPr lang="en-US" sz="2100" dirty="0">
                <a:solidFill>
                  <a:srgbClr val="00B050"/>
                </a:solidFill>
                <a:latin typeface="OCR A Extended" panose="02010509020102010303" pitchFamily="50" charset="0"/>
                <a:sym typeface="Wingdings" panose="05000000000000000000" pitchFamily="2" charset="2"/>
              </a:rPr>
              <a:t> for</a:t>
            </a:r>
            <a:r>
              <a:rPr lang="en-US" sz="2100" dirty="0">
                <a:solidFill>
                  <a:srgbClr val="00B050"/>
                </a:solidFill>
                <a:latin typeface="OCR A Extended" panose="02010509020102010303" pitchFamily="50" charset="0"/>
              </a:rPr>
              <a:t> API route definitions</a:t>
            </a:r>
          </a:p>
          <a:p>
            <a:pPr marL="36900" indent="0">
              <a:buNone/>
            </a:pPr>
            <a:r>
              <a:rPr lang="en-US" dirty="0">
                <a:latin typeface="OCR A Extended" panose="02010509020102010303" pitchFamily="50" charset="0"/>
              </a:rPr>
              <a:t>		|-- </a:t>
            </a:r>
            <a:r>
              <a:rPr lang="en-US" dirty="0">
                <a:solidFill>
                  <a:srgbClr val="FFC000"/>
                </a:solidFill>
                <a:latin typeface="OCR A Extended" panose="02010509020102010303" pitchFamily="50" charset="0"/>
              </a:rPr>
              <a:t>schemas</a:t>
            </a:r>
            <a:r>
              <a:rPr lang="en-US" dirty="0">
                <a:solidFill>
                  <a:schemeClr val="tx1"/>
                </a:solidFill>
                <a:latin typeface="OCR A Extended" panose="02010509020102010303" pitchFamily="50" charset="0"/>
              </a:rPr>
              <a:t> </a:t>
            </a:r>
            <a:r>
              <a:rPr lang="en-US" sz="2100" dirty="0">
                <a:solidFill>
                  <a:srgbClr val="00B050"/>
                </a:solidFill>
                <a:latin typeface="OCR A Extended" panose="02010509020102010303" pitchFamily="50" charset="0"/>
                <a:sym typeface="Wingdings" panose="05000000000000000000" pitchFamily="2" charset="2"/>
              </a:rPr>
              <a:t>&lt;-- sub-</a:t>
            </a:r>
            <a:r>
              <a:rPr lang="en-US" sz="2100" dirty="0" err="1">
                <a:solidFill>
                  <a:srgbClr val="00B050"/>
                </a:solidFill>
                <a:latin typeface="OCR A Extended" panose="02010509020102010303" pitchFamily="50" charset="0"/>
                <a:sym typeface="Wingdings" panose="05000000000000000000" pitchFamily="2" charset="2"/>
              </a:rPr>
              <a:t>dir</a:t>
            </a:r>
            <a:r>
              <a:rPr lang="en-US" sz="2100" dirty="0">
                <a:solidFill>
                  <a:srgbClr val="00B050"/>
                </a:solidFill>
                <a:latin typeface="OCR A Extended" panose="02010509020102010303" pitchFamily="50" charset="0"/>
                <a:sym typeface="Wingdings" panose="05000000000000000000" pitchFamily="2" charset="2"/>
              </a:rPr>
              <a:t> for</a:t>
            </a:r>
            <a:r>
              <a:rPr lang="en-US" sz="2100" dirty="0">
                <a:solidFill>
                  <a:srgbClr val="00B050"/>
                </a:solidFill>
                <a:latin typeface="OCR A Extended" panose="02010509020102010303" pitchFamily="50" charset="0"/>
              </a:rPr>
              <a:t> API request/response models</a:t>
            </a:r>
          </a:p>
          <a:p>
            <a:pPr marL="36900" indent="0">
              <a:buNone/>
            </a:pPr>
            <a:r>
              <a:rPr lang="en-US" sz="2100" dirty="0">
                <a:solidFill>
                  <a:srgbClr val="00B050"/>
                </a:solidFill>
                <a:latin typeface="OCR A Extended" panose="02010509020102010303" pitchFamily="50" charset="0"/>
              </a:rPr>
              <a:t>	</a:t>
            </a:r>
            <a:r>
              <a:rPr lang="en-US" dirty="0">
                <a:latin typeface="OCR A Extended" panose="02010509020102010303" pitchFamily="50" charset="0"/>
              </a:rPr>
              <a:t>	|-- database.py</a:t>
            </a:r>
          </a:p>
          <a:p>
            <a:pPr marL="36900" indent="0">
              <a:buNone/>
            </a:pPr>
            <a:r>
              <a:rPr lang="en-US" dirty="0">
                <a:latin typeface="OCR A Extended" panose="02010509020102010303" pitchFamily="50" charset="0"/>
              </a:rPr>
              <a:t>		|-- main.py</a:t>
            </a:r>
          </a:p>
          <a:p>
            <a:pPr marL="36900" indent="0">
              <a:buNone/>
            </a:pPr>
            <a:r>
              <a:rPr lang="en-US" dirty="0">
                <a:latin typeface="OCR A Extended" panose="02010509020102010303" pitchFamily="50" charset="0"/>
              </a:rPr>
              <a:t>	|-- </a:t>
            </a:r>
            <a:r>
              <a:rPr lang="en-US" dirty="0" err="1">
                <a:solidFill>
                  <a:schemeClr val="accent3"/>
                </a:solidFill>
                <a:latin typeface="OCR A Extended" panose="02010509020102010303" pitchFamily="50" charset="0"/>
              </a:rPr>
              <a:t>library.db</a:t>
            </a:r>
            <a:r>
              <a:rPr lang="en-US" dirty="0">
                <a:solidFill>
                  <a:schemeClr val="accent3"/>
                </a:solidFill>
                <a:latin typeface="OCR A Extended" panose="02010509020102010303" pitchFamily="50" charset="0"/>
              </a:rPr>
              <a:t>  </a:t>
            </a:r>
            <a:r>
              <a:rPr lang="en-US" dirty="0">
                <a:solidFill>
                  <a:srgbClr val="00B050"/>
                </a:solidFill>
                <a:latin typeface="OCR A Extended" panose="02010509020102010303" pitchFamily="50" charset="0"/>
              </a:rPr>
              <a:t>&lt;-- autogenerated at initial run</a:t>
            </a:r>
          </a:p>
          <a:p>
            <a:pPr marL="36900" indent="0">
              <a:buNone/>
            </a:pPr>
            <a:r>
              <a:rPr lang="en-US" dirty="0">
                <a:latin typeface="OCR A Extended" panose="02010509020102010303" pitchFamily="50" charset="0"/>
              </a:rPr>
              <a:t>	|-- requirements.txt</a:t>
            </a:r>
            <a:endParaRPr lang="en-US" dirty="0">
              <a:solidFill>
                <a:srgbClr val="00B050"/>
              </a:solidFill>
              <a:latin typeface="OCR A Extended" panose="02010509020102010303" pitchFamily="50" charset="0"/>
            </a:endParaRPr>
          </a:p>
          <a:p>
            <a:pPr marL="36900" indent="0">
              <a:buNone/>
            </a:pPr>
            <a:endParaRPr lang="en-US" dirty="0">
              <a:solidFill>
                <a:srgbClr val="00B050"/>
              </a:solidFill>
              <a:latin typeface="OCR A Extended" panose="02010509020102010303" pitchFamily="50" charset="0"/>
            </a:endParaRPr>
          </a:p>
        </p:txBody>
      </p:sp>
    </p:spTree>
    <p:extLst>
      <p:ext uri="{BB962C8B-B14F-4D97-AF65-F5344CB8AC3E}">
        <p14:creationId xmlns:p14="http://schemas.microsoft.com/office/powerpoint/2010/main" val="341845193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5853A8-9D5F-C354-A231-7CEE86FB86C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1E4BE75-CE79-ABCF-F768-9941AAF01240}"/>
              </a:ext>
            </a:extLst>
          </p:cNvPr>
          <p:cNvSpPr>
            <a:spLocks noGrp="1"/>
          </p:cNvSpPr>
          <p:nvPr>
            <p:ph type="title"/>
          </p:nvPr>
        </p:nvSpPr>
        <p:spPr>
          <a:xfrm>
            <a:off x="913794" y="80211"/>
            <a:ext cx="10353762" cy="970450"/>
          </a:xfrm>
        </p:spPr>
        <p:txBody>
          <a:bodyPr/>
          <a:lstStyle/>
          <a:p>
            <a:r>
              <a:rPr lang="en-US" dirty="0"/>
              <a:t>Inspect the Code | App Structure</a:t>
            </a:r>
          </a:p>
        </p:txBody>
      </p:sp>
      <p:pic>
        <p:nvPicPr>
          <p:cNvPr id="7" name="Picture 6">
            <a:extLst>
              <a:ext uri="{FF2B5EF4-FFF2-40B4-BE49-F238E27FC236}">
                <a16:creationId xmlns:a16="http://schemas.microsoft.com/office/drawing/2014/main" id="{DFF7DDBB-F63B-F4D2-5B40-6CE6E476FA6E}"/>
              </a:ext>
            </a:extLst>
          </p:cNvPr>
          <p:cNvPicPr>
            <a:picLocks noChangeAspect="1"/>
          </p:cNvPicPr>
          <p:nvPr/>
        </p:nvPicPr>
        <p:blipFill>
          <a:blip r:embed="rId2"/>
          <a:stretch>
            <a:fillRect/>
          </a:stretch>
        </p:blipFill>
        <p:spPr>
          <a:xfrm>
            <a:off x="1792838" y="1050661"/>
            <a:ext cx="8606324" cy="5510476"/>
          </a:xfrm>
          <a:prstGeom prst="rect">
            <a:avLst/>
          </a:prstGeom>
        </p:spPr>
      </p:pic>
    </p:spTree>
    <p:extLst>
      <p:ext uri="{BB962C8B-B14F-4D97-AF65-F5344CB8AC3E}">
        <p14:creationId xmlns:p14="http://schemas.microsoft.com/office/powerpoint/2010/main" val="216541520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F5F2F7-C82A-DE1E-07FA-CCA421D4050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B1255DA-E048-79E2-8E68-8F2556722496}"/>
              </a:ext>
            </a:extLst>
          </p:cNvPr>
          <p:cNvSpPr>
            <a:spLocks noGrp="1"/>
          </p:cNvSpPr>
          <p:nvPr>
            <p:ph type="title"/>
          </p:nvPr>
        </p:nvSpPr>
        <p:spPr>
          <a:xfrm>
            <a:off x="913794" y="80211"/>
            <a:ext cx="10353762" cy="970450"/>
          </a:xfrm>
        </p:spPr>
        <p:txBody>
          <a:bodyPr/>
          <a:lstStyle/>
          <a:p>
            <a:r>
              <a:rPr lang="en-US" dirty="0"/>
              <a:t>Inspect the Code | ERD v0.1</a:t>
            </a:r>
          </a:p>
        </p:txBody>
      </p:sp>
      <p:pic>
        <p:nvPicPr>
          <p:cNvPr id="4" name="Picture 3">
            <a:extLst>
              <a:ext uri="{FF2B5EF4-FFF2-40B4-BE49-F238E27FC236}">
                <a16:creationId xmlns:a16="http://schemas.microsoft.com/office/drawing/2014/main" id="{4C2C1898-BC45-1FDD-F8B1-8CC72A5E5E4D}"/>
              </a:ext>
            </a:extLst>
          </p:cNvPr>
          <p:cNvPicPr>
            <a:picLocks noChangeAspect="1"/>
          </p:cNvPicPr>
          <p:nvPr/>
        </p:nvPicPr>
        <p:blipFill>
          <a:blip r:embed="rId2"/>
          <a:stretch>
            <a:fillRect/>
          </a:stretch>
        </p:blipFill>
        <p:spPr>
          <a:xfrm>
            <a:off x="1549266" y="951147"/>
            <a:ext cx="9093467" cy="5643470"/>
          </a:xfrm>
          <a:prstGeom prst="rect">
            <a:avLst/>
          </a:prstGeom>
        </p:spPr>
      </p:pic>
    </p:spTree>
    <p:extLst>
      <p:ext uri="{BB962C8B-B14F-4D97-AF65-F5344CB8AC3E}">
        <p14:creationId xmlns:p14="http://schemas.microsoft.com/office/powerpoint/2010/main" val="252616431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33981A-0221-2974-D838-A9F079E3DC5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F3E91DA-CE51-2C21-4FE9-26E9412D4064}"/>
              </a:ext>
            </a:extLst>
          </p:cNvPr>
          <p:cNvSpPr>
            <a:spLocks noGrp="1"/>
          </p:cNvSpPr>
          <p:nvPr>
            <p:ph type="title"/>
          </p:nvPr>
        </p:nvSpPr>
        <p:spPr>
          <a:xfrm>
            <a:off x="913794" y="80211"/>
            <a:ext cx="10353762" cy="970450"/>
          </a:xfrm>
        </p:spPr>
        <p:txBody>
          <a:bodyPr/>
          <a:lstStyle/>
          <a:p>
            <a:r>
              <a:rPr lang="en-US" dirty="0"/>
              <a:t>Inspect the Code | ERD v0.2</a:t>
            </a:r>
          </a:p>
        </p:txBody>
      </p:sp>
      <p:pic>
        <p:nvPicPr>
          <p:cNvPr id="6" name="Picture 5">
            <a:extLst>
              <a:ext uri="{FF2B5EF4-FFF2-40B4-BE49-F238E27FC236}">
                <a16:creationId xmlns:a16="http://schemas.microsoft.com/office/drawing/2014/main" id="{A3278CA6-1C92-CEC0-D7B0-629EC34B65CB}"/>
              </a:ext>
            </a:extLst>
          </p:cNvPr>
          <p:cNvPicPr>
            <a:picLocks noChangeAspect="1"/>
          </p:cNvPicPr>
          <p:nvPr/>
        </p:nvPicPr>
        <p:blipFill>
          <a:blip r:embed="rId2"/>
          <a:stretch>
            <a:fillRect/>
          </a:stretch>
        </p:blipFill>
        <p:spPr>
          <a:xfrm>
            <a:off x="1636294" y="960907"/>
            <a:ext cx="9346667" cy="5633710"/>
          </a:xfrm>
          <a:prstGeom prst="rect">
            <a:avLst/>
          </a:prstGeom>
        </p:spPr>
      </p:pic>
    </p:spTree>
    <p:extLst>
      <p:ext uri="{BB962C8B-B14F-4D97-AF65-F5344CB8AC3E}">
        <p14:creationId xmlns:p14="http://schemas.microsoft.com/office/powerpoint/2010/main" val="299449391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645939-446F-9CF4-DFEF-15AF23969E9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8D94F73-6837-09C0-1ADC-9600FD14237C}"/>
              </a:ext>
            </a:extLst>
          </p:cNvPr>
          <p:cNvSpPr>
            <a:spLocks noGrp="1"/>
          </p:cNvSpPr>
          <p:nvPr>
            <p:ph type="title"/>
          </p:nvPr>
        </p:nvSpPr>
        <p:spPr>
          <a:xfrm>
            <a:off x="913794" y="80211"/>
            <a:ext cx="10353762" cy="970450"/>
          </a:xfrm>
        </p:spPr>
        <p:txBody>
          <a:bodyPr/>
          <a:lstStyle/>
          <a:p>
            <a:r>
              <a:rPr lang="en-US" dirty="0"/>
              <a:t>Inspect the Code | ERD v0.3</a:t>
            </a:r>
          </a:p>
        </p:txBody>
      </p:sp>
      <p:pic>
        <p:nvPicPr>
          <p:cNvPr id="4" name="Picture 3">
            <a:extLst>
              <a:ext uri="{FF2B5EF4-FFF2-40B4-BE49-F238E27FC236}">
                <a16:creationId xmlns:a16="http://schemas.microsoft.com/office/drawing/2014/main" id="{A479E506-2E2E-7E64-819B-5F6809006579}"/>
              </a:ext>
            </a:extLst>
          </p:cNvPr>
          <p:cNvPicPr>
            <a:picLocks noChangeAspect="1"/>
          </p:cNvPicPr>
          <p:nvPr/>
        </p:nvPicPr>
        <p:blipFill>
          <a:blip r:embed="rId2"/>
          <a:stretch>
            <a:fillRect/>
          </a:stretch>
        </p:blipFill>
        <p:spPr>
          <a:xfrm>
            <a:off x="1395916" y="1050661"/>
            <a:ext cx="9389517" cy="5633710"/>
          </a:xfrm>
          <a:prstGeom prst="rect">
            <a:avLst/>
          </a:prstGeom>
        </p:spPr>
      </p:pic>
    </p:spTree>
    <p:extLst>
      <p:ext uri="{BB962C8B-B14F-4D97-AF65-F5344CB8AC3E}">
        <p14:creationId xmlns:p14="http://schemas.microsoft.com/office/powerpoint/2010/main" val="102421109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7B9CE2-5095-7D28-0574-38BD57B1B29F}"/>
              </a:ext>
            </a:extLst>
          </p:cNvPr>
          <p:cNvSpPr>
            <a:spLocks noGrp="1"/>
          </p:cNvSpPr>
          <p:nvPr>
            <p:ph type="title"/>
          </p:nvPr>
        </p:nvSpPr>
        <p:spPr/>
        <p:txBody>
          <a:bodyPr/>
          <a:lstStyle/>
          <a:p>
            <a:r>
              <a:rPr lang="en-US" dirty="0"/>
              <a:t>Inspect the Code | C.R.U.D. Ops</a:t>
            </a:r>
          </a:p>
        </p:txBody>
      </p:sp>
      <p:sp>
        <p:nvSpPr>
          <p:cNvPr id="3" name="Content Placeholder 2">
            <a:extLst>
              <a:ext uri="{FF2B5EF4-FFF2-40B4-BE49-F238E27FC236}">
                <a16:creationId xmlns:a16="http://schemas.microsoft.com/office/drawing/2014/main" id="{66F68F47-7874-88A6-0517-CC3AD62450A1}"/>
              </a:ext>
            </a:extLst>
          </p:cNvPr>
          <p:cNvSpPr>
            <a:spLocks noGrp="1"/>
          </p:cNvSpPr>
          <p:nvPr>
            <p:ph idx="1"/>
          </p:nvPr>
        </p:nvSpPr>
        <p:spPr/>
        <p:txBody>
          <a:bodyPr>
            <a:normAutofit lnSpcReduction="10000"/>
          </a:bodyPr>
          <a:lstStyle/>
          <a:p>
            <a:r>
              <a:rPr lang="en-US" dirty="0"/>
              <a:t>Run the app to</a:t>
            </a:r>
          </a:p>
          <a:p>
            <a:pPr lvl="1"/>
            <a:r>
              <a:rPr lang="en-US" dirty="0"/>
              <a:t>Create a book resource</a:t>
            </a:r>
          </a:p>
          <a:p>
            <a:pPr lvl="1"/>
            <a:r>
              <a:rPr lang="en-US" dirty="0"/>
              <a:t>Update a book resource</a:t>
            </a:r>
          </a:p>
          <a:p>
            <a:pPr lvl="2"/>
            <a:r>
              <a:rPr lang="en-US" dirty="0"/>
              <a:t>Using PUT</a:t>
            </a:r>
          </a:p>
          <a:p>
            <a:pPr lvl="2"/>
            <a:r>
              <a:rPr lang="en-US" dirty="0"/>
              <a:t>Using PATCH</a:t>
            </a:r>
          </a:p>
          <a:p>
            <a:pPr lvl="1"/>
            <a:r>
              <a:rPr lang="en-US" dirty="0"/>
              <a:t>Delete a book resource</a:t>
            </a:r>
          </a:p>
          <a:p>
            <a:r>
              <a:rPr lang="en-US" dirty="0"/>
              <a:t>Highlight the referential integrity problems</a:t>
            </a:r>
          </a:p>
          <a:p>
            <a:pPr lvl="1"/>
            <a:r>
              <a:rPr lang="en-US" dirty="0"/>
              <a:t>Show how this app deals with that issue</a:t>
            </a:r>
          </a:p>
          <a:p>
            <a:pPr lvl="1"/>
            <a:r>
              <a:rPr lang="en-US" dirty="0"/>
              <a:t>There are many approaches to this, you must be aware and deal with these in the best REST-</a:t>
            </a:r>
            <a:r>
              <a:rPr lang="en-US" dirty="0" err="1"/>
              <a:t>ful</a:t>
            </a:r>
            <a:r>
              <a:rPr lang="en-US" dirty="0"/>
              <a:t> way.  Just having your REST API return </a:t>
            </a:r>
            <a:r>
              <a:rPr lang="en-US" sz="1700" dirty="0">
                <a:solidFill>
                  <a:srgbClr val="FF0000"/>
                </a:solidFill>
                <a:latin typeface="OCR A Extended" panose="02010509020102010303" pitchFamily="50" charset="0"/>
              </a:rPr>
              <a:t>500 – Internal Server Error </a:t>
            </a:r>
            <a:r>
              <a:rPr lang="en-US" dirty="0"/>
              <a:t>is not the only way!</a:t>
            </a:r>
          </a:p>
        </p:txBody>
      </p:sp>
    </p:spTree>
    <p:extLst>
      <p:ext uri="{BB962C8B-B14F-4D97-AF65-F5344CB8AC3E}">
        <p14:creationId xmlns:p14="http://schemas.microsoft.com/office/powerpoint/2010/main" val="345713636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80000"/>
                <a:lumMod val="80000"/>
              </a:schemeClr>
              <a:schemeClr val="bg2">
                <a:tint val="98000"/>
              </a:schemeClr>
            </a:duotone>
          </a:blip>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8CA576-EB06-0DDB-FDF9-30BB428E8687}"/>
              </a:ext>
            </a:extLst>
          </p:cNvPr>
          <p:cNvSpPr>
            <a:spLocks noGrp="1"/>
          </p:cNvSpPr>
          <p:nvPr>
            <p:ph type="title"/>
          </p:nvPr>
        </p:nvSpPr>
        <p:spPr>
          <a:xfrm>
            <a:off x="913795" y="609600"/>
            <a:ext cx="5978072" cy="970450"/>
          </a:xfrm>
        </p:spPr>
        <p:txBody>
          <a:bodyPr>
            <a:normAutofit/>
          </a:bodyPr>
          <a:lstStyle/>
          <a:p>
            <a:pPr>
              <a:lnSpc>
                <a:spcPct val="90000"/>
              </a:lnSpc>
            </a:pPr>
            <a:r>
              <a:rPr lang="en-US" sz="3400" dirty="0"/>
              <a:t>Inspect the Code | Iteration 0</a:t>
            </a:r>
          </a:p>
        </p:txBody>
      </p:sp>
      <p:sp>
        <p:nvSpPr>
          <p:cNvPr id="13" name="Content Placeholder 12">
            <a:extLst>
              <a:ext uri="{FF2B5EF4-FFF2-40B4-BE49-F238E27FC236}">
                <a16:creationId xmlns:a16="http://schemas.microsoft.com/office/drawing/2014/main" id="{AF3C7529-1394-9B0B-7212-68791495291E}"/>
              </a:ext>
            </a:extLst>
          </p:cNvPr>
          <p:cNvSpPr>
            <a:spLocks noGrp="1"/>
          </p:cNvSpPr>
          <p:nvPr>
            <p:ph idx="1"/>
          </p:nvPr>
        </p:nvSpPr>
        <p:spPr>
          <a:xfrm>
            <a:off x="913795" y="1828801"/>
            <a:ext cx="5978072" cy="3866048"/>
          </a:xfrm>
        </p:spPr>
        <p:txBody>
          <a:bodyPr anchor="ctr">
            <a:normAutofit/>
          </a:bodyPr>
          <a:lstStyle/>
          <a:p>
            <a:r>
              <a:rPr lang="en-US" dirty="0"/>
              <a:t>Demo Time!</a:t>
            </a:r>
          </a:p>
          <a:p>
            <a:r>
              <a:rPr lang="en-US" dirty="0"/>
              <a:t>Let’s give it a spin!</a:t>
            </a:r>
          </a:p>
        </p:txBody>
      </p:sp>
      <p:pic>
        <p:nvPicPr>
          <p:cNvPr id="16" name="Picture 15">
            <a:extLst>
              <a:ext uri="{FF2B5EF4-FFF2-40B4-BE49-F238E27FC236}">
                <a16:creationId xmlns:a16="http://schemas.microsoft.com/office/drawing/2014/main" id="{7DA43854-EA2D-47A8-A881-E61A317A2BFA}"/>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t="964" r="2807" b="1446"/>
          <a:stretch/>
        </p:blipFill>
        <p:spPr>
          <a:xfrm>
            <a:off x="7232905" y="1"/>
            <a:ext cx="4959095" cy="6858000"/>
          </a:xfrm>
          <a:prstGeom prst="rect">
            <a:avLst/>
          </a:prstGeom>
        </p:spPr>
      </p:pic>
      <p:pic>
        <p:nvPicPr>
          <p:cNvPr id="9" name="Content Placeholder 8" descr="Doctors discussing test results">
            <a:extLst>
              <a:ext uri="{FF2B5EF4-FFF2-40B4-BE49-F238E27FC236}">
                <a16:creationId xmlns:a16="http://schemas.microsoft.com/office/drawing/2014/main" id="{4E18F69D-D2D7-E2A8-1D6E-DDAF3E0AA2C5}"/>
              </a:ext>
            </a:extLst>
          </p:cNvPr>
          <p:cNvPicPr>
            <a:picLocks noChangeAspect="1"/>
          </p:cNvPicPr>
          <p:nvPr/>
        </p:nvPicPr>
        <p:blipFill>
          <a:blip r:embed="rId4">
            <a:extLst>
              <a:ext uri="{28A0092B-C50C-407E-A947-70E740481C1C}">
                <a14:useLocalDpi xmlns:a14="http://schemas.microsoft.com/office/drawing/2010/main" val="0"/>
              </a:ext>
            </a:extLst>
          </a:blip>
          <a:srcRect l="39984" r="7756" b="1"/>
          <a:stretch>
            <a:fillRect/>
          </a:stretch>
        </p:blipFill>
        <p:spPr>
          <a:xfrm>
            <a:off x="7552945" y="643465"/>
            <a:ext cx="3995592" cy="5103372"/>
          </a:xfrm>
          <a:prstGeom prst="rect">
            <a:avLst/>
          </a:prstGeom>
        </p:spPr>
      </p:pic>
    </p:spTree>
    <p:extLst>
      <p:ext uri="{BB962C8B-B14F-4D97-AF65-F5344CB8AC3E}">
        <p14:creationId xmlns:p14="http://schemas.microsoft.com/office/powerpoint/2010/main" val="324272505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2CE893-EE3C-F4FD-8F15-B6859125309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4718B24-406A-59BD-BE01-4F65D324D819}"/>
              </a:ext>
            </a:extLst>
          </p:cNvPr>
          <p:cNvSpPr>
            <a:spLocks noGrp="1"/>
          </p:cNvSpPr>
          <p:nvPr>
            <p:ph type="title"/>
          </p:nvPr>
        </p:nvSpPr>
        <p:spPr/>
        <p:txBody>
          <a:bodyPr/>
          <a:lstStyle/>
          <a:p>
            <a:r>
              <a:rPr lang="en-US" dirty="0"/>
              <a:t>Inspect the Code | Error Handling</a:t>
            </a:r>
          </a:p>
        </p:txBody>
      </p:sp>
      <p:sp>
        <p:nvSpPr>
          <p:cNvPr id="3" name="Content Placeholder 2">
            <a:extLst>
              <a:ext uri="{FF2B5EF4-FFF2-40B4-BE49-F238E27FC236}">
                <a16:creationId xmlns:a16="http://schemas.microsoft.com/office/drawing/2014/main" id="{8E3A8EF5-0E41-C2F7-12AB-CD062349BA81}"/>
              </a:ext>
            </a:extLst>
          </p:cNvPr>
          <p:cNvSpPr>
            <a:spLocks noGrp="1"/>
          </p:cNvSpPr>
          <p:nvPr>
            <p:ph idx="1"/>
          </p:nvPr>
        </p:nvSpPr>
        <p:spPr>
          <a:xfrm>
            <a:off x="913795" y="1732449"/>
            <a:ext cx="5468717" cy="4192863"/>
          </a:xfrm>
        </p:spPr>
        <p:txBody>
          <a:bodyPr>
            <a:normAutofit fontScale="92500" lnSpcReduction="20000"/>
          </a:bodyPr>
          <a:lstStyle/>
          <a:p>
            <a:r>
              <a:rPr lang="en-US" dirty="0"/>
              <a:t>Try-Catch is your friend</a:t>
            </a:r>
          </a:p>
          <a:p>
            <a:pPr lvl="1"/>
            <a:r>
              <a:rPr lang="en-US" dirty="0"/>
              <a:t>But be careful</a:t>
            </a:r>
          </a:p>
          <a:p>
            <a:r>
              <a:rPr lang="en-US" dirty="0"/>
              <a:t>Create Custom Error Types </a:t>
            </a:r>
          </a:p>
          <a:p>
            <a:r>
              <a:rPr lang="en-US" dirty="0"/>
              <a:t>Only catch custom exceptions</a:t>
            </a:r>
          </a:p>
          <a:p>
            <a:r>
              <a:rPr lang="en-US" dirty="0"/>
              <a:t>Use a generic error handling for any other exceptions</a:t>
            </a:r>
          </a:p>
          <a:p>
            <a:r>
              <a:rPr lang="en-US" dirty="0"/>
              <a:t>If you must catch generic exceptions, have a good code commentary as to why</a:t>
            </a:r>
          </a:p>
          <a:p>
            <a:pPr lvl="1"/>
            <a:r>
              <a:rPr lang="en-US" dirty="0"/>
              <a:t>Catching generic exceptions is an anti-pattern / code smell</a:t>
            </a:r>
          </a:p>
          <a:p>
            <a:r>
              <a:rPr lang="en-US" dirty="0"/>
              <a:t>For more on code smells and how to best handle them visit</a:t>
            </a:r>
          </a:p>
          <a:p>
            <a:pPr lvl="1"/>
            <a:r>
              <a:rPr lang="en-US" dirty="0">
                <a:solidFill>
                  <a:srgbClr val="FFC000"/>
                </a:solidFill>
              </a:rPr>
              <a:t>https://</a:t>
            </a:r>
            <a:r>
              <a:rPr lang="en-US" b="1" dirty="0">
                <a:solidFill>
                  <a:srgbClr val="FFC000"/>
                </a:solidFill>
              </a:rPr>
              <a:t>refactoring.guru</a:t>
            </a:r>
            <a:r>
              <a:rPr lang="en-US" dirty="0">
                <a:solidFill>
                  <a:srgbClr val="FFC000"/>
                </a:solidFill>
              </a:rPr>
              <a:t>/refactoring/smells</a:t>
            </a:r>
          </a:p>
        </p:txBody>
      </p:sp>
      <p:pic>
        <p:nvPicPr>
          <p:cNvPr id="5" name="Picture 4">
            <a:extLst>
              <a:ext uri="{FF2B5EF4-FFF2-40B4-BE49-F238E27FC236}">
                <a16:creationId xmlns:a16="http://schemas.microsoft.com/office/drawing/2014/main" id="{F9484EAF-0BF1-A5BE-1042-5ADA19575C48}"/>
              </a:ext>
            </a:extLst>
          </p:cNvPr>
          <p:cNvPicPr>
            <a:picLocks noChangeAspect="1"/>
          </p:cNvPicPr>
          <p:nvPr/>
        </p:nvPicPr>
        <p:blipFill>
          <a:blip r:embed="rId2"/>
          <a:stretch>
            <a:fillRect/>
          </a:stretch>
        </p:blipFill>
        <p:spPr>
          <a:xfrm>
            <a:off x="7284842" y="2331720"/>
            <a:ext cx="4161316" cy="2971800"/>
          </a:xfrm>
          <a:prstGeom prst="rect">
            <a:avLst/>
          </a:prstGeom>
        </p:spPr>
      </p:pic>
    </p:spTree>
    <p:extLst>
      <p:ext uri="{BB962C8B-B14F-4D97-AF65-F5344CB8AC3E}">
        <p14:creationId xmlns:p14="http://schemas.microsoft.com/office/powerpoint/2010/main" val="350486078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5EEA1F-FA9C-F1F2-C1B2-C9C416CC7428}"/>
              </a:ext>
            </a:extLst>
          </p:cNvPr>
          <p:cNvSpPr>
            <a:spLocks noGrp="1"/>
          </p:cNvSpPr>
          <p:nvPr>
            <p:ph type="title"/>
          </p:nvPr>
        </p:nvSpPr>
        <p:spPr/>
        <p:txBody>
          <a:bodyPr/>
          <a:lstStyle/>
          <a:p>
            <a:r>
              <a:rPr lang="en-US" dirty="0"/>
              <a:t>Manufacturing Context</a:t>
            </a:r>
          </a:p>
        </p:txBody>
      </p:sp>
      <p:sp>
        <p:nvSpPr>
          <p:cNvPr id="3" name="Content Placeholder 2">
            <a:extLst>
              <a:ext uri="{FF2B5EF4-FFF2-40B4-BE49-F238E27FC236}">
                <a16:creationId xmlns:a16="http://schemas.microsoft.com/office/drawing/2014/main" id="{59321D15-4DD0-C36E-D795-07D7A9479A55}"/>
              </a:ext>
            </a:extLst>
          </p:cNvPr>
          <p:cNvSpPr>
            <a:spLocks noGrp="1"/>
          </p:cNvSpPr>
          <p:nvPr>
            <p:ph idx="1"/>
          </p:nvPr>
        </p:nvSpPr>
        <p:spPr>
          <a:xfrm>
            <a:off x="748141" y="2015641"/>
            <a:ext cx="2533493" cy="4058751"/>
          </a:xfrm>
        </p:spPr>
        <p:txBody>
          <a:bodyPr/>
          <a:lstStyle/>
          <a:p>
            <a:r>
              <a:rPr lang="en-US" dirty="0"/>
              <a:t>Modeling based on ISA 95</a:t>
            </a:r>
          </a:p>
          <a:p>
            <a:pPr lvl="1"/>
            <a:r>
              <a:rPr lang="en-US" dirty="0"/>
              <a:t>Enterprise</a:t>
            </a:r>
          </a:p>
          <a:p>
            <a:pPr lvl="1"/>
            <a:r>
              <a:rPr lang="en-US" dirty="0"/>
              <a:t>Sites</a:t>
            </a:r>
          </a:p>
          <a:p>
            <a:pPr lvl="1"/>
            <a:r>
              <a:rPr lang="en-US" dirty="0"/>
              <a:t>Areas</a:t>
            </a:r>
          </a:p>
          <a:p>
            <a:pPr lvl="1"/>
            <a:r>
              <a:rPr lang="en-US" dirty="0"/>
              <a:t>Cells</a:t>
            </a:r>
          </a:p>
          <a:p>
            <a:pPr lvl="1"/>
            <a:r>
              <a:rPr lang="en-US" dirty="0"/>
              <a:t>Devices</a:t>
            </a:r>
          </a:p>
        </p:txBody>
      </p:sp>
      <p:pic>
        <p:nvPicPr>
          <p:cNvPr id="5" name="Picture 4">
            <a:extLst>
              <a:ext uri="{FF2B5EF4-FFF2-40B4-BE49-F238E27FC236}">
                <a16:creationId xmlns:a16="http://schemas.microsoft.com/office/drawing/2014/main" id="{A2B3EE74-F52B-5ECD-FD40-BD8926866944}"/>
              </a:ext>
            </a:extLst>
          </p:cNvPr>
          <p:cNvPicPr>
            <a:picLocks noChangeAspect="1"/>
          </p:cNvPicPr>
          <p:nvPr/>
        </p:nvPicPr>
        <p:blipFill>
          <a:blip r:embed="rId2"/>
          <a:stretch>
            <a:fillRect/>
          </a:stretch>
        </p:blipFill>
        <p:spPr>
          <a:xfrm>
            <a:off x="9870677" y="609600"/>
            <a:ext cx="1396880" cy="5537925"/>
          </a:xfrm>
          <a:prstGeom prst="rect">
            <a:avLst/>
          </a:prstGeom>
        </p:spPr>
      </p:pic>
    </p:spTree>
    <p:extLst>
      <p:ext uri="{BB962C8B-B14F-4D97-AF65-F5344CB8AC3E}">
        <p14:creationId xmlns:p14="http://schemas.microsoft.com/office/powerpoint/2010/main" val="225219124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D1401E-E373-9654-5858-277364E829D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150EEE9-2DED-FE53-8969-1B639E245B3A}"/>
              </a:ext>
            </a:extLst>
          </p:cNvPr>
          <p:cNvSpPr>
            <a:spLocks noGrp="1"/>
          </p:cNvSpPr>
          <p:nvPr>
            <p:ph type="title"/>
          </p:nvPr>
        </p:nvSpPr>
        <p:spPr/>
        <p:txBody>
          <a:bodyPr/>
          <a:lstStyle/>
          <a:p>
            <a:r>
              <a:rPr lang="en-US" dirty="0"/>
              <a:t>Manufacturing Context</a:t>
            </a:r>
          </a:p>
        </p:txBody>
      </p:sp>
      <p:sp>
        <p:nvSpPr>
          <p:cNvPr id="3" name="Content Placeholder 2">
            <a:extLst>
              <a:ext uri="{FF2B5EF4-FFF2-40B4-BE49-F238E27FC236}">
                <a16:creationId xmlns:a16="http://schemas.microsoft.com/office/drawing/2014/main" id="{91974EC3-F13E-E2A3-19A2-661543805BC8}"/>
              </a:ext>
            </a:extLst>
          </p:cNvPr>
          <p:cNvSpPr>
            <a:spLocks noGrp="1"/>
          </p:cNvSpPr>
          <p:nvPr>
            <p:ph idx="1"/>
          </p:nvPr>
        </p:nvSpPr>
        <p:spPr>
          <a:xfrm>
            <a:off x="748141" y="2015641"/>
            <a:ext cx="2533493" cy="4058751"/>
          </a:xfrm>
        </p:spPr>
        <p:txBody>
          <a:bodyPr/>
          <a:lstStyle/>
          <a:p>
            <a:r>
              <a:rPr lang="en-US" dirty="0"/>
              <a:t>Modeling based on CESMII’s API Proposal</a:t>
            </a:r>
          </a:p>
          <a:p>
            <a:pPr lvl="1"/>
            <a:r>
              <a:rPr lang="en-US" dirty="0"/>
              <a:t>Namespaces</a:t>
            </a:r>
          </a:p>
          <a:p>
            <a:pPr lvl="1"/>
            <a:r>
              <a:rPr lang="en-US" dirty="0"/>
              <a:t>Subscriptions</a:t>
            </a:r>
          </a:p>
          <a:p>
            <a:pPr lvl="1"/>
            <a:r>
              <a:rPr lang="en-US" dirty="0"/>
              <a:t>Instances</a:t>
            </a:r>
          </a:p>
          <a:p>
            <a:pPr lvl="1"/>
            <a:r>
              <a:rPr lang="en-US" dirty="0"/>
              <a:t>Object Types</a:t>
            </a:r>
          </a:p>
          <a:p>
            <a:pPr lvl="1"/>
            <a:r>
              <a:rPr lang="en-US" dirty="0"/>
              <a:t>Relationship Types</a:t>
            </a:r>
          </a:p>
        </p:txBody>
      </p:sp>
      <p:pic>
        <p:nvPicPr>
          <p:cNvPr id="6" name="Picture 5">
            <a:extLst>
              <a:ext uri="{FF2B5EF4-FFF2-40B4-BE49-F238E27FC236}">
                <a16:creationId xmlns:a16="http://schemas.microsoft.com/office/drawing/2014/main" id="{B08486AA-63A7-52CF-C8EE-EA064D17C55D}"/>
              </a:ext>
            </a:extLst>
          </p:cNvPr>
          <p:cNvPicPr>
            <a:picLocks noChangeAspect="1"/>
          </p:cNvPicPr>
          <p:nvPr/>
        </p:nvPicPr>
        <p:blipFill>
          <a:blip r:embed="rId2"/>
          <a:stretch>
            <a:fillRect/>
          </a:stretch>
        </p:blipFill>
        <p:spPr>
          <a:xfrm>
            <a:off x="4812632" y="1675212"/>
            <a:ext cx="6465573" cy="4812133"/>
          </a:xfrm>
          <a:prstGeom prst="rect">
            <a:avLst/>
          </a:prstGeom>
        </p:spPr>
      </p:pic>
    </p:spTree>
    <p:extLst>
      <p:ext uri="{BB962C8B-B14F-4D97-AF65-F5344CB8AC3E}">
        <p14:creationId xmlns:p14="http://schemas.microsoft.com/office/powerpoint/2010/main" val="168535654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80000"/>
                <a:lumMod val="80000"/>
              </a:schemeClr>
              <a:schemeClr val="bg2">
                <a:tint val="98000"/>
              </a:schemeClr>
            </a:duotone>
          </a:blip>
          <a:stretch/>
        </a:blipFill>
        <a:effectLst/>
      </p:bgPr>
    </p:bg>
    <p:spTree>
      <p:nvGrpSpPr>
        <p:cNvPr id="1" name="">
          <a:extLst>
            <a:ext uri="{FF2B5EF4-FFF2-40B4-BE49-F238E27FC236}">
              <a16:creationId xmlns:a16="http://schemas.microsoft.com/office/drawing/2014/main" id="{ECC7AE68-FCC3-E9FE-F890-A9492D367C3D}"/>
            </a:ext>
          </a:extLst>
        </p:cNvPr>
        <p:cNvGrpSpPr/>
        <p:nvPr/>
      </p:nvGrpSpPr>
      <p:grpSpPr>
        <a:xfrm>
          <a:off x="0" y="0"/>
          <a:ext cx="0" cy="0"/>
          <a:chOff x="0" y="0"/>
          <a:chExt cx="0" cy="0"/>
        </a:xfrm>
      </p:grpSpPr>
      <p:sp>
        <p:nvSpPr>
          <p:cNvPr id="8" name="Rectangle 7">
            <a:extLst>
              <a:ext uri="{FF2B5EF4-FFF2-40B4-BE49-F238E27FC236}">
                <a16:creationId xmlns:a16="http://schemas.microsoft.com/office/drawing/2014/main" id="{1764C3E0-A316-8EEB-4DC3-05508748155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321564" y="320040"/>
            <a:ext cx="11548872" cy="6217920"/>
          </a:xfrm>
          <a:prstGeom prst="rect">
            <a:avLst/>
          </a:prstGeom>
          <a:solidFill>
            <a:schemeClr val="bg1">
              <a:lumMod val="75000"/>
              <a:lumOff val="25000"/>
            </a:schemeClr>
          </a:solidFill>
          <a:ln>
            <a:noFill/>
          </a:ln>
          <a:effectLst>
            <a:innerShdw blurRad="63500" dist="50800" dir="162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1E44477-14B2-27FB-C767-207375E65749}"/>
              </a:ext>
            </a:extLst>
          </p:cNvPr>
          <p:cNvSpPr>
            <a:spLocks noGrp="1"/>
          </p:cNvSpPr>
          <p:nvPr>
            <p:ph type="title"/>
          </p:nvPr>
        </p:nvSpPr>
        <p:spPr>
          <a:xfrm>
            <a:off x="4377625" y="963507"/>
            <a:ext cx="6849344" cy="4995027"/>
          </a:xfrm>
        </p:spPr>
        <p:txBody>
          <a:bodyPr vert="horz" lIns="91440" tIns="45720" rIns="91440" bIns="45720" rtlCol="0" anchor="ctr">
            <a:normAutofit/>
          </a:bodyPr>
          <a:lstStyle/>
          <a:p>
            <a:pPr algn="l"/>
            <a:r>
              <a:rPr lang="en-US" sz="5200" dirty="0"/>
              <a:t>Module 6</a:t>
            </a:r>
          </a:p>
        </p:txBody>
      </p:sp>
      <p:sp>
        <p:nvSpPr>
          <p:cNvPr id="3" name="Content Placeholder 2">
            <a:extLst>
              <a:ext uri="{FF2B5EF4-FFF2-40B4-BE49-F238E27FC236}">
                <a16:creationId xmlns:a16="http://schemas.microsoft.com/office/drawing/2014/main" id="{21B282EE-A9A0-83D7-9C93-2D207275A195}"/>
              </a:ext>
            </a:extLst>
          </p:cNvPr>
          <p:cNvSpPr>
            <a:spLocks noGrp="1"/>
          </p:cNvSpPr>
          <p:nvPr>
            <p:ph idx="1"/>
          </p:nvPr>
        </p:nvSpPr>
        <p:spPr>
          <a:xfrm>
            <a:off x="965031" y="957287"/>
            <a:ext cx="2760795" cy="4995027"/>
          </a:xfrm>
        </p:spPr>
        <p:txBody>
          <a:bodyPr vert="horz" lIns="91440" tIns="45720" rIns="91440" bIns="45720" rtlCol="0" anchor="ctr">
            <a:normAutofit/>
          </a:bodyPr>
          <a:lstStyle/>
          <a:p>
            <a:pPr marL="0" indent="0" algn="r">
              <a:buNone/>
            </a:pPr>
            <a:r>
              <a:rPr lang="en-US" dirty="0">
                <a:solidFill>
                  <a:schemeClr val="tx1"/>
                </a:solidFill>
              </a:rPr>
              <a:t>Security &amp;</a:t>
            </a:r>
          </a:p>
          <a:p>
            <a:pPr marL="0" indent="0" algn="r">
              <a:buNone/>
            </a:pPr>
            <a:r>
              <a:rPr lang="en-US" dirty="0">
                <a:solidFill>
                  <a:schemeClr val="tx1"/>
                </a:solidFill>
              </a:rPr>
              <a:t>Authentication</a:t>
            </a:r>
          </a:p>
        </p:txBody>
      </p:sp>
      <p:cxnSp>
        <p:nvCxnSpPr>
          <p:cNvPr id="10" name="Straight Connector 9">
            <a:extLst>
              <a:ext uri="{FF2B5EF4-FFF2-40B4-BE49-F238E27FC236}">
                <a16:creationId xmlns:a16="http://schemas.microsoft.com/office/drawing/2014/main" id="{F26942A4-7D57-529C-726C-0A20E7D719E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055891" y="2057399"/>
            <a:ext cx="0" cy="2743200"/>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5507532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6375E4-24AD-1D7E-4C29-E4617A75D8E3}"/>
              </a:ext>
            </a:extLst>
          </p:cNvPr>
          <p:cNvSpPr>
            <a:spLocks noGrp="1"/>
          </p:cNvSpPr>
          <p:nvPr>
            <p:ph type="title"/>
          </p:nvPr>
        </p:nvSpPr>
        <p:spPr/>
        <p:txBody>
          <a:bodyPr/>
          <a:lstStyle/>
          <a:p>
            <a:r>
              <a:rPr lang="en-US" dirty="0"/>
              <a:t>Sec-Basics | Thread Modeling</a:t>
            </a:r>
          </a:p>
        </p:txBody>
      </p:sp>
      <p:sp>
        <p:nvSpPr>
          <p:cNvPr id="3" name="Content Placeholder 2">
            <a:extLst>
              <a:ext uri="{FF2B5EF4-FFF2-40B4-BE49-F238E27FC236}">
                <a16:creationId xmlns:a16="http://schemas.microsoft.com/office/drawing/2014/main" id="{A27C1BFD-3638-1C4D-61A0-CD90D7841C7A}"/>
              </a:ext>
            </a:extLst>
          </p:cNvPr>
          <p:cNvSpPr>
            <a:spLocks noGrp="1"/>
          </p:cNvSpPr>
          <p:nvPr>
            <p:ph idx="1"/>
          </p:nvPr>
        </p:nvSpPr>
        <p:spPr>
          <a:xfrm>
            <a:off x="685195" y="1723305"/>
            <a:ext cx="4993229" cy="4631775"/>
          </a:xfrm>
        </p:spPr>
        <p:txBody>
          <a:bodyPr>
            <a:normAutofit/>
          </a:bodyPr>
          <a:lstStyle/>
          <a:p>
            <a:r>
              <a:rPr lang="en-US" dirty="0"/>
              <a:t>Identify Assets</a:t>
            </a:r>
          </a:p>
          <a:p>
            <a:pPr lvl="1"/>
            <a:r>
              <a:rPr lang="en-US" dirty="0"/>
              <a:t>User data</a:t>
            </a:r>
          </a:p>
          <a:p>
            <a:pPr lvl="1"/>
            <a:r>
              <a:rPr lang="en-US" dirty="0"/>
              <a:t>Service Endpoints</a:t>
            </a:r>
          </a:p>
          <a:p>
            <a:pPr lvl="1"/>
            <a:r>
              <a:rPr lang="en-US" dirty="0"/>
              <a:t>Tokens / keys</a:t>
            </a:r>
          </a:p>
          <a:p>
            <a:r>
              <a:rPr lang="en-US" dirty="0"/>
              <a:t>Threats</a:t>
            </a:r>
          </a:p>
          <a:p>
            <a:pPr lvl="1"/>
            <a:r>
              <a:rPr lang="en-US" dirty="0"/>
              <a:t>Token theft</a:t>
            </a:r>
          </a:p>
          <a:p>
            <a:pPr lvl="1"/>
            <a:r>
              <a:rPr lang="en-US" dirty="0"/>
              <a:t>Replay</a:t>
            </a:r>
          </a:p>
          <a:p>
            <a:pPr lvl="1"/>
            <a:r>
              <a:rPr lang="en-US" dirty="0"/>
              <a:t>Injection</a:t>
            </a:r>
          </a:p>
          <a:p>
            <a:pPr lvl="1"/>
            <a:r>
              <a:rPr lang="en-US" dirty="0"/>
              <a:t>Broken AuthN/</a:t>
            </a:r>
            <a:r>
              <a:rPr lang="en-US" dirty="0" err="1"/>
              <a:t>AuthR</a:t>
            </a:r>
            <a:endParaRPr lang="en-US" dirty="0"/>
          </a:p>
          <a:p>
            <a:pPr lvl="1"/>
            <a:r>
              <a:rPr lang="en-US" dirty="0"/>
              <a:t>DDoS / DoS attacks</a:t>
            </a:r>
          </a:p>
        </p:txBody>
      </p:sp>
      <p:sp>
        <p:nvSpPr>
          <p:cNvPr id="4" name="Content Placeholder 2">
            <a:extLst>
              <a:ext uri="{FF2B5EF4-FFF2-40B4-BE49-F238E27FC236}">
                <a16:creationId xmlns:a16="http://schemas.microsoft.com/office/drawing/2014/main" id="{E3BBC321-3B7F-B2C4-1A4B-640478C27857}"/>
              </a:ext>
            </a:extLst>
          </p:cNvPr>
          <p:cNvSpPr txBox="1">
            <a:spLocks/>
          </p:cNvSpPr>
          <p:nvPr/>
        </p:nvSpPr>
        <p:spPr>
          <a:xfrm>
            <a:off x="5866795" y="1723304"/>
            <a:ext cx="4993229" cy="4631775"/>
          </a:xfrm>
          <a:prstGeom prst="rect">
            <a:avLst/>
          </a:prstGeom>
          <a:effectLst>
            <a:outerShdw blurRad="25400" dir="17880000">
              <a:srgbClr val="000000">
                <a:alpha val="46000"/>
              </a:srgbClr>
            </a:outerShdw>
          </a:effectLst>
        </p:spPr>
        <p:txBody>
          <a:bodyPr vert="horz" lIns="91440" tIns="45720" rIns="91440" bIns="45720" rtlCol="0" anchor="t">
            <a:normAutofit/>
          </a:bodyPr>
          <a:lstStyle>
            <a:lvl1pPr marL="342900" indent="-306000" algn="l" defTabSz="457200" rtl="0" eaLnBrk="1" latinLnBrk="0" hangingPunct="1">
              <a:spcBef>
                <a:spcPct val="20000"/>
              </a:spcBef>
              <a:spcAft>
                <a:spcPts val="600"/>
              </a:spcAft>
              <a:buClr>
                <a:schemeClr val="tx2"/>
              </a:buClr>
              <a:buSzPct val="70000"/>
              <a:buFont typeface="Wingdings 2" charset="2"/>
              <a:buChar char=""/>
              <a:defRPr sz="2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1pPr>
            <a:lvl2pPr marL="720000" indent="-270000" algn="l" defTabSz="457200" rtl="0" eaLnBrk="1" latinLnBrk="0" hangingPunct="1">
              <a:spcBef>
                <a:spcPct val="20000"/>
              </a:spcBef>
              <a:spcAft>
                <a:spcPts val="600"/>
              </a:spcAft>
              <a:buClr>
                <a:schemeClr val="tx2"/>
              </a:buClr>
              <a:buSzPct val="70000"/>
              <a:buFont typeface="Wingdings 2" charset="2"/>
              <a:buChar char=""/>
              <a:defRPr sz="18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2pPr>
            <a:lvl3pPr marL="1026000" indent="-216000" algn="l" defTabSz="457200" rtl="0" eaLnBrk="1" latinLnBrk="0" hangingPunct="1">
              <a:spcBef>
                <a:spcPct val="20000"/>
              </a:spcBef>
              <a:spcAft>
                <a:spcPts val="600"/>
              </a:spcAft>
              <a:buClr>
                <a:schemeClr val="tx2"/>
              </a:buClr>
              <a:buSzPct val="70000"/>
              <a:buFont typeface="Wingdings 2" charset="2"/>
              <a:buChar char=""/>
              <a:defRPr sz="16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3pPr>
            <a:lvl4pPr marL="1386000" indent="-2160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4pPr>
            <a:lvl5pPr marL="1674000" indent="-2160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5pPr>
            <a:lvl6pPr marL="20146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6pPr>
            <a:lvl7pPr marL="24018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7pPr>
            <a:lvl8pPr marL="27890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8pPr>
            <a:lvl9pPr marL="31062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9pPr>
          </a:lstStyle>
          <a:p>
            <a:r>
              <a:rPr lang="en-US" dirty="0"/>
              <a:t>Security Objectives</a:t>
            </a:r>
          </a:p>
          <a:p>
            <a:pPr lvl="1"/>
            <a:r>
              <a:rPr lang="en-US" dirty="0"/>
              <a:t>Confidentiality</a:t>
            </a:r>
          </a:p>
          <a:p>
            <a:pPr lvl="1"/>
            <a:r>
              <a:rPr lang="en-US" dirty="0"/>
              <a:t>Integrity</a:t>
            </a:r>
          </a:p>
          <a:p>
            <a:pPr lvl="1"/>
            <a:r>
              <a:rPr lang="en-US" dirty="0"/>
              <a:t>Availability</a:t>
            </a:r>
          </a:p>
          <a:p>
            <a:pPr lvl="1"/>
            <a:r>
              <a:rPr lang="en-US" dirty="0"/>
              <a:t>Authentication (AuthN)</a:t>
            </a:r>
          </a:p>
          <a:p>
            <a:pPr lvl="1"/>
            <a:r>
              <a:rPr lang="en-US" dirty="0"/>
              <a:t>Authorization (</a:t>
            </a:r>
            <a:r>
              <a:rPr lang="en-US" dirty="0" err="1"/>
              <a:t>AuthR</a:t>
            </a:r>
            <a:r>
              <a:rPr lang="en-US" dirty="0"/>
              <a:t>)</a:t>
            </a:r>
          </a:p>
          <a:p>
            <a:pPr lvl="1"/>
            <a:r>
              <a:rPr lang="en-US" dirty="0"/>
              <a:t>Non-Repudiation</a:t>
            </a:r>
          </a:p>
          <a:p>
            <a:r>
              <a:rPr lang="en-US" dirty="0"/>
              <a:t>Principles at play</a:t>
            </a:r>
          </a:p>
          <a:p>
            <a:pPr lvl="1"/>
            <a:r>
              <a:rPr lang="en-US" b="1" dirty="0">
                <a:solidFill>
                  <a:srgbClr val="FFC000"/>
                </a:solidFill>
              </a:rPr>
              <a:t>Least Privilege </a:t>
            </a:r>
            <a:r>
              <a:rPr lang="en-US" dirty="0"/>
              <a:t>(only provide what’s needed and no more)</a:t>
            </a:r>
          </a:p>
          <a:p>
            <a:pPr lvl="1"/>
            <a:r>
              <a:rPr lang="en-US" b="1" dirty="0">
                <a:solidFill>
                  <a:srgbClr val="FFC000"/>
                </a:solidFill>
              </a:rPr>
              <a:t>Defense in Depth </a:t>
            </a:r>
            <a:r>
              <a:rPr lang="en-US" dirty="0"/>
              <a:t>(security layers)</a:t>
            </a:r>
          </a:p>
        </p:txBody>
      </p:sp>
    </p:spTree>
    <p:extLst>
      <p:ext uri="{BB962C8B-B14F-4D97-AF65-F5344CB8AC3E}">
        <p14:creationId xmlns:p14="http://schemas.microsoft.com/office/powerpoint/2010/main" val="65558168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7A7030-D7EF-7E42-3E96-15668ED2BF1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C8FE8D6-86AD-A37A-AAD1-C996FA8B9661}"/>
              </a:ext>
            </a:extLst>
          </p:cNvPr>
          <p:cNvSpPr>
            <a:spLocks noGrp="1"/>
          </p:cNvSpPr>
          <p:nvPr>
            <p:ph type="title"/>
          </p:nvPr>
        </p:nvSpPr>
        <p:spPr/>
        <p:txBody>
          <a:bodyPr/>
          <a:lstStyle/>
          <a:p>
            <a:r>
              <a:rPr lang="en-US" dirty="0"/>
              <a:t>Sec-Basics | AuthN v </a:t>
            </a:r>
            <a:r>
              <a:rPr lang="en-US" dirty="0" err="1"/>
              <a:t>AuthR</a:t>
            </a:r>
            <a:endParaRPr lang="en-US" dirty="0"/>
          </a:p>
        </p:txBody>
      </p:sp>
      <p:sp>
        <p:nvSpPr>
          <p:cNvPr id="3" name="Content Placeholder 2">
            <a:extLst>
              <a:ext uri="{FF2B5EF4-FFF2-40B4-BE49-F238E27FC236}">
                <a16:creationId xmlns:a16="http://schemas.microsoft.com/office/drawing/2014/main" id="{ECF23196-FA0F-04DA-81BA-05368FCE88A9}"/>
              </a:ext>
            </a:extLst>
          </p:cNvPr>
          <p:cNvSpPr>
            <a:spLocks noGrp="1"/>
          </p:cNvSpPr>
          <p:nvPr>
            <p:ph idx="1"/>
          </p:nvPr>
        </p:nvSpPr>
        <p:spPr>
          <a:xfrm>
            <a:off x="685195" y="1723305"/>
            <a:ext cx="9400637" cy="4631775"/>
          </a:xfrm>
        </p:spPr>
        <p:txBody>
          <a:bodyPr>
            <a:normAutofit fontScale="92500" lnSpcReduction="10000"/>
          </a:bodyPr>
          <a:lstStyle/>
          <a:p>
            <a:r>
              <a:rPr lang="en-US" b="1" dirty="0">
                <a:solidFill>
                  <a:srgbClr val="FFC000"/>
                </a:solidFill>
              </a:rPr>
              <a:t>Authentication</a:t>
            </a:r>
            <a:r>
              <a:rPr lang="en-US" dirty="0"/>
              <a:t> (AuthN)</a:t>
            </a:r>
          </a:p>
          <a:p>
            <a:pPr lvl="1"/>
            <a:r>
              <a:rPr lang="en-US" dirty="0"/>
              <a:t>Verify who the client is</a:t>
            </a:r>
          </a:p>
          <a:p>
            <a:pPr lvl="2"/>
            <a:r>
              <a:rPr lang="en-US" dirty="0"/>
              <a:t>API Keys</a:t>
            </a:r>
          </a:p>
          <a:p>
            <a:pPr lvl="2"/>
            <a:r>
              <a:rPr lang="en-US" dirty="0"/>
              <a:t>JWT</a:t>
            </a:r>
          </a:p>
          <a:p>
            <a:pPr lvl="2"/>
            <a:r>
              <a:rPr lang="en-US" dirty="0"/>
              <a:t>OAuth2 Flows</a:t>
            </a:r>
          </a:p>
          <a:p>
            <a:r>
              <a:rPr lang="en-US" b="1" dirty="0">
                <a:solidFill>
                  <a:srgbClr val="FFC000"/>
                </a:solidFill>
              </a:rPr>
              <a:t>Authorization</a:t>
            </a:r>
            <a:r>
              <a:rPr lang="en-US" dirty="0"/>
              <a:t> (</a:t>
            </a:r>
            <a:r>
              <a:rPr lang="en-US" dirty="0" err="1"/>
              <a:t>AuthR</a:t>
            </a:r>
            <a:r>
              <a:rPr lang="en-US" dirty="0"/>
              <a:t>)</a:t>
            </a:r>
          </a:p>
          <a:p>
            <a:pPr lvl="1"/>
            <a:r>
              <a:rPr lang="en-US" dirty="0"/>
              <a:t>Verify what the client can do</a:t>
            </a:r>
          </a:p>
          <a:p>
            <a:pPr lvl="2"/>
            <a:r>
              <a:rPr lang="en-US" dirty="0"/>
              <a:t>Roles</a:t>
            </a:r>
          </a:p>
          <a:p>
            <a:pPr lvl="2"/>
            <a:r>
              <a:rPr lang="en-US" dirty="0"/>
              <a:t>Scopes</a:t>
            </a:r>
          </a:p>
          <a:p>
            <a:pPr lvl="2"/>
            <a:r>
              <a:rPr lang="en-US" dirty="0"/>
              <a:t>Access Control Lists (ACLs)</a:t>
            </a:r>
          </a:p>
          <a:p>
            <a:r>
              <a:rPr lang="en-US" dirty="0"/>
              <a:t>Example</a:t>
            </a:r>
          </a:p>
          <a:p>
            <a:pPr lvl="1"/>
            <a:r>
              <a:rPr lang="en-US" dirty="0"/>
              <a:t>Client “X” is authenticated, if it has the role “Billing” then it is allowed to call endpoint</a:t>
            </a:r>
          </a:p>
          <a:p>
            <a:pPr lvl="2"/>
            <a:r>
              <a:rPr lang="en-US" dirty="0">
                <a:solidFill>
                  <a:schemeClr val="accent1"/>
                </a:solidFill>
                <a:latin typeface="OCR A Extended" panose="02010509020102010303" pitchFamily="50" charset="0"/>
              </a:rPr>
              <a:t>POST </a:t>
            </a:r>
            <a:r>
              <a:rPr lang="en-US" dirty="0" err="1">
                <a:solidFill>
                  <a:schemeClr val="accent1"/>
                </a:solidFill>
                <a:latin typeface="OCR A Extended" panose="02010509020102010303" pitchFamily="50" charset="0"/>
              </a:rPr>
              <a:t>api</a:t>
            </a:r>
            <a:r>
              <a:rPr lang="en-US" dirty="0">
                <a:solidFill>
                  <a:schemeClr val="accent1"/>
                </a:solidFill>
                <a:latin typeface="OCR A Extended" panose="02010509020102010303" pitchFamily="50" charset="0"/>
              </a:rPr>
              <a:t>/billing</a:t>
            </a:r>
            <a:endParaRPr lang="en-US" dirty="0"/>
          </a:p>
        </p:txBody>
      </p:sp>
    </p:spTree>
    <p:extLst>
      <p:ext uri="{BB962C8B-B14F-4D97-AF65-F5344CB8AC3E}">
        <p14:creationId xmlns:p14="http://schemas.microsoft.com/office/powerpoint/2010/main" val="88752188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5CE816-BAF8-D16D-3BD8-58398780A49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21A6FEB-0106-D671-67DB-1872F853F0C6}"/>
              </a:ext>
            </a:extLst>
          </p:cNvPr>
          <p:cNvSpPr>
            <a:spLocks noGrp="1"/>
          </p:cNvSpPr>
          <p:nvPr>
            <p:ph type="title"/>
          </p:nvPr>
        </p:nvSpPr>
        <p:spPr/>
        <p:txBody>
          <a:bodyPr/>
          <a:lstStyle/>
          <a:p>
            <a:r>
              <a:rPr lang="en-US" dirty="0"/>
              <a:t>Sec-Basics | TLS</a:t>
            </a:r>
          </a:p>
        </p:txBody>
      </p:sp>
      <p:sp>
        <p:nvSpPr>
          <p:cNvPr id="3" name="Content Placeholder 2">
            <a:extLst>
              <a:ext uri="{FF2B5EF4-FFF2-40B4-BE49-F238E27FC236}">
                <a16:creationId xmlns:a16="http://schemas.microsoft.com/office/drawing/2014/main" id="{B78FBE11-6902-59FC-E81C-FDD57F16E9D2}"/>
              </a:ext>
            </a:extLst>
          </p:cNvPr>
          <p:cNvSpPr>
            <a:spLocks noGrp="1"/>
          </p:cNvSpPr>
          <p:nvPr>
            <p:ph idx="1"/>
          </p:nvPr>
        </p:nvSpPr>
        <p:spPr>
          <a:xfrm>
            <a:off x="685195" y="1723305"/>
            <a:ext cx="4161125" cy="4631775"/>
          </a:xfrm>
        </p:spPr>
        <p:txBody>
          <a:bodyPr>
            <a:normAutofit fontScale="92500" lnSpcReduction="20000"/>
          </a:bodyPr>
          <a:lstStyle/>
          <a:p>
            <a:r>
              <a:rPr lang="en-US" dirty="0">
                <a:solidFill>
                  <a:schemeClr val="accent1">
                    <a:lumMod val="75000"/>
                  </a:schemeClr>
                </a:solidFill>
              </a:rPr>
              <a:t>Transport Layer Security (</a:t>
            </a:r>
            <a:r>
              <a:rPr lang="en-US" b="1" dirty="0">
                <a:solidFill>
                  <a:schemeClr val="accent1">
                    <a:lumMod val="75000"/>
                  </a:schemeClr>
                </a:solidFill>
              </a:rPr>
              <a:t>TLS</a:t>
            </a:r>
            <a:r>
              <a:rPr lang="en-US" dirty="0">
                <a:solidFill>
                  <a:schemeClr val="accent1">
                    <a:lumMod val="75000"/>
                  </a:schemeClr>
                </a:solidFill>
              </a:rPr>
              <a:t>)</a:t>
            </a:r>
          </a:p>
          <a:p>
            <a:pPr lvl="1"/>
            <a:r>
              <a:rPr lang="en-US" dirty="0"/>
              <a:t>HTTPS in PROD – especially if exposed to the public Internet</a:t>
            </a:r>
          </a:p>
          <a:p>
            <a:pPr lvl="1"/>
            <a:r>
              <a:rPr lang="en-US" dirty="0"/>
              <a:t>It is better to use in all ENV (if your budge allows it or it is a practice already enforced by IT team)</a:t>
            </a:r>
          </a:p>
          <a:p>
            <a:pPr lvl="1"/>
            <a:r>
              <a:rPr lang="en-US" dirty="0"/>
              <a:t>The problem with HTTP is network packets travel in plain-text</a:t>
            </a:r>
          </a:p>
          <a:p>
            <a:pPr lvl="1"/>
            <a:r>
              <a:rPr lang="en-US" dirty="0"/>
              <a:t>Enforce redirects (HTTP </a:t>
            </a:r>
            <a:r>
              <a:rPr lang="en-US" dirty="0">
                <a:sym typeface="Wingdings" panose="05000000000000000000" pitchFamily="2" charset="2"/>
              </a:rPr>
              <a:t> HTTPS)</a:t>
            </a:r>
          </a:p>
          <a:p>
            <a:pPr lvl="1"/>
            <a:r>
              <a:rPr lang="en-US" dirty="0">
                <a:sym typeface="Wingdings" panose="05000000000000000000" pitchFamily="2" charset="2"/>
              </a:rPr>
              <a:t>Use Certificates when possible</a:t>
            </a:r>
          </a:p>
          <a:p>
            <a:pPr lvl="2"/>
            <a:r>
              <a:rPr lang="en-US" sz="1500" dirty="0" err="1">
                <a:solidFill>
                  <a:schemeClr val="accent1"/>
                </a:solidFill>
                <a:latin typeface="OCR A Extended" panose="02010509020102010303" pitchFamily="50" charset="0"/>
                <a:sym typeface="Wingdings" panose="05000000000000000000" pitchFamily="2" charset="2"/>
              </a:rPr>
              <a:t>letsencrypt</a:t>
            </a:r>
            <a:r>
              <a:rPr lang="en-US" dirty="0">
                <a:sym typeface="Wingdings" panose="05000000000000000000" pitchFamily="2" charset="2"/>
              </a:rPr>
              <a:t> is free and opensource</a:t>
            </a:r>
          </a:p>
          <a:p>
            <a:pPr lvl="2"/>
            <a:r>
              <a:rPr lang="en-US" dirty="0">
                <a:sym typeface="Wingdings" panose="05000000000000000000" pitchFamily="2" charset="2"/>
              </a:rPr>
              <a:t>Automate the renewal</a:t>
            </a:r>
          </a:p>
          <a:p>
            <a:pPr lvl="2"/>
            <a:r>
              <a:rPr lang="en-US" sz="1500" dirty="0">
                <a:solidFill>
                  <a:schemeClr val="accent1"/>
                </a:solidFill>
                <a:latin typeface="OCR A Extended" panose="02010509020102010303" pitchFamily="50" charset="0"/>
                <a:sym typeface="Wingdings" panose="05000000000000000000" pitchFamily="2" charset="2"/>
              </a:rPr>
              <a:t>https://letsencrypt.org</a:t>
            </a:r>
          </a:p>
        </p:txBody>
      </p:sp>
      <p:sp>
        <p:nvSpPr>
          <p:cNvPr id="4" name="Content Placeholder 2">
            <a:extLst>
              <a:ext uri="{FF2B5EF4-FFF2-40B4-BE49-F238E27FC236}">
                <a16:creationId xmlns:a16="http://schemas.microsoft.com/office/drawing/2014/main" id="{05A8F926-99A5-2A9F-FA19-30EDCDF13835}"/>
              </a:ext>
            </a:extLst>
          </p:cNvPr>
          <p:cNvSpPr txBox="1">
            <a:spLocks/>
          </p:cNvSpPr>
          <p:nvPr/>
        </p:nvSpPr>
        <p:spPr>
          <a:xfrm>
            <a:off x="5596128" y="1723305"/>
            <a:ext cx="5671429" cy="4631775"/>
          </a:xfrm>
          <a:prstGeom prst="rect">
            <a:avLst/>
          </a:prstGeom>
          <a:effectLst>
            <a:outerShdw blurRad="25400" dir="17880000">
              <a:srgbClr val="000000">
                <a:alpha val="46000"/>
              </a:srgbClr>
            </a:outerShdw>
          </a:effectLst>
        </p:spPr>
        <p:txBody>
          <a:bodyPr vert="horz" lIns="91440" tIns="45720" rIns="91440" bIns="45720" rtlCol="0" anchor="t">
            <a:normAutofit/>
          </a:bodyPr>
          <a:lstStyle>
            <a:lvl1pPr marL="342900" indent="-306000" algn="l" defTabSz="457200" rtl="0" eaLnBrk="1" latinLnBrk="0" hangingPunct="1">
              <a:spcBef>
                <a:spcPct val="20000"/>
              </a:spcBef>
              <a:spcAft>
                <a:spcPts val="600"/>
              </a:spcAft>
              <a:buClr>
                <a:schemeClr val="tx2"/>
              </a:buClr>
              <a:buSzPct val="70000"/>
              <a:buFont typeface="Wingdings 2" charset="2"/>
              <a:buChar char=""/>
              <a:defRPr sz="2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1pPr>
            <a:lvl2pPr marL="720000" indent="-270000" algn="l" defTabSz="457200" rtl="0" eaLnBrk="1" latinLnBrk="0" hangingPunct="1">
              <a:spcBef>
                <a:spcPct val="20000"/>
              </a:spcBef>
              <a:spcAft>
                <a:spcPts val="600"/>
              </a:spcAft>
              <a:buClr>
                <a:schemeClr val="tx2"/>
              </a:buClr>
              <a:buSzPct val="70000"/>
              <a:buFont typeface="Wingdings 2" charset="2"/>
              <a:buChar char=""/>
              <a:defRPr sz="18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2pPr>
            <a:lvl3pPr marL="1026000" indent="-216000" algn="l" defTabSz="457200" rtl="0" eaLnBrk="1" latinLnBrk="0" hangingPunct="1">
              <a:spcBef>
                <a:spcPct val="20000"/>
              </a:spcBef>
              <a:spcAft>
                <a:spcPts val="600"/>
              </a:spcAft>
              <a:buClr>
                <a:schemeClr val="tx2"/>
              </a:buClr>
              <a:buSzPct val="70000"/>
              <a:buFont typeface="Wingdings 2" charset="2"/>
              <a:buChar char=""/>
              <a:defRPr sz="16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3pPr>
            <a:lvl4pPr marL="1386000" indent="-2160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4pPr>
            <a:lvl5pPr marL="1674000" indent="-2160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5pPr>
            <a:lvl6pPr marL="20146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6pPr>
            <a:lvl7pPr marL="24018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7pPr>
            <a:lvl8pPr marL="27890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8pPr>
            <a:lvl9pPr marL="31062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9pPr>
          </a:lstStyle>
          <a:p>
            <a:r>
              <a:rPr lang="en-US" dirty="0">
                <a:sym typeface="Wingdings" panose="05000000000000000000" pitchFamily="2" charset="2"/>
              </a:rPr>
              <a:t>TLS Checklist</a:t>
            </a:r>
          </a:p>
          <a:p>
            <a:pPr lvl="1"/>
            <a:r>
              <a:rPr lang="en-US" dirty="0">
                <a:sym typeface="Wingdings" panose="05000000000000000000" pitchFamily="2" charset="2"/>
              </a:rPr>
              <a:t>TLS 1.2 minimum</a:t>
            </a:r>
          </a:p>
          <a:p>
            <a:pPr lvl="1"/>
            <a:r>
              <a:rPr lang="en-US" dirty="0">
                <a:sym typeface="Wingdings" panose="05000000000000000000" pitchFamily="2" charset="2"/>
              </a:rPr>
              <a:t>TLS 1.3 is preferred</a:t>
            </a:r>
          </a:p>
          <a:p>
            <a:pPr lvl="1"/>
            <a:r>
              <a:rPr lang="en-US" dirty="0">
                <a:sym typeface="Wingdings" panose="05000000000000000000" pitchFamily="2" charset="2"/>
              </a:rPr>
              <a:t>Strong cypher </a:t>
            </a:r>
            <a:r>
              <a:rPr lang="en-US" dirty="0" err="1">
                <a:sym typeface="Wingdings" panose="05000000000000000000" pitchFamily="2" charset="2"/>
              </a:rPr>
              <a:t>suties</a:t>
            </a:r>
            <a:endParaRPr lang="en-US" dirty="0">
              <a:sym typeface="Wingdings" panose="05000000000000000000" pitchFamily="2" charset="2"/>
            </a:endParaRPr>
          </a:p>
          <a:p>
            <a:pPr lvl="1"/>
            <a:r>
              <a:rPr lang="en-US" dirty="0">
                <a:sym typeface="Wingdings" panose="05000000000000000000" pitchFamily="2" charset="2"/>
              </a:rPr>
              <a:t>HSTS – </a:t>
            </a:r>
            <a:r>
              <a:rPr lang="en-US" sz="1300" dirty="0">
                <a:sym typeface="Wingdings" panose="05000000000000000000" pitchFamily="2" charset="2"/>
              </a:rPr>
              <a:t>browser policy to enforce connecting to HTTPS only</a:t>
            </a:r>
          </a:p>
          <a:p>
            <a:pPr lvl="1"/>
            <a:r>
              <a:rPr lang="en-US" dirty="0">
                <a:sym typeface="Wingdings" panose="05000000000000000000" pitchFamily="2" charset="2"/>
              </a:rPr>
              <a:t>Disable obsolete protocols</a:t>
            </a:r>
          </a:p>
          <a:p>
            <a:pPr lvl="1"/>
            <a:r>
              <a:rPr lang="en-US" dirty="0">
                <a:sym typeface="Wingdings" panose="05000000000000000000" pitchFamily="2" charset="2"/>
              </a:rPr>
              <a:t>Forward secrecy (no long-lived session tokens)</a:t>
            </a:r>
          </a:p>
          <a:p>
            <a:pPr lvl="1"/>
            <a:r>
              <a:rPr lang="en-US" dirty="0">
                <a:sym typeface="Wingdings" panose="05000000000000000000" pitchFamily="2" charset="2"/>
              </a:rPr>
              <a:t>Never put cert/private-key info in code repository</a:t>
            </a:r>
            <a:endParaRPr lang="en-US" dirty="0"/>
          </a:p>
        </p:txBody>
      </p:sp>
    </p:spTree>
    <p:extLst>
      <p:ext uri="{BB962C8B-B14F-4D97-AF65-F5344CB8AC3E}">
        <p14:creationId xmlns:p14="http://schemas.microsoft.com/office/powerpoint/2010/main" val="208550827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A2FCF6-55D7-3A29-3574-ACE1B59DA10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B19E7B7-AE87-1773-382D-31205B3B033D}"/>
              </a:ext>
            </a:extLst>
          </p:cNvPr>
          <p:cNvSpPr>
            <a:spLocks noGrp="1"/>
          </p:cNvSpPr>
          <p:nvPr>
            <p:ph type="title"/>
          </p:nvPr>
        </p:nvSpPr>
        <p:spPr/>
        <p:txBody>
          <a:bodyPr/>
          <a:lstStyle/>
          <a:p>
            <a:r>
              <a:rPr lang="en-US" dirty="0"/>
              <a:t>Sec-Basics | Tokens &amp; Secrets Lifecycle</a:t>
            </a:r>
          </a:p>
        </p:txBody>
      </p:sp>
      <p:sp>
        <p:nvSpPr>
          <p:cNvPr id="4" name="Content Placeholder 2">
            <a:extLst>
              <a:ext uri="{FF2B5EF4-FFF2-40B4-BE49-F238E27FC236}">
                <a16:creationId xmlns:a16="http://schemas.microsoft.com/office/drawing/2014/main" id="{838FD4EB-174E-0B14-CF17-0A96AB2A88DA}"/>
              </a:ext>
            </a:extLst>
          </p:cNvPr>
          <p:cNvSpPr txBox="1">
            <a:spLocks/>
          </p:cNvSpPr>
          <p:nvPr/>
        </p:nvSpPr>
        <p:spPr>
          <a:xfrm>
            <a:off x="685800" y="1705017"/>
            <a:ext cx="5671429" cy="4631775"/>
          </a:xfrm>
          <a:prstGeom prst="rect">
            <a:avLst/>
          </a:prstGeom>
          <a:effectLst>
            <a:outerShdw blurRad="25400" dir="17880000">
              <a:srgbClr val="000000">
                <a:alpha val="46000"/>
              </a:srgbClr>
            </a:outerShdw>
          </a:effectLst>
        </p:spPr>
        <p:txBody>
          <a:bodyPr vert="horz" lIns="91440" tIns="45720" rIns="91440" bIns="45720" rtlCol="0" anchor="t">
            <a:normAutofit/>
          </a:bodyPr>
          <a:lstStyle>
            <a:lvl1pPr marL="342900" indent="-306000" algn="l" defTabSz="457200" rtl="0" eaLnBrk="1" latinLnBrk="0" hangingPunct="1">
              <a:spcBef>
                <a:spcPct val="20000"/>
              </a:spcBef>
              <a:spcAft>
                <a:spcPts val="600"/>
              </a:spcAft>
              <a:buClr>
                <a:schemeClr val="tx2"/>
              </a:buClr>
              <a:buSzPct val="70000"/>
              <a:buFont typeface="Wingdings 2" charset="2"/>
              <a:buChar char=""/>
              <a:defRPr sz="2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1pPr>
            <a:lvl2pPr marL="720000" indent="-270000" algn="l" defTabSz="457200" rtl="0" eaLnBrk="1" latinLnBrk="0" hangingPunct="1">
              <a:spcBef>
                <a:spcPct val="20000"/>
              </a:spcBef>
              <a:spcAft>
                <a:spcPts val="600"/>
              </a:spcAft>
              <a:buClr>
                <a:schemeClr val="tx2"/>
              </a:buClr>
              <a:buSzPct val="70000"/>
              <a:buFont typeface="Wingdings 2" charset="2"/>
              <a:buChar char=""/>
              <a:defRPr sz="18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2pPr>
            <a:lvl3pPr marL="1026000" indent="-216000" algn="l" defTabSz="457200" rtl="0" eaLnBrk="1" latinLnBrk="0" hangingPunct="1">
              <a:spcBef>
                <a:spcPct val="20000"/>
              </a:spcBef>
              <a:spcAft>
                <a:spcPts val="600"/>
              </a:spcAft>
              <a:buClr>
                <a:schemeClr val="tx2"/>
              </a:buClr>
              <a:buSzPct val="70000"/>
              <a:buFont typeface="Wingdings 2" charset="2"/>
              <a:buChar char=""/>
              <a:defRPr sz="16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3pPr>
            <a:lvl4pPr marL="1386000" indent="-2160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4pPr>
            <a:lvl5pPr marL="1674000" indent="-2160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5pPr>
            <a:lvl6pPr marL="20146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6pPr>
            <a:lvl7pPr marL="24018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7pPr>
            <a:lvl8pPr marL="27890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8pPr>
            <a:lvl9pPr marL="31062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9pPr>
          </a:lstStyle>
          <a:p>
            <a:r>
              <a:rPr lang="en-US" dirty="0"/>
              <a:t>Use short-lived access-tokens </a:t>
            </a:r>
          </a:p>
          <a:p>
            <a:r>
              <a:rPr lang="en-US" dirty="0"/>
              <a:t>Use refresh-tokens for long-lived sessions</a:t>
            </a:r>
          </a:p>
          <a:p>
            <a:r>
              <a:rPr lang="en-US" dirty="0"/>
              <a:t>Adopt tooling that allows you to revoke and/or rotate tokens (blacklists, token version, etc.)</a:t>
            </a:r>
          </a:p>
          <a:p>
            <a:r>
              <a:rPr lang="en-US" dirty="0"/>
              <a:t>Store secrets safely and effectively</a:t>
            </a:r>
          </a:p>
          <a:p>
            <a:pPr lvl="1"/>
            <a:r>
              <a:rPr lang="en-US" dirty="0"/>
              <a:t>Use ENV vars</a:t>
            </a:r>
          </a:p>
          <a:p>
            <a:pPr lvl="1"/>
            <a:r>
              <a:rPr lang="en-US" dirty="0"/>
              <a:t>Secret stores (e.g., Thycotic, AWS Secret Manager)</a:t>
            </a:r>
          </a:p>
          <a:p>
            <a:r>
              <a:rPr lang="en-US" dirty="0"/>
              <a:t>Key management</a:t>
            </a:r>
          </a:p>
          <a:p>
            <a:pPr lvl="1"/>
            <a:r>
              <a:rPr lang="en-US" dirty="0"/>
              <a:t>Rotate signing keys</a:t>
            </a:r>
          </a:p>
          <a:p>
            <a:pPr lvl="1"/>
            <a:r>
              <a:rPr lang="en-US" dirty="0"/>
              <a:t>Asymmetric signing (public/private keys)</a:t>
            </a:r>
          </a:p>
        </p:txBody>
      </p:sp>
    </p:spTree>
    <p:extLst>
      <p:ext uri="{BB962C8B-B14F-4D97-AF65-F5344CB8AC3E}">
        <p14:creationId xmlns:p14="http://schemas.microsoft.com/office/powerpoint/2010/main" val="372316603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776516-01D2-9BFB-DBA6-868A39E6AAD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2BC22B4-40B2-B15E-33A9-FF270C49F66E}"/>
              </a:ext>
            </a:extLst>
          </p:cNvPr>
          <p:cNvSpPr>
            <a:spLocks noGrp="1"/>
          </p:cNvSpPr>
          <p:nvPr>
            <p:ph type="title"/>
          </p:nvPr>
        </p:nvSpPr>
        <p:spPr/>
        <p:txBody>
          <a:bodyPr/>
          <a:lstStyle/>
          <a:p>
            <a:r>
              <a:rPr lang="en-US" dirty="0"/>
              <a:t>Sec-Basics | Input Validation</a:t>
            </a:r>
          </a:p>
        </p:txBody>
      </p:sp>
      <p:sp>
        <p:nvSpPr>
          <p:cNvPr id="4" name="Content Placeholder 2">
            <a:extLst>
              <a:ext uri="{FF2B5EF4-FFF2-40B4-BE49-F238E27FC236}">
                <a16:creationId xmlns:a16="http://schemas.microsoft.com/office/drawing/2014/main" id="{25F83910-2826-DBA8-CE51-0869B8421935}"/>
              </a:ext>
            </a:extLst>
          </p:cNvPr>
          <p:cNvSpPr txBox="1">
            <a:spLocks/>
          </p:cNvSpPr>
          <p:nvPr/>
        </p:nvSpPr>
        <p:spPr>
          <a:xfrm>
            <a:off x="685800" y="1705017"/>
            <a:ext cx="5671429" cy="4631775"/>
          </a:xfrm>
          <a:prstGeom prst="rect">
            <a:avLst/>
          </a:prstGeom>
          <a:effectLst>
            <a:outerShdw blurRad="25400" dir="17880000">
              <a:srgbClr val="000000">
                <a:alpha val="46000"/>
              </a:srgbClr>
            </a:outerShdw>
          </a:effectLst>
        </p:spPr>
        <p:txBody>
          <a:bodyPr vert="horz" lIns="91440" tIns="45720" rIns="91440" bIns="45720" rtlCol="0" anchor="t">
            <a:normAutofit lnSpcReduction="10000"/>
          </a:bodyPr>
          <a:lstStyle>
            <a:lvl1pPr marL="342900" indent="-306000" algn="l" defTabSz="457200" rtl="0" eaLnBrk="1" latinLnBrk="0" hangingPunct="1">
              <a:spcBef>
                <a:spcPct val="20000"/>
              </a:spcBef>
              <a:spcAft>
                <a:spcPts val="600"/>
              </a:spcAft>
              <a:buClr>
                <a:schemeClr val="tx2"/>
              </a:buClr>
              <a:buSzPct val="70000"/>
              <a:buFont typeface="Wingdings 2" charset="2"/>
              <a:buChar char=""/>
              <a:defRPr sz="2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1pPr>
            <a:lvl2pPr marL="720000" indent="-270000" algn="l" defTabSz="457200" rtl="0" eaLnBrk="1" latinLnBrk="0" hangingPunct="1">
              <a:spcBef>
                <a:spcPct val="20000"/>
              </a:spcBef>
              <a:spcAft>
                <a:spcPts val="600"/>
              </a:spcAft>
              <a:buClr>
                <a:schemeClr val="tx2"/>
              </a:buClr>
              <a:buSzPct val="70000"/>
              <a:buFont typeface="Wingdings 2" charset="2"/>
              <a:buChar char=""/>
              <a:defRPr sz="18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2pPr>
            <a:lvl3pPr marL="1026000" indent="-216000" algn="l" defTabSz="457200" rtl="0" eaLnBrk="1" latinLnBrk="0" hangingPunct="1">
              <a:spcBef>
                <a:spcPct val="20000"/>
              </a:spcBef>
              <a:spcAft>
                <a:spcPts val="600"/>
              </a:spcAft>
              <a:buClr>
                <a:schemeClr val="tx2"/>
              </a:buClr>
              <a:buSzPct val="70000"/>
              <a:buFont typeface="Wingdings 2" charset="2"/>
              <a:buChar char=""/>
              <a:defRPr sz="16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3pPr>
            <a:lvl4pPr marL="1386000" indent="-2160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4pPr>
            <a:lvl5pPr marL="1674000" indent="-2160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5pPr>
            <a:lvl6pPr marL="20146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6pPr>
            <a:lvl7pPr marL="24018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7pPr>
            <a:lvl8pPr marL="27890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8pPr>
            <a:lvl9pPr marL="31062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9pPr>
          </a:lstStyle>
          <a:p>
            <a:r>
              <a:rPr lang="en-US" dirty="0"/>
              <a:t>Validate everything for an incoming request</a:t>
            </a:r>
          </a:p>
          <a:p>
            <a:pPr lvl="1"/>
            <a:r>
              <a:rPr lang="en-US" dirty="0"/>
              <a:t>Or as much as you can</a:t>
            </a:r>
          </a:p>
          <a:p>
            <a:pPr lvl="2"/>
            <a:r>
              <a:rPr lang="en-US" dirty="0" err="1"/>
              <a:t>Url</a:t>
            </a:r>
            <a:r>
              <a:rPr lang="en-US" dirty="0"/>
              <a:t> Path</a:t>
            </a:r>
          </a:p>
          <a:p>
            <a:pPr lvl="2"/>
            <a:r>
              <a:rPr lang="en-US" dirty="0"/>
              <a:t>Query String</a:t>
            </a:r>
          </a:p>
          <a:p>
            <a:pPr lvl="2"/>
            <a:r>
              <a:rPr lang="en-US" dirty="0"/>
              <a:t>Headers</a:t>
            </a:r>
          </a:p>
          <a:p>
            <a:pPr lvl="2"/>
            <a:r>
              <a:rPr lang="en-US" dirty="0"/>
              <a:t>Body</a:t>
            </a:r>
          </a:p>
          <a:p>
            <a:r>
              <a:rPr lang="en-US" dirty="0"/>
              <a:t>Use typed-models to de-risk injection and serialization errors</a:t>
            </a:r>
          </a:p>
          <a:p>
            <a:r>
              <a:rPr lang="en-US" dirty="0"/>
              <a:t>Sanitize user input</a:t>
            </a:r>
          </a:p>
          <a:p>
            <a:r>
              <a:rPr lang="en-US" dirty="0"/>
              <a:t>Refer to OWASP Top 10: Input Validation</a:t>
            </a:r>
          </a:p>
          <a:p>
            <a:r>
              <a:rPr lang="en-US" dirty="0"/>
              <a:t>Log suspicious inputs</a:t>
            </a:r>
          </a:p>
          <a:p>
            <a:r>
              <a:rPr lang="en-US" dirty="0"/>
              <a:t>Rate-limit abusive patterns</a:t>
            </a:r>
          </a:p>
          <a:p>
            <a:pPr lvl="1"/>
            <a:endParaRPr lang="en-US" dirty="0"/>
          </a:p>
        </p:txBody>
      </p:sp>
    </p:spTree>
    <p:extLst>
      <p:ext uri="{BB962C8B-B14F-4D97-AF65-F5344CB8AC3E}">
        <p14:creationId xmlns:p14="http://schemas.microsoft.com/office/powerpoint/2010/main" val="154939674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B4F086-500B-FA9B-A1B6-19A97DCAD1E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3E735BD-9E27-1837-4C2F-42682D25B6CC}"/>
              </a:ext>
            </a:extLst>
          </p:cNvPr>
          <p:cNvSpPr>
            <a:spLocks noGrp="1"/>
          </p:cNvSpPr>
          <p:nvPr>
            <p:ph type="title"/>
          </p:nvPr>
        </p:nvSpPr>
        <p:spPr/>
        <p:txBody>
          <a:bodyPr/>
          <a:lstStyle/>
          <a:p>
            <a:r>
              <a:rPr lang="en-US" dirty="0"/>
              <a:t>Sec-Basics | Preventing Overuse</a:t>
            </a:r>
          </a:p>
        </p:txBody>
      </p:sp>
      <p:sp>
        <p:nvSpPr>
          <p:cNvPr id="4" name="Content Placeholder 2">
            <a:extLst>
              <a:ext uri="{FF2B5EF4-FFF2-40B4-BE49-F238E27FC236}">
                <a16:creationId xmlns:a16="http://schemas.microsoft.com/office/drawing/2014/main" id="{83BF2CD4-EFF0-5233-6A17-FA0EAA7987B3}"/>
              </a:ext>
            </a:extLst>
          </p:cNvPr>
          <p:cNvSpPr txBox="1">
            <a:spLocks/>
          </p:cNvSpPr>
          <p:nvPr/>
        </p:nvSpPr>
        <p:spPr>
          <a:xfrm>
            <a:off x="685801" y="1705017"/>
            <a:ext cx="4773168" cy="4631775"/>
          </a:xfrm>
          <a:prstGeom prst="rect">
            <a:avLst/>
          </a:prstGeom>
          <a:effectLst>
            <a:outerShdw blurRad="25400" dir="17880000">
              <a:srgbClr val="000000">
                <a:alpha val="46000"/>
              </a:srgbClr>
            </a:outerShdw>
          </a:effectLst>
        </p:spPr>
        <p:txBody>
          <a:bodyPr vert="horz" lIns="91440" tIns="45720" rIns="91440" bIns="45720" rtlCol="0" anchor="t">
            <a:normAutofit lnSpcReduction="10000"/>
          </a:bodyPr>
          <a:lstStyle>
            <a:lvl1pPr marL="342900" indent="-306000" algn="l" defTabSz="457200" rtl="0" eaLnBrk="1" latinLnBrk="0" hangingPunct="1">
              <a:spcBef>
                <a:spcPct val="20000"/>
              </a:spcBef>
              <a:spcAft>
                <a:spcPts val="600"/>
              </a:spcAft>
              <a:buClr>
                <a:schemeClr val="tx2"/>
              </a:buClr>
              <a:buSzPct val="70000"/>
              <a:buFont typeface="Wingdings 2" charset="2"/>
              <a:buChar char=""/>
              <a:defRPr sz="2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1pPr>
            <a:lvl2pPr marL="720000" indent="-270000" algn="l" defTabSz="457200" rtl="0" eaLnBrk="1" latinLnBrk="0" hangingPunct="1">
              <a:spcBef>
                <a:spcPct val="20000"/>
              </a:spcBef>
              <a:spcAft>
                <a:spcPts val="600"/>
              </a:spcAft>
              <a:buClr>
                <a:schemeClr val="tx2"/>
              </a:buClr>
              <a:buSzPct val="70000"/>
              <a:buFont typeface="Wingdings 2" charset="2"/>
              <a:buChar char=""/>
              <a:defRPr sz="18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2pPr>
            <a:lvl3pPr marL="1026000" indent="-216000" algn="l" defTabSz="457200" rtl="0" eaLnBrk="1" latinLnBrk="0" hangingPunct="1">
              <a:spcBef>
                <a:spcPct val="20000"/>
              </a:spcBef>
              <a:spcAft>
                <a:spcPts val="600"/>
              </a:spcAft>
              <a:buClr>
                <a:schemeClr val="tx2"/>
              </a:buClr>
              <a:buSzPct val="70000"/>
              <a:buFont typeface="Wingdings 2" charset="2"/>
              <a:buChar char=""/>
              <a:defRPr sz="16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3pPr>
            <a:lvl4pPr marL="1386000" indent="-2160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4pPr>
            <a:lvl5pPr marL="1674000" indent="-2160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5pPr>
            <a:lvl6pPr marL="20146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6pPr>
            <a:lvl7pPr marL="24018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7pPr>
            <a:lvl8pPr marL="27890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8pPr>
            <a:lvl9pPr marL="31062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9pPr>
          </a:lstStyle>
          <a:p>
            <a:r>
              <a:rPr lang="en-US" dirty="0"/>
              <a:t>Prevent abuse, protect backend resources (RAM, CPU, Storage), enforce SLAs</a:t>
            </a:r>
          </a:p>
          <a:p>
            <a:r>
              <a:rPr lang="en-US" dirty="0"/>
              <a:t>Strategies</a:t>
            </a:r>
          </a:p>
          <a:p>
            <a:pPr lvl="1"/>
            <a:r>
              <a:rPr lang="en-US" dirty="0"/>
              <a:t>Token Bucket</a:t>
            </a:r>
          </a:p>
          <a:p>
            <a:pPr lvl="1"/>
            <a:r>
              <a:rPr lang="en-US" dirty="0"/>
              <a:t>Leaky Bucket</a:t>
            </a:r>
          </a:p>
          <a:p>
            <a:pPr lvl="1"/>
            <a:r>
              <a:rPr lang="en-US" dirty="0"/>
              <a:t>Fixed Window</a:t>
            </a:r>
          </a:p>
          <a:p>
            <a:pPr lvl="1"/>
            <a:r>
              <a:rPr lang="en-US" dirty="0"/>
              <a:t>Sliding Window</a:t>
            </a:r>
          </a:p>
          <a:p>
            <a:pPr lvl="1"/>
            <a:r>
              <a:rPr lang="en-US" dirty="0"/>
              <a:t>Per-{x}, where “x” is</a:t>
            </a:r>
          </a:p>
          <a:p>
            <a:pPr lvl="2"/>
            <a:r>
              <a:rPr lang="en-US" dirty="0"/>
              <a:t>User</a:t>
            </a:r>
          </a:p>
          <a:p>
            <a:pPr lvl="2"/>
            <a:r>
              <a:rPr lang="en-US" dirty="0"/>
              <a:t>IP Address</a:t>
            </a:r>
          </a:p>
          <a:p>
            <a:pPr lvl="2"/>
            <a:r>
              <a:rPr lang="en-US" dirty="0"/>
              <a:t>API Key</a:t>
            </a:r>
          </a:p>
          <a:p>
            <a:pPr lvl="1"/>
            <a:endParaRPr lang="en-US" dirty="0"/>
          </a:p>
        </p:txBody>
      </p:sp>
      <p:sp>
        <p:nvSpPr>
          <p:cNvPr id="3" name="Content Placeholder 2">
            <a:extLst>
              <a:ext uri="{FF2B5EF4-FFF2-40B4-BE49-F238E27FC236}">
                <a16:creationId xmlns:a16="http://schemas.microsoft.com/office/drawing/2014/main" id="{A6E87908-8A79-36A2-B305-55BBC8639A1A}"/>
              </a:ext>
            </a:extLst>
          </p:cNvPr>
          <p:cNvSpPr txBox="1">
            <a:spLocks/>
          </p:cNvSpPr>
          <p:nvPr/>
        </p:nvSpPr>
        <p:spPr>
          <a:xfrm>
            <a:off x="5721097" y="1705017"/>
            <a:ext cx="4773168" cy="4631775"/>
          </a:xfrm>
          <a:prstGeom prst="rect">
            <a:avLst/>
          </a:prstGeom>
          <a:effectLst>
            <a:outerShdw blurRad="25400" dir="17880000">
              <a:srgbClr val="000000">
                <a:alpha val="46000"/>
              </a:srgbClr>
            </a:outerShdw>
          </a:effectLst>
        </p:spPr>
        <p:txBody>
          <a:bodyPr vert="horz" lIns="91440" tIns="45720" rIns="91440" bIns="45720" rtlCol="0" anchor="t">
            <a:normAutofit lnSpcReduction="10000"/>
          </a:bodyPr>
          <a:lstStyle>
            <a:lvl1pPr marL="342900" indent="-306000" algn="l" defTabSz="457200" rtl="0" eaLnBrk="1" latinLnBrk="0" hangingPunct="1">
              <a:spcBef>
                <a:spcPct val="20000"/>
              </a:spcBef>
              <a:spcAft>
                <a:spcPts val="600"/>
              </a:spcAft>
              <a:buClr>
                <a:schemeClr val="tx2"/>
              </a:buClr>
              <a:buSzPct val="70000"/>
              <a:buFont typeface="Wingdings 2" charset="2"/>
              <a:buChar char=""/>
              <a:defRPr sz="2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1pPr>
            <a:lvl2pPr marL="720000" indent="-270000" algn="l" defTabSz="457200" rtl="0" eaLnBrk="1" latinLnBrk="0" hangingPunct="1">
              <a:spcBef>
                <a:spcPct val="20000"/>
              </a:spcBef>
              <a:spcAft>
                <a:spcPts val="600"/>
              </a:spcAft>
              <a:buClr>
                <a:schemeClr val="tx2"/>
              </a:buClr>
              <a:buSzPct val="70000"/>
              <a:buFont typeface="Wingdings 2" charset="2"/>
              <a:buChar char=""/>
              <a:defRPr sz="18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2pPr>
            <a:lvl3pPr marL="1026000" indent="-216000" algn="l" defTabSz="457200" rtl="0" eaLnBrk="1" latinLnBrk="0" hangingPunct="1">
              <a:spcBef>
                <a:spcPct val="20000"/>
              </a:spcBef>
              <a:spcAft>
                <a:spcPts val="600"/>
              </a:spcAft>
              <a:buClr>
                <a:schemeClr val="tx2"/>
              </a:buClr>
              <a:buSzPct val="70000"/>
              <a:buFont typeface="Wingdings 2" charset="2"/>
              <a:buChar char=""/>
              <a:defRPr sz="16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3pPr>
            <a:lvl4pPr marL="1386000" indent="-2160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4pPr>
            <a:lvl5pPr marL="1674000" indent="-2160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5pPr>
            <a:lvl6pPr marL="20146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6pPr>
            <a:lvl7pPr marL="24018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7pPr>
            <a:lvl8pPr marL="27890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8pPr>
            <a:lvl9pPr marL="31062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9pPr>
          </a:lstStyle>
          <a:p>
            <a:r>
              <a:rPr lang="en-US" dirty="0"/>
              <a:t>Implementation</a:t>
            </a:r>
          </a:p>
          <a:p>
            <a:pPr lvl="1"/>
            <a:r>
              <a:rPr lang="en-US" dirty="0"/>
              <a:t>API Gateway (Kong, NGINX, Express Gateway, etc.)</a:t>
            </a:r>
          </a:p>
          <a:p>
            <a:pPr lvl="1"/>
            <a:r>
              <a:rPr lang="en-US" dirty="0"/>
              <a:t>Reverse Proxy</a:t>
            </a:r>
          </a:p>
          <a:p>
            <a:pPr lvl="1"/>
            <a:r>
              <a:rPr lang="en-US" dirty="0"/>
              <a:t>Cloud Gateway / API LB</a:t>
            </a:r>
          </a:p>
          <a:p>
            <a:pPr lvl="1"/>
            <a:r>
              <a:rPr lang="en-US" dirty="0"/>
              <a:t>Redis</a:t>
            </a:r>
          </a:p>
          <a:p>
            <a:pPr lvl="1"/>
            <a:endParaRPr lang="en-US" dirty="0"/>
          </a:p>
          <a:p>
            <a:r>
              <a:rPr lang="en-US" dirty="0"/>
              <a:t>When implementing, respond with appropriate HEADER in the response</a:t>
            </a:r>
          </a:p>
          <a:p>
            <a:pPr lvl="1"/>
            <a:r>
              <a:rPr lang="en-US" sz="1400" dirty="0">
                <a:solidFill>
                  <a:schemeClr val="accent1"/>
                </a:solidFill>
                <a:latin typeface="OCR A Extended" panose="02010509020102010303" pitchFamily="50" charset="0"/>
              </a:rPr>
              <a:t>x-</a:t>
            </a:r>
            <a:r>
              <a:rPr lang="en-US" sz="1400" dirty="0" err="1">
                <a:solidFill>
                  <a:schemeClr val="accent1"/>
                </a:solidFill>
                <a:latin typeface="OCR A Extended" panose="02010509020102010303" pitchFamily="50" charset="0"/>
              </a:rPr>
              <a:t>RateLimit</a:t>
            </a:r>
            <a:r>
              <a:rPr lang="en-US" sz="1400" dirty="0">
                <a:solidFill>
                  <a:schemeClr val="accent1"/>
                </a:solidFill>
                <a:latin typeface="OCR A Extended" panose="02010509020102010303" pitchFamily="50" charset="0"/>
              </a:rPr>
              <a:t>-Limit</a:t>
            </a:r>
          </a:p>
          <a:p>
            <a:pPr lvl="1"/>
            <a:r>
              <a:rPr lang="en-US" sz="1400" dirty="0">
                <a:solidFill>
                  <a:schemeClr val="accent1"/>
                </a:solidFill>
                <a:latin typeface="OCR A Extended" panose="02010509020102010303" pitchFamily="50" charset="0"/>
              </a:rPr>
              <a:t>x-</a:t>
            </a:r>
            <a:r>
              <a:rPr lang="en-US" sz="1400" dirty="0" err="1">
                <a:solidFill>
                  <a:schemeClr val="accent1"/>
                </a:solidFill>
                <a:latin typeface="OCR A Extended" panose="02010509020102010303" pitchFamily="50" charset="0"/>
              </a:rPr>
              <a:t>RateLimit</a:t>
            </a:r>
            <a:r>
              <a:rPr lang="en-US" sz="1400" dirty="0">
                <a:solidFill>
                  <a:schemeClr val="accent1"/>
                </a:solidFill>
                <a:latin typeface="OCR A Extended" panose="02010509020102010303" pitchFamily="50" charset="0"/>
              </a:rPr>
              <a:t>-Remaining</a:t>
            </a:r>
          </a:p>
          <a:p>
            <a:pPr lvl="1"/>
            <a:r>
              <a:rPr lang="en-US" dirty="0"/>
              <a:t>Use </a:t>
            </a:r>
            <a:r>
              <a:rPr lang="en-US" sz="1400" dirty="0">
                <a:solidFill>
                  <a:schemeClr val="accent1"/>
                </a:solidFill>
                <a:latin typeface="OCR A Extended" panose="02010509020102010303" pitchFamily="50" charset="0"/>
              </a:rPr>
              <a:t>HTTP 429 Too Many Requests </a:t>
            </a:r>
            <a:r>
              <a:rPr lang="en-US" dirty="0"/>
              <a:t>Status Code</a:t>
            </a:r>
          </a:p>
          <a:p>
            <a:pPr lvl="1"/>
            <a:endParaRPr lang="en-US" dirty="0"/>
          </a:p>
        </p:txBody>
      </p:sp>
    </p:spTree>
    <p:extLst>
      <p:ext uri="{BB962C8B-B14F-4D97-AF65-F5344CB8AC3E}">
        <p14:creationId xmlns:p14="http://schemas.microsoft.com/office/powerpoint/2010/main" val="20463650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7478C5-184F-4036-29C8-148C6DE9019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FED506D-7182-93B2-3DA7-6F8CBDF9607D}"/>
              </a:ext>
            </a:extLst>
          </p:cNvPr>
          <p:cNvSpPr>
            <a:spLocks noGrp="1"/>
          </p:cNvSpPr>
          <p:nvPr>
            <p:ph type="title"/>
          </p:nvPr>
        </p:nvSpPr>
        <p:spPr/>
        <p:txBody>
          <a:bodyPr/>
          <a:lstStyle/>
          <a:p>
            <a:r>
              <a:rPr lang="en-US" dirty="0"/>
              <a:t>Sec-Basics | Other Best-Practices</a:t>
            </a:r>
          </a:p>
        </p:txBody>
      </p:sp>
      <p:sp>
        <p:nvSpPr>
          <p:cNvPr id="4" name="Content Placeholder 2">
            <a:extLst>
              <a:ext uri="{FF2B5EF4-FFF2-40B4-BE49-F238E27FC236}">
                <a16:creationId xmlns:a16="http://schemas.microsoft.com/office/drawing/2014/main" id="{C8956A8C-763A-097F-AFC1-664FE3941856}"/>
              </a:ext>
            </a:extLst>
          </p:cNvPr>
          <p:cNvSpPr txBox="1">
            <a:spLocks/>
          </p:cNvSpPr>
          <p:nvPr/>
        </p:nvSpPr>
        <p:spPr>
          <a:xfrm>
            <a:off x="685801" y="1705017"/>
            <a:ext cx="4773168" cy="4631775"/>
          </a:xfrm>
          <a:prstGeom prst="rect">
            <a:avLst/>
          </a:prstGeom>
          <a:effectLst>
            <a:outerShdw blurRad="25400" dir="17880000">
              <a:srgbClr val="000000">
                <a:alpha val="46000"/>
              </a:srgbClr>
            </a:outerShdw>
          </a:effectLst>
        </p:spPr>
        <p:txBody>
          <a:bodyPr vert="horz" lIns="91440" tIns="45720" rIns="91440" bIns="45720" rtlCol="0" anchor="t">
            <a:normAutofit fontScale="85000" lnSpcReduction="20000"/>
          </a:bodyPr>
          <a:lstStyle>
            <a:lvl1pPr marL="342900" indent="-306000" algn="l" defTabSz="457200" rtl="0" eaLnBrk="1" latinLnBrk="0" hangingPunct="1">
              <a:spcBef>
                <a:spcPct val="20000"/>
              </a:spcBef>
              <a:spcAft>
                <a:spcPts val="600"/>
              </a:spcAft>
              <a:buClr>
                <a:schemeClr val="tx2"/>
              </a:buClr>
              <a:buSzPct val="70000"/>
              <a:buFont typeface="Wingdings 2" charset="2"/>
              <a:buChar char=""/>
              <a:defRPr sz="2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1pPr>
            <a:lvl2pPr marL="720000" indent="-270000" algn="l" defTabSz="457200" rtl="0" eaLnBrk="1" latinLnBrk="0" hangingPunct="1">
              <a:spcBef>
                <a:spcPct val="20000"/>
              </a:spcBef>
              <a:spcAft>
                <a:spcPts val="600"/>
              </a:spcAft>
              <a:buClr>
                <a:schemeClr val="tx2"/>
              </a:buClr>
              <a:buSzPct val="70000"/>
              <a:buFont typeface="Wingdings 2" charset="2"/>
              <a:buChar char=""/>
              <a:defRPr sz="18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2pPr>
            <a:lvl3pPr marL="1026000" indent="-216000" algn="l" defTabSz="457200" rtl="0" eaLnBrk="1" latinLnBrk="0" hangingPunct="1">
              <a:spcBef>
                <a:spcPct val="20000"/>
              </a:spcBef>
              <a:spcAft>
                <a:spcPts val="600"/>
              </a:spcAft>
              <a:buClr>
                <a:schemeClr val="tx2"/>
              </a:buClr>
              <a:buSzPct val="70000"/>
              <a:buFont typeface="Wingdings 2" charset="2"/>
              <a:buChar char=""/>
              <a:defRPr sz="16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3pPr>
            <a:lvl4pPr marL="1386000" indent="-2160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4pPr>
            <a:lvl5pPr marL="1674000" indent="-2160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5pPr>
            <a:lvl6pPr marL="20146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6pPr>
            <a:lvl7pPr marL="24018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7pPr>
            <a:lvl8pPr marL="27890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8pPr>
            <a:lvl9pPr marL="31062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9pPr>
          </a:lstStyle>
          <a:p>
            <a:r>
              <a:rPr lang="en-US" dirty="0"/>
              <a:t>Use secure headers</a:t>
            </a:r>
          </a:p>
          <a:p>
            <a:pPr lvl="1"/>
            <a:r>
              <a:rPr lang="en-US" dirty="0"/>
              <a:t>Content-Security-Policy</a:t>
            </a:r>
          </a:p>
          <a:p>
            <a:pPr lvl="1"/>
            <a:r>
              <a:rPr lang="en-US" dirty="0"/>
              <a:t>X-Frame-Options</a:t>
            </a:r>
          </a:p>
          <a:p>
            <a:pPr lvl="1"/>
            <a:r>
              <a:rPr lang="en-US" dirty="0"/>
              <a:t>X-Content-Type-Options</a:t>
            </a:r>
          </a:p>
          <a:p>
            <a:r>
              <a:rPr lang="en-US" dirty="0"/>
              <a:t>Cross-Origin Resource Sharing (CORS) – allow only required origins and methods</a:t>
            </a:r>
          </a:p>
          <a:p>
            <a:r>
              <a:rPr lang="en-US" dirty="0"/>
              <a:t>Cross-Site Request Forgery (CSRF) – relevant when using cookies</a:t>
            </a:r>
          </a:p>
          <a:p>
            <a:r>
              <a:rPr lang="en-US" dirty="0"/>
              <a:t>Audit logging</a:t>
            </a:r>
          </a:p>
          <a:p>
            <a:pPr lvl="1"/>
            <a:r>
              <a:rPr lang="en-US" dirty="0" err="1"/>
              <a:t>authN</a:t>
            </a:r>
            <a:r>
              <a:rPr lang="en-US" dirty="0"/>
              <a:t>/</a:t>
            </a:r>
            <a:r>
              <a:rPr lang="en-US" dirty="0" err="1"/>
              <a:t>authR</a:t>
            </a:r>
            <a:r>
              <a:rPr lang="en-US" dirty="0"/>
              <a:t> failures, token issues, suspicious IPs</a:t>
            </a:r>
          </a:p>
          <a:p>
            <a:r>
              <a:rPr lang="en-US" dirty="0"/>
              <a:t>Auto Sec Checks</a:t>
            </a:r>
          </a:p>
          <a:p>
            <a:pPr lvl="1"/>
            <a:r>
              <a:rPr lang="en-US" dirty="0"/>
              <a:t>Dependency scanning</a:t>
            </a:r>
          </a:p>
          <a:p>
            <a:pPr lvl="1"/>
            <a:r>
              <a:rPr lang="en-US" dirty="0"/>
              <a:t>Static analysis</a:t>
            </a:r>
          </a:p>
          <a:p>
            <a:pPr lvl="1"/>
            <a:r>
              <a:rPr lang="en-US" dirty="0"/>
              <a:t>Secrets scanning</a:t>
            </a:r>
          </a:p>
          <a:p>
            <a:pPr lvl="1"/>
            <a:endParaRPr lang="en-US" dirty="0"/>
          </a:p>
        </p:txBody>
      </p:sp>
    </p:spTree>
    <p:extLst>
      <p:ext uri="{BB962C8B-B14F-4D97-AF65-F5344CB8AC3E}">
        <p14:creationId xmlns:p14="http://schemas.microsoft.com/office/powerpoint/2010/main" val="163798447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2CABEC-6C24-F354-542D-D0F53C97D96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0D76A75-D2D3-4945-47AA-AEEB7606397F}"/>
              </a:ext>
            </a:extLst>
          </p:cNvPr>
          <p:cNvSpPr>
            <a:spLocks noGrp="1"/>
          </p:cNvSpPr>
          <p:nvPr>
            <p:ph type="title"/>
          </p:nvPr>
        </p:nvSpPr>
        <p:spPr/>
        <p:txBody>
          <a:bodyPr/>
          <a:lstStyle/>
          <a:p>
            <a:r>
              <a:rPr lang="en-US" dirty="0"/>
              <a:t>Sec-Basics | API Keys v. JWT Tokens</a:t>
            </a:r>
          </a:p>
        </p:txBody>
      </p:sp>
      <p:graphicFrame>
        <p:nvGraphicFramePr>
          <p:cNvPr id="5" name="Content Placeholder 4">
            <a:extLst>
              <a:ext uri="{FF2B5EF4-FFF2-40B4-BE49-F238E27FC236}">
                <a16:creationId xmlns:a16="http://schemas.microsoft.com/office/drawing/2014/main" id="{CB420129-115D-01F6-30E8-97736D31764F}"/>
              </a:ext>
            </a:extLst>
          </p:cNvPr>
          <p:cNvGraphicFramePr>
            <a:graphicFrameLocks noGrp="1"/>
          </p:cNvGraphicFramePr>
          <p:nvPr>
            <p:ph idx="1"/>
            <p:extLst>
              <p:ext uri="{D42A27DB-BD31-4B8C-83A1-F6EECF244321}">
                <p14:modId xmlns:p14="http://schemas.microsoft.com/office/powerpoint/2010/main" val="1226659727"/>
              </p:ext>
            </p:extLst>
          </p:nvPr>
        </p:nvGraphicFramePr>
        <p:xfrm>
          <a:off x="1143000" y="1737360"/>
          <a:ext cx="9695307" cy="4391796"/>
        </p:xfrm>
        <a:graphic>
          <a:graphicData uri="http://schemas.openxmlformats.org/drawingml/2006/table">
            <a:tbl>
              <a:tblPr firstRow="1" bandRow="1">
                <a:tableStyleId>{5C22544A-7EE6-4342-B048-85BDC9FD1C3A}</a:tableStyleId>
              </a:tblPr>
              <a:tblGrid>
                <a:gridCol w="2025625">
                  <a:extLst>
                    <a:ext uri="{9D8B030D-6E8A-4147-A177-3AD203B41FA5}">
                      <a16:colId xmlns:a16="http://schemas.microsoft.com/office/drawing/2014/main" val="847341680"/>
                    </a:ext>
                  </a:extLst>
                </a:gridCol>
                <a:gridCol w="3649473">
                  <a:extLst>
                    <a:ext uri="{9D8B030D-6E8A-4147-A177-3AD203B41FA5}">
                      <a16:colId xmlns:a16="http://schemas.microsoft.com/office/drawing/2014/main" val="835522588"/>
                    </a:ext>
                  </a:extLst>
                </a:gridCol>
                <a:gridCol w="4020209">
                  <a:extLst>
                    <a:ext uri="{9D8B030D-6E8A-4147-A177-3AD203B41FA5}">
                      <a16:colId xmlns:a16="http://schemas.microsoft.com/office/drawing/2014/main" val="3547250663"/>
                    </a:ext>
                  </a:extLst>
                </a:gridCol>
              </a:tblGrid>
              <a:tr h="351600">
                <a:tc>
                  <a:txBody>
                    <a:bodyPr/>
                    <a:lstStyle/>
                    <a:p>
                      <a:r>
                        <a:rPr lang="en-US" sz="1200" dirty="0">
                          <a:latin typeface="Abadi" panose="020B0604020104020204" pitchFamily="34" charset="0"/>
                        </a:rPr>
                        <a:t>Consideration</a:t>
                      </a:r>
                    </a:p>
                  </a:txBody>
                  <a:tcPr/>
                </a:tc>
                <a:tc>
                  <a:txBody>
                    <a:bodyPr/>
                    <a:lstStyle/>
                    <a:p>
                      <a:r>
                        <a:rPr lang="en-US" sz="1200" dirty="0">
                          <a:latin typeface="Abadi" panose="020B0604020104020204" pitchFamily="34" charset="0"/>
                        </a:rPr>
                        <a:t>API Keys</a:t>
                      </a:r>
                    </a:p>
                  </a:txBody>
                  <a:tcPr/>
                </a:tc>
                <a:tc>
                  <a:txBody>
                    <a:bodyPr/>
                    <a:lstStyle/>
                    <a:p>
                      <a:r>
                        <a:rPr lang="en-US" sz="1200" dirty="0">
                          <a:latin typeface="Abadi" panose="020B0604020104020204" pitchFamily="34" charset="0"/>
                        </a:rPr>
                        <a:t>JWT Tokens / OAuth2</a:t>
                      </a:r>
                    </a:p>
                  </a:txBody>
                  <a:tcPr/>
                </a:tc>
                <a:extLst>
                  <a:ext uri="{0D108BD9-81ED-4DB2-BD59-A6C34878D82A}">
                    <a16:rowId xmlns:a16="http://schemas.microsoft.com/office/drawing/2014/main" val="876858728"/>
                  </a:ext>
                </a:extLst>
              </a:tr>
              <a:tr h="1473830">
                <a:tc>
                  <a:txBody>
                    <a:bodyPr/>
                    <a:lstStyle/>
                    <a:p>
                      <a:r>
                        <a:rPr lang="en-US" sz="1200" dirty="0">
                          <a:solidFill>
                            <a:schemeClr val="bg1">
                              <a:lumMod val="75000"/>
                              <a:lumOff val="25000"/>
                            </a:schemeClr>
                          </a:solidFill>
                          <a:latin typeface="Abadi" panose="020B0604020104020204" pitchFamily="34" charset="0"/>
                        </a:rPr>
                        <a:t>Features</a:t>
                      </a:r>
                    </a:p>
                  </a:txBody>
                  <a:tcPr/>
                </a:tc>
                <a:tc>
                  <a:txBody>
                    <a:bodyPr/>
                    <a:lstStyle/>
                    <a:p>
                      <a:pPr marL="285750" indent="-285750">
                        <a:buFont typeface="Arial" panose="020B0604020202020204" pitchFamily="34" charset="0"/>
                        <a:buChar char="•"/>
                      </a:pPr>
                      <a:r>
                        <a:rPr lang="en-US" sz="1200" dirty="0">
                          <a:solidFill>
                            <a:schemeClr val="bg1">
                              <a:lumMod val="75000"/>
                              <a:lumOff val="25000"/>
                            </a:schemeClr>
                          </a:solidFill>
                          <a:latin typeface="Abadi" panose="020B0604020104020204" pitchFamily="34" charset="0"/>
                        </a:rPr>
                        <a:t>Simple, often stateless, good for service-to-service or first-party clients.</a:t>
                      </a:r>
                    </a:p>
                    <a:p>
                      <a:pPr marL="285750" indent="-285750">
                        <a:buFont typeface="Arial" panose="020B0604020202020204" pitchFamily="34" charset="0"/>
                        <a:buChar char="•"/>
                      </a:pPr>
                      <a:r>
                        <a:rPr lang="en-US" sz="1200" dirty="0">
                          <a:solidFill>
                            <a:schemeClr val="bg1">
                              <a:lumMod val="75000"/>
                              <a:lumOff val="25000"/>
                            </a:schemeClr>
                          </a:solidFill>
                          <a:latin typeface="Abadi" panose="020B0604020104020204" pitchFamily="34" charset="0"/>
                        </a:rPr>
                        <a:t>Typically, bearer key in header or query string (avoid query if possible).</a:t>
                      </a:r>
                    </a:p>
                  </a:txBody>
                  <a:tcPr/>
                </a:tc>
                <a:tc>
                  <a:txBody>
                    <a:bodyPr/>
                    <a:lstStyle/>
                    <a:p>
                      <a:pPr marL="285750" indent="-285750">
                        <a:buFont typeface="Arial" panose="020B0604020202020204" pitchFamily="34" charset="0"/>
                        <a:buChar char="•"/>
                      </a:pPr>
                      <a:r>
                        <a:rPr lang="en-US" sz="1200" dirty="0">
                          <a:solidFill>
                            <a:schemeClr val="bg1">
                              <a:lumMod val="75000"/>
                              <a:lumOff val="25000"/>
                            </a:schemeClr>
                          </a:solidFill>
                          <a:latin typeface="Abadi" panose="020B0604020104020204" pitchFamily="34" charset="0"/>
                        </a:rPr>
                        <a:t>Self-contained claims (sub, exp, </a:t>
                      </a:r>
                      <a:r>
                        <a:rPr lang="en-US" sz="1200" dirty="0" err="1">
                          <a:solidFill>
                            <a:schemeClr val="bg1">
                              <a:lumMod val="75000"/>
                              <a:lumOff val="25000"/>
                            </a:schemeClr>
                          </a:solidFill>
                          <a:latin typeface="Abadi" panose="020B0604020104020204" pitchFamily="34" charset="0"/>
                        </a:rPr>
                        <a:t>aud</a:t>
                      </a:r>
                      <a:r>
                        <a:rPr lang="en-US" sz="1200" dirty="0">
                          <a:solidFill>
                            <a:schemeClr val="bg1">
                              <a:lumMod val="75000"/>
                              <a:lumOff val="25000"/>
                            </a:schemeClr>
                          </a:solidFill>
                          <a:latin typeface="Abadi" panose="020B0604020104020204" pitchFamily="34" charset="0"/>
                        </a:rPr>
                        <a:t>, </a:t>
                      </a:r>
                      <a:r>
                        <a:rPr lang="en-US" sz="1200" dirty="0" err="1">
                          <a:solidFill>
                            <a:schemeClr val="bg1">
                              <a:lumMod val="75000"/>
                              <a:lumOff val="25000"/>
                            </a:schemeClr>
                          </a:solidFill>
                          <a:latin typeface="Abadi" panose="020B0604020104020204" pitchFamily="34" charset="0"/>
                        </a:rPr>
                        <a:t>iss</a:t>
                      </a:r>
                      <a:r>
                        <a:rPr lang="en-US" sz="1200" dirty="0">
                          <a:solidFill>
                            <a:schemeClr val="bg1">
                              <a:lumMod val="75000"/>
                              <a:lumOff val="25000"/>
                            </a:schemeClr>
                          </a:solidFill>
                          <a:latin typeface="Abadi" panose="020B0604020104020204" pitchFamily="34" charset="0"/>
                        </a:rPr>
                        <a:t>, scopes).</a:t>
                      </a:r>
                    </a:p>
                    <a:p>
                      <a:pPr marL="285750" indent="-285750">
                        <a:buFont typeface="Arial" panose="020B0604020202020204" pitchFamily="34" charset="0"/>
                        <a:buChar char="•"/>
                      </a:pPr>
                      <a:r>
                        <a:rPr lang="en-US" sz="1200" dirty="0">
                          <a:solidFill>
                            <a:schemeClr val="bg1">
                              <a:lumMod val="75000"/>
                              <a:lumOff val="25000"/>
                            </a:schemeClr>
                          </a:solidFill>
                          <a:latin typeface="Abadi" panose="020B0604020104020204" pitchFamily="34" charset="0"/>
                        </a:rPr>
                        <a:t>Short-lived access tokens and optionally refresh tokens.</a:t>
                      </a:r>
                    </a:p>
                    <a:p>
                      <a:pPr marL="285750" indent="-285750">
                        <a:buFont typeface="Arial" panose="020B0604020202020204" pitchFamily="34" charset="0"/>
                        <a:buChar char="•"/>
                      </a:pPr>
                      <a:r>
                        <a:rPr lang="en-US" sz="1200" dirty="0">
                          <a:solidFill>
                            <a:schemeClr val="bg1">
                              <a:lumMod val="75000"/>
                              <a:lumOff val="25000"/>
                            </a:schemeClr>
                          </a:solidFill>
                          <a:latin typeface="Abadi" panose="020B0604020104020204" pitchFamily="34" charset="0"/>
                        </a:rPr>
                        <a:t>Can be validated stateless with signature (HS256 or RS256).</a:t>
                      </a:r>
                    </a:p>
                  </a:txBody>
                  <a:tcPr/>
                </a:tc>
                <a:extLst>
                  <a:ext uri="{0D108BD9-81ED-4DB2-BD59-A6C34878D82A}">
                    <a16:rowId xmlns:a16="http://schemas.microsoft.com/office/drawing/2014/main" val="3907894608"/>
                  </a:ext>
                </a:extLst>
              </a:tr>
              <a:tr h="780263">
                <a:tc>
                  <a:txBody>
                    <a:bodyPr/>
                    <a:lstStyle/>
                    <a:p>
                      <a:r>
                        <a:rPr lang="en-US" sz="1200" dirty="0">
                          <a:solidFill>
                            <a:schemeClr val="bg1">
                              <a:lumMod val="75000"/>
                              <a:lumOff val="25000"/>
                            </a:schemeClr>
                          </a:solidFill>
                          <a:latin typeface="Abadi" panose="020B0604020104020204" pitchFamily="34" charset="0"/>
                        </a:rPr>
                        <a:t>Issues</a:t>
                      </a:r>
                    </a:p>
                  </a:txBody>
                  <a:tcPr/>
                </a:tc>
                <a:tc>
                  <a:txBody>
                    <a:bodyPr/>
                    <a:lstStyle/>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dirty="0">
                          <a:solidFill>
                            <a:schemeClr val="bg1">
                              <a:lumMod val="75000"/>
                              <a:lumOff val="25000"/>
                            </a:schemeClr>
                          </a:solidFill>
                          <a:latin typeface="Abadi" panose="020B0604020104020204" pitchFamily="34" charset="0"/>
                        </a:rPr>
                        <a:t>Hard to revoke individual sessions unless tracked server-side.</a:t>
                      </a:r>
                    </a:p>
                    <a:p>
                      <a:endParaRPr lang="en-US" sz="1200" dirty="0">
                        <a:solidFill>
                          <a:schemeClr val="bg1">
                            <a:lumMod val="75000"/>
                            <a:lumOff val="25000"/>
                          </a:schemeClr>
                        </a:solidFill>
                        <a:latin typeface="Abadi" panose="020B0604020104020204" pitchFamily="34" charset="0"/>
                      </a:endParaRPr>
                    </a:p>
                  </a:txBody>
                  <a:tcPr/>
                </a:tc>
                <a:tc>
                  <a:txBody>
                    <a:bodyPr/>
                    <a:lstStyle/>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dirty="0">
                          <a:solidFill>
                            <a:schemeClr val="bg1">
                              <a:lumMod val="75000"/>
                              <a:lumOff val="25000"/>
                            </a:schemeClr>
                          </a:solidFill>
                          <a:latin typeface="Abadi" panose="020B0604020104020204" pitchFamily="34" charset="0"/>
                        </a:rPr>
                        <a:t>Revocation harder with fully stateless tokens — need </a:t>
                      </a:r>
                      <a:r>
                        <a:rPr lang="en-US" sz="1200" dirty="0" err="1">
                          <a:solidFill>
                            <a:schemeClr val="bg1">
                              <a:lumMod val="75000"/>
                              <a:lumOff val="25000"/>
                            </a:schemeClr>
                          </a:solidFill>
                          <a:latin typeface="Abadi" panose="020B0604020104020204" pitchFamily="34" charset="0"/>
                        </a:rPr>
                        <a:t>jti</a:t>
                      </a:r>
                      <a:r>
                        <a:rPr lang="en-US" sz="1200" dirty="0">
                          <a:solidFill>
                            <a:schemeClr val="bg1">
                              <a:lumMod val="75000"/>
                              <a:lumOff val="25000"/>
                            </a:schemeClr>
                          </a:solidFill>
                          <a:latin typeface="Abadi" panose="020B0604020104020204" pitchFamily="34" charset="0"/>
                        </a:rPr>
                        <a:t> + blacklist or token versioning.</a:t>
                      </a:r>
                    </a:p>
                    <a:p>
                      <a:endParaRPr lang="en-US" sz="1200" dirty="0">
                        <a:solidFill>
                          <a:schemeClr val="bg1">
                            <a:lumMod val="75000"/>
                            <a:lumOff val="25000"/>
                          </a:schemeClr>
                        </a:solidFill>
                        <a:latin typeface="Abadi" panose="020B0604020104020204" pitchFamily="34" charset="0"/>
                      </a:endParaRPr>
                    </a:p>
                  </a:txBody>
                  <a:tcPr/>
                </a:tc>
                <a:extLst>
                  <a:ext uri="{0D108BD9-81ED-4DB2-BD59-A6C34878D82A}">
                    <a16:rowId xmlns:a16="http://schemas.microsoft.com/office/drawing/2014/main" val="3214265745"/>
                  </a:ext>
                </a:extLst>
              </a:tr>
              <a:tr h="780263">
                <a:tc>
                  <a:txBody>
                    <a:bodyPr/>
                    <a:lstStyle/>
                    <a:p>
                      <a:r>
                        <a:rPr lang="en-US" sz="1200" dirty="0">
                          <a:solidFill>
                            <a:schemeClr val="bg1">
                              <a:lumMod val="75000"/>
                              <a:lumOff val="25000"/>
                            </a:schemeClr>
                          </a:solidFill>
                          <a:latin typeface="Abadi" panose="020B0604020104020204" pitchFamily="34" charset="0"/>
                        </a:rPr>
                        <a:t>Best Use Case</a:t>
                      </a:r>
                    </a:p>
                  </a:txBody>
                  <a:tcPr/>
                </a:tc>
                <a:tc>
                  <a:txBody>
                    <a:bodyPr/>
                    <a:lstStyle/>
                    <a:p>
                      <a:pPr marL="285750" indent="-285750">
                        <a:buFont typeface="Arial" panose="020B0604020202020204" pitchFamily="34" charset="0"/>
                        <a:buChar char="•"/>
                      </a:pPr>
                      <a:r>
                        <a:rPr lang="en-US" sz="1200" dirty="0">
                          <a:solidFill>
                            <a:schemeClr val="bg1">
                              <a:lumMod val="75000"/>
                              <a:lumOff val="25000"/>
                            </a:schemeClr>
                          </a:solidFill>
                          <a:latin typeface="Abadi" panose="020B0604020104020204" pitchFamily="34" charset="0"/>
                        </a:rPr>
                        <a:t>Best for simple service credentials</a:t>
                      </a:r>
                    </a:p>
                    <a:p>
                      <a:pPr marL="285750" indent="-285750">
                        <a:buFont typeface="Arial" panose="020B0604020202020204" pitchFamily="34" charset="0"/>
                        <a:buChar char="•"/>
                      </a:pPr>
                      <a:r>
                        <a:rPr lang="en-US" sz="1200" dirty="0">
                          <a:solidFill>
                            <a:schemeClr val="bg1">
                              <a:lumMod val="75000"/>
                              <a:lumOff val="25000"/>
                            </a:schemeClr>
                          </a:solidFill>
                          <a:latin typeface="Abadi" panose="020B0604020104020204" pitchFamily="34" charset="0"/>
                        </a:rPr>
                        <a:t>internal (inside your WAN/LAN) microservices</a:t>
                      </a:r>
                    </a:p>
                  </a:txBody>
                  <a:tcPr/>
                </a:tc>
                <a:tc>
                  <a:txBody>
                    <a:bodyPr/>
                    <a:lstStyle/>
                    <a:p>
                      <a:pPr marL="285750" indent="-285750">
                        <a:buFont typeface="Arial" panose="020B0604020202020204" pitchFamily="34" charset="0"/>
                        <a:buChar char="•"/>
                      </a:pPr>
                      <a:r>
                        <a:rPr lang="en-US" sz="1200" dirty="0">
                          <a:solidFill>
                            <a:schemeClr val="bg1">
                              <a:lumMod val="75000"/>
                              <a:lumOff val="25000"/>
                            </a:schemeClr>
                          </a:solidFill>
                          <a:latin typeface="Abadi" panose="020B0604020104020204" pitchFamily="34" charset="0"/>
                        </a:rPr>
                        <a:t>user authentication</a:t>
                      </a:r>
                    </a:p>
                    <a:p>
                      <a:pPr marL="285750" indent="-285750">
                        <a:buFont typeface="Arial" panose="020B0604020202020204" pitchFamily="34" charset="0"/>
                        <a:buChar char="•"/>
                      </a:pPr>
                      <a:r>
                        <a:rPr lang="en-US" sz="1200" dirty="0">
                          <a:solidFill>
                            <a:schemeClr val="bg1">
                              <a:lumMod val="75000"/>
                              <a:lumOff val="25000"/>
                            </a:schemeClr>
                          </a:solidFill>
                          <a:latin typeface="Abadi" panose="020B0604020104020204" pitchFamily="34" charset="0"/>
                        </a:rPr>
                        <a:t>delegated auth</a:t>
                      </a:r>
                    </a:p>
                    <a:p>
                      <a:pPr marL="285750" indent="-285750">
                        <a:buFont typeface="Arial" panose="020B0604020202020204" pitchFamily="34" charset="0"/>
                        <a:buChar char="•"/>
                      </a:pPr>
                      <a:r>
                        <a:rPr lang="en-US" sz="1200" dirty="0">
                          <a:solidFill>
                            <a:schemeClr val="bg1">
                              <a:lumMod val="75000"/>
                              <a:lumOff val="25000"/>
                            </a:schemeClr>
                          </a:solidFill>
                          <a:latin typeface="Abadi" panose="020B0604020104020204" pitchFamily="34" charset="0"/>
                        </a:rPr>
                        <a:t>public clients, mobile/web</a:t>
                      </a:r>
                    </a:p>
                  </a:txBody>
                  <a:tcPr/>
                </a:tc>
                <a:extLst>
                  <a:ext uri="{0D108BD9-81ED-4DB2-BD59-A6C34878D82A}">
                    <a16:rowId xmlns:a16="http://schemas.microsoft.com/office/drawing/2014/main" val="972978848"/>
                  </a:ext>
                </a:extLst>
              </a:tr>
              <a:tr h="797399">
                <a:tc>
                  <a:txBody>
                    <a:bodyPr/>
                    <a:lstStyle/>
                    <a:p>
                      <a:r>
                        <a:rPr lang="en-US" sz="1200" dirty="0">
                          <a:solidFill>
                            <a:schemeClr val="bg1">
                              <a:lumMod val="75000"/>
                              <a:lumOff val="25000"/>
                            </a:schemeClr>
                          </a:solidFill>
                          <a:latin typeface="Abadi" panose="020B0604020104020204" pitchFamily="34" charset="0"/>
                        </a:rPr>
                        <a:t>Security Nuances</a:t>
                      </a:r>
                    </a:p>
                  </a:txBody>
                  <a:tcPr/>
                </a:tc>
                <a:tc>
                  <a:txBody>
                    <a:bodyPr/>
                    <a:lstStyle/>
                    <a:p>
                      <a:endParaRPr lang="en-US" sz="1200" dirty="0">
                        <a:solidFill>
                          <a:schemeClr val="bg1">
                            <a:lumMod val="75000"/>
                            <a:lumOff val="25000"/>
                          </a:schemeClr>
                        </a:solidFill>
                        <a:latin typeface="Abadi" panose="020B0604020104020204" pitchFamily="34" charset="0"/>
                      </a:endParaRPr>
                    </a:p>
                  </a:txBody>
                  <a:tcPr/>
                </a:tc>
                <a:tc>
                  <a:txBody>
                    <a:bodyPr/>
                    <a:lstStyle/>
                    <a:p>
                      <a:pPr marL="285750" indent="-285750">
                        <a:buFont typeface="Arial" panose="020B0604020202020204" pitchFamily="34" charset="0"/>
                        <a:buChar char="•"/>
                      </a:pPr>
                      <a:r>
                        <a:rPr lang="en-US" sz="1200" dirty="0">
                          <a:solidFill>
                            <a:schemeClr val="bg1">
                              <a:lumMod val="75000"/>
                              <a:lumOff val="25000"/>
                            </a:schemeClr>
                          </a:solidFill>
                          <a:latin typeface="Abadi" panose="020B0604020104020204" pitchFamily="34" charset="0"/>
                        </a:rPr>
                        <a:t>Store access tokens in memory or secure </a:t>
                      </a:r>
                      <a:r>
                        <a:rPr lang="en-US" sz="1200" dirty="0" err="1">
                          <a:solidFill>
                            <a:schemeClr val="bg1">
                              <a:lumMod val="75000"/>
                              <a:lumOff val="25000"/>
                            </a:schemeClr>
                          </a:solidFill>
                          <a:latin typeface="OCR A Extended" panose="02010509020102010303" pitchFamily="50" charset="0"/>
                        </a:rPr>
                        <a:t>httpOnly</a:t>
                      </a:r>
                      <a:r>
                        <a:rPr lang="en-US" sz="1200" dirty="0">
                          <a:solidFill>
                            <a:schemeClr val="bg1">
                              <a:lumMod val="75000"/>
                              <a:lumOff val="25000"/>
                            </a:schemeClr>
                          </a:solidFill>
                          <a:latin typeface="Abadi" panose="020B0604020104020204" pitchFamily="34" charset="0"/>
                        </a:rPr>
                        <a:t> cookies, avoid </a:t>
                      </a:r>
                      <a:r>
                        <a:rPr lang="en-US" sz="1200" dirty="0" err="1">
                          <a:solidFill>
                            <a:schemeClr val="bg1">
                              <a:lumMod val="75000"/>
                              <a:lumOff val="25000"/>
                            </a:schemeClr>
                          </a:solidFill>
                          <a:latin typeface="OCR A Extended" panose="02010509020102010303" pitchFamily="50" charset="0"/>
                        </a:rPr>
                        <a:t>localStorage</a:t>
                      </a:r>
                      <a:r>
                        <a:rPr lang="en-US" sz="1200" dirty="0">
                          <a:solidFill>
                            <a:schemeClr val="bg1">
                              <a:lumMod val="75000"/>
                              <a:lumOff val="25000"/>
                            </a:schemeClr>
                          </a:solidFill>
                          <a:latin typeface="Abadi" panose="020B0604020104020204" pitchFamily="34" charset="0"/>
                        </a:rPr>
                        <a:t> for web apps.</a:t>
                      </a:r>
                    </a:p>
                    <a:p>
                      <a:pPr marL="285750" indent="-285750">
                        <a:buFont typeface="Arial" panose="020B0604020202020204" pitchFamily="34" charset="0"/>
                        <a:buChar char="•"/>
                      </a:pPr>
                      <a:r>
                        <a:rPr lang="en-US" sz="1200" dirty="0">
                          <a:solidFill>
                            <a:schemeClr val="bg1">
                              <a:lumMod val="75000"/>
                              <a:lumOff val="25000"/>
                            </a:schemeClr>
                          </a:solidFill>
                          <a:latin typeface="Abadi" panose="020B0604020104020204" pitchFamily="34" charset="0"/>
                        </a:rPr>
                        <a:t>Choose asymmetric signing (RS256) if multiple services verify tokens without sharing secret.</a:t>
                      </a:r>
                    </a:p>
                    <a:p>
                      <a:pPr marL="285750" indent="-285750">
                        <a:buFont typeface="Arial" panose="020B0604020202020204" pitchFamily="34" charset="0"/>
                        <a:buChar char="•"/>
                      </a:pPr>
                      <a:r>
                        <a:rPr lang="en-US" sz="1200" dirty="0">
                          <a:solidFill>
                            <a:schemeClr val="bg1">
                              <a:lumMod val="75000"/>
                              <a:lumOff val="25000"/>
                            </a:schemeClr>
                          </a:solidFill>
                          <a:latin typeface="Abadi" panose="020B0604020104020204" pitchFamily="34" charset="0"/>
                        </a:rPr>
                        <a:t>Always verify </a:t>
                      </a:r>
                      <a:r>
                        <a:rPr lang="en-US" sz="1200" dirty="0">
                          <a:solidFill>
                            <a:schemeClr val="bg1">
                              <a:lumMod val="75000"/>
                              <a:lumOff val="25000"/>
                            </a:schemeClr>
                          </a:solidFill>
                          <a:latin typeface="OCR A Extended" panose="02010509020102010303" pitchFamily="50" charset="0"/>
                        </a:rPr>
                        <a:t>exp</a:t>
                      </a:r>
                      <a:r>
                        <a:rPr lang="en-US" sz="1200" dirty="0">
                          <a:solidFill>
                            <a:schemeClr val="bg1">
                              <a:lumMod val="75000"/>
                              <a:lumOff val="25000"/>
                            </a:schemeClr>
                          </a:solidFill>
                          <a:latin typeface="Abadi" panose="020B0604020104020204" pitchFamily="34" charset="0"/>
                        </a:rPr>
                        <a:t>, </a:t>
                      </a:r>
                      <a:r>
                        <a:rPr lang="en-US" sz="1200" dirty="0" err="1">
                          <a:solidFill>
                            <a:schemeClr val="bg1">
                              <a:lumMod val="75000"/>
                              <a:lumOff val="25000"/>
                            </a:schemeClr>
                          </a:solidFill>
                          <a:latin typeface="OCR A Extended" panose="02010509020102010303" pitchFamily="50" charset="0"/>
                        </a:rPr>
                        <a:t>nbf</a:t>
                      </a:r>
                      <a:r>
                        <a:rPr lang="en-US" sz="1200" dirty="0">
                          <a:solidFill>
                            <a:schemeClr val="bg1">
                              <a:lumMod val="75000"/>
                              <a:lumOff val="25000"/>
                            </a:schemeClr>
                          </a:solidFill>
                          <a:latin typeface="Abadi" panose="020B0604020104020204" pitchFamily="34" charset="0"/>
                        </a:rPr>
                        <a:t>, </a:t>
                      </a:r>
                      <a:r>
                        <a:rPr lang="en-US" sz="1200" kern="1200" dirty="0" err="1">
                          <a:solidFill>
                            <a:schemeClr val="bg1">
                              <a:lumMod val="75000"/>
                              <a:lumOff val="25000"/>
                            </a:schemeClr>
                          </a:solidFill>
                          <a:latin typeface="OCR A Extended" panose="02010509020102010303" pitchFamily="50" charset="0"/>
                          <a:ea typeface="+mn-ea"/>
                          <a:cs typeface="+mn-cs"/>
                        </a:rPr>
                        <a:t>aud</a:t>
                      </a:r>
                      <a:r>
                        <a:rPr lang="en-US" sz="1200" dirty="0">
                          <a:solidFill>
                            <a:schemeClr val="bg1">
                              <a:lumMod val="75000"/>
                              <a:lumOff val="25000"/>
                            </a:schemeClr>
                          </a:solidFill>
                          <a:latin typeface="Abadi" panose="020B0604020104020204" pitchFamily="34" charset="0"/>
                        </a:rPr>
                        <a:t>, </a:t>
                      </a:r>
                      <a:r>
                        <a:rPr lang="en-US" sz="1200" kern="1200" dirty="0" err="1">
                          <a:solidFill>
                            <a:schemeClr val="bg1">
                              <a:lumMod val="75000"/>
                              <a:lumOff val="25000"/>
                            </a:schemeClr>
                          </a:solidFill>
                          <a:latin typeface="OCR A Extended" panose="02010509020102010303" pitchFamily="50" charset="0"/>
                          <a:ea typeface="+mn-ea"/>
                          <a:cs typeface="+mn-cs"/>
                        </a:rPr>
                        <a:t>iss</a:t>
                      </a:r>
                      <a:r>
                        <a:rPr lang="en-US" sz="1200" dirty="0">
                          <a:solidFill>
                            <a:schemeClr val="bg1">
                              <a:lumMod val="75000"/>
                              <a:lumOff val="25000"/>
                            </a:schemeClr>
                          </a:solidFill>
                          <a:latin typeface="Abadi" panose="020B0604020104020204" pitchFamily="34" charset="0"/>
                        </a:rPr>
                        <a:t>, and </a:t>
                      </a:r>
                      <a:r>
                        <a:rPr lang="en-US" sz="1200" kern="1200" dirty="0">
                          <a:solidFill>
                            <a:schemeClr val="bg1">
                              <a:lumMod val="75000"/>
                              <a:lumOff val="25000"/>
                            </a:schemeClr>
                          </a:solidFill>
                          <a:latin typeface="OCR A Extended" panose="02010509020102010303" pitchFamily="50" charset="0"/>
                          <a:ea typeface="+mn-ea"/>
                          <a:cs typeface="+mn-cs"/>
                        </a:rPr>
                        <a:t>signature</a:t>
                      </a:r>
                      <a:r>
                        <a:rPr lang="en-US" sz="1200" dirty="0">
                          <a:solidFill>
                            <a:schemeClr val="bg1">
                              <a:lumMod val="75000"/>
                              <a:lumOff val="25000"/>
                            </a:schemeClr>
                          </a:solidFill>
                          <a:latin typeface="Abadi" panose="020B0604020104020204" pitchFamily="34" charset="0"/>
                        </a:rPr>
                        <a:t>.</a:t>
                      </a:r>
                    </a:p>
                  </a:txBody>
                  <a:tcPr/>
                </a:tc>
                <a:extLst>
                  <a:ext uri="{0D108BD9-81ED-4DB2-BD59-A6C34878D82A}">
                    <a16:rowId xmlns:a16="http://schemas.microsoft.com/office/drawing/2014/main" val="2902449301"/>
                  </a:ext>
                </a:extLst>
              </a:tr>
            </a:tbl>
          </a:graphicData>
        </a:graphic>
      </p:graphicFrame>
    </p:spTree>
    <p:extLst>
      <p:ext uri="{BB962C8B-B14F-4D97-AF65-F5344CB8AC3E}">
        <p14:creationId xmlns:p14="http://schemas.microsoft.com/office/powerpoint/2010/main" val="9182122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79F2B0-F3F5-6DD5-E8C9-02EF2D0E1E1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2CF3A55-C0A6-BDAF-97AE-32AB9A1C15CF}"/>
              </a:ext>
            </a:extLst>
          </p:cNvPr>
          <p:cNvSpPr>
            <a:spLocks noGrp="1"/>
          </p:cNvSpPr>
          <p:nvPr>
            <p:ph type="title"/>
          </p:nvPr>
        </p:nvSpPr>
        <p:spPr>
          <a:xfrm>
            <a:off x="919119" y="79248"/>
            <a:ext cx="10353762" cy="970450"/>
          </a:xfrm>
        </p:spPr>
        <p:txBody>
          <a:bodyPr/>
          <a:lstStyle/>
          <a:p>
            <a:r>
              <a:rPr lang="en-US" dirty="0"/>
              <a:t>Sec-Basics | OAuth 2.0 m2m Flow</a:t>
            </a:r>
          </a:p>
        </p:txBody>
      </p:sp>
      <p:pic>
        <p:nvPicPr>
          <p:cNvPr id="7" name="Picture 6">
            <a:extLst>
              <a:ext uri="{FF2B5EF4-FFF2-40B4-BE49-F238E27FC236}">
                <a16:creationId xmlns:a16="http://schemas.microsoft.com/office/drawing/2014/main" id="{BC59C7B8-1962-CA16-0AC4-211B8EA9811F}"/>
              </a:ext>
            </a:extLst>
          </p:cNvPr>
          <p:cNvPicPr>
            <a:picLocks noChangeAspect="1"/>
          </p:cNvPicPr>
          <p:nvPr/>
        </p:nvPicPr>
        <p:blipFill>
          <a:blip r:embed="rId2"/>
          <a:stretch>
            <a:fillRect/>
          </a:stretch>
        </p:blipFill>
        <p:spPr>
          <a:xfrm>
            <a:off x="2826216" y="1049698"/>
            <a:ext cx="6539567" cy="5610216"/>
          </a:xfrm>
          <a:prstGeom prst="rect">
            <a:avLst/>
          </a:prstGeom>
        </p:spPr>
      </p:pic>
    </p:spTree>
    <p:extLst>
      <p:ext uri="{BB962C8B-B14F-4D97-AF65-F5344CB8AC3E}">
        <p14:creationId xmlns:p14="http://schemas.microsoft.com/office/powerpoint/2010/main" val="237149452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070504-8948-A80E-EE30-0B494882D6A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FBC2330-B0A3-B9DE-B823-06447E828ED4}"/>
              </a:ext>
            </a:extLst>
          </p:cNvPr>
          <p:cNvSpPr>
            <a:spLocks noGrp="1"/>
          </p:cNvSpPr>
          <p:nvPr>
            <p:ph type="title"/>
          </p:nvPr>
        </p:nvSpPr>
        <p:spPr>
          <a:xfrm>
            <a:off x="919119" y="79248"/>
            <a:ext cx="10353762" cy="970450"/>
          </a:xfrm>
        </p:spPr>
        <p:txBody>
          <a:bodyPr/>
          <a:lstStyle/>
          <a:p>
            <a:r>
              <a:rPr lang="en-US" dirty="0"/>
              <a:t>Sec-Basics | OAuth 2.0 Prequel</a:t>
            </a:r>
          </a:p>
        </p:txBody>
      </p:sp>
      <p:pic>
        <p:nvPicPr>
          <p:cNvPr id="4" name="Picture 3">
            <a:extLst>
              <a:ext uri="{FF2B5EF4-FFF2-40B4-BE49-F238E27FC236}">
                <a16:creationId xmlns:a16="http://schemas.microsoft.com/office/drawing/2014/main" id="{031A843A-3EB2-EF69-03AE-6AD964723DC7}"/>
              </a:ext>
            </a:extLst>
          </p:cNvPr>
          <p:cNvPicPr>
            <a:picLocks noChangeAspect="1"/>
          </p:cNvPicPr>
          <p:nvPr/>
        </p:nvPicPr>
        <p:blipFill>
          <a:blip r:embed="rId2"/>
          <a:stretch>
            <a:fillRect/>
          </a:stretch>
        </p:blipFill>
        <p:spPr>
          <a:xfrm>
            <a:off x="1780573" y="1357023"/>
            <a:ext cx="8630854" cy="4143953"/>
          </a:xfrm>
          <a:prstGeom prst="rect">
            <a:avLst/>
          </a:prstGeom>
        </p:spPr>
      </p:pic>
      <p:sp>
        <p:nvSpPr>
          <p:cNvPr id="5" name="Title 1">
            <a:extLst>
              <a:ext uri="{FF2B5EF4-FFF2-40B4-BE49-F238E27FC236}">
                <a16:creationId xmlns:a16="http://schemas.microsoft.com/office/drawing/2014/main" id="{94F197FC-90E1-85D9-137C-E88A4C7813DA}"/>
              </a:ext>
            </a:extLst>
          </p:cNvPr>
          <p:cNvSpPr txBox="1">
            <a:spLocks/>
          </p:cNvSpPr>
          <p:nvPr/>
        </p:nvSpPr>
        <p:spPr>
          <a:xfrm>
            <a:off x="919119" y="5208368"/>
            <a:ext cx="3084576" cy="970450"/>
          </a:xfrm>
          <a:prstGeom prst="rect">
            <a:avLst/>
          </a:prstGeom>
          <a:effectLst>
            <a:outerShdw blurRad="25400" dir="17880000">
              <a:srgbClr val="000000">
                <a:alpha val="46000"/>
              </a:srgbClr>
            </a:outerShdw>
          </a:effectLst>
        </p:spPr>
        <p:txBody>
          <a:bodyPr vert="horz" lIns="91440" tIns="45720" rIns="91440" bIns="45720" rtlCol="0" anchor="ctr">
            <a:normAutofit/>
          </a:bodyPr>
          <a:lstStyle>
            <a:lvl1pPr algn="ctr" defTabSz="457200" rtl="0" eaLnBrk="1" latinLnBrk="0" hangingPunct="1">
              <a:spcBef>
                <a:spcPct val="0"/>
              </a:spcBef>
              <a:buNone/>
              <a:defRPr sz="4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j-lt"/>
                <a:ea typeface="+mj-ea"/>
                <a:cs typeface="Trebuchet M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2000" dirty="0"/>
              <a:t>Do this first!</a:t>
            </a:r>
          </a:p>
        </p:txBody>
      </p:sp>
    </p:spTree>
    <p:extLst>
      <p:ext uri="{BB962C8B-B14F-4D97-AF65-F5344CB8AC3E}">
        <p14:creationId xmlns:p14="http://schemas.microsoft.com/office/powerpoint/2010/main" val="292688034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D83EAF-3BC4-966B-B516-505875CA357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C262D53-CC79-4630-B0CE-16195A36670F}"/>
              </a:ext>
            </a:extLst>
          </p:cNvPr>
          <p:cNvSpPr>
            <a:spLocks noGrp="1"/>
          </p:cNvSpPr>
          <p:nvPr>
            <p:ph type="title"/>
          </p:nvPr>
        </p:nvSpPr>
        <p:spPr/>
        <p:txBody>
          <a:bodyPr/>
          <a:lstStyle/>
          <a:p>
            <a:r>
              <a:rPr lang="en-US" dirty="0" err="1"/>
              <a:t>FastAPI</a:t>
            </a:r>
            <a:r>
              <a:rPr lang="en-US" dirty="0"/>
              <a:t> Security</a:t>
            </a:r>
          </a:p>
        </p:txBody>
      </p:sp>
      <p:sp>
        <p:nvSpPr>
          <p:cNvPr id="3" name="Content Placeholder 2">
            <a:extLst>
              <a:ext uri="{FF2B5EF4-FFF2-40B4-BE49-F238E27FC236}">
                <a16:creationId xmlns:a16="http://schemas.microsoft.com/office/drawing/2014/main" id="{B4AA91AA-F9E7-9A75-37FA-41525F2D3CE9}"/>
              </a:ext>
            </a:extLst>
          </p:cNvPr>
          <p:cNvSpPr>
            <a:spLocks noGrp="1"/>
          </p:cNvSpPr>
          <p:nvPr>
            <p:ph idx="1"/>
          </p:nvPr>
        </p:nvSpPr>
        <p:spPr/>
        <p:txBody>
          <a:bodyPr/>
          <a:lstStyle/>
          <a:p>
            <a:pPr marL="36900" indent="0">
              <a:buNone/>
            </a:pPr>
            <a:r>
              <a:rPr lang="en-US" dirty="0"/>
              <a:t>Let’s discuss:</a:t>
            </a:r>
          </a:p>
          <a:p>
            <a:pPr marL="36900" indent="0">
              <a:buNone/>
            </a:pPr>
            <a:endParaRPr lang="en-US" dirty="0"/>
          </a:p>
          <a:p>
            <a:r>
              <a:rPr lang="en-US" dirty="0"/>
              <a:t>While looking at code</a:t>
            </a:r>
          </a:p>
          <a:p>
            <a:pPr lvl="1"/>
            <a:r>
              <a:rPr lang="en-US" dirty="0"/>
              <a:t>Leverage built-in security features</a:t>
            </a:r>
          </a:p>
          <a:p>
            <a:pPr lvl="1"/>
            <a:r>
              <a:rPr lang="en-US" dirty="0"/>
              <a:t>Use dependency injection for security</a:t>
            </a:r>
          </a:p>
          <a:p>
            <a:pPr lvl="1"/>
            <a:r>
              <a:rPr lang="en-US" dirty="0"/>
              <a:t>Spot shortcomings of the original design</a:t>
            </a:r>
          </a:p>
          <a:p>
            <a:pPr lvl="1"/>
            <a:r>
              <a:rPr lang="en-US" dirty="0"/>
              <a:t>Address how to correct structural data issues</a:t>
            </a:r>
          </a:p>
          <a:p>
            <a:pPr lvl="1"/>
            <a:r>
              <a:rPr lang="en-US" dirty="0"/>
              <a:t>Implement (and test) machine-2-machine OAuth 2.0 flow</a:t>
            </a:r>
          </a:p>
        </p:txBody>
      </p:sp>
    </p:spTree>
    <p:extLst>
      <p:ext uri="{BB962C8B-B14F-4D97-AF65-F5344CB8AC3E}">
        <p14:creationId xmlns:p14="http://schemas.microsoft.com/office/powerpoint/2010/main" val="211092226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A96AE6-BEDA-FB3E-419A-0A0E94A4D57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ECA795E-7373-CA8C-0BDB-293D11A79B0C}"/>
              </a:ext>
            </a:extLst>
          </p:cNvPr>
          <p:cNvSpPr>
            <a:spLocks noGrp="1"/>
          </p:cNvSpPr>
          <p:nvPr>
            <p:ph type="title"/>
          </p:nvPr>
        </p:nvSpPr>
        <p:spPr>
          <a:xfrm>
            <a:off x="913795" y="609600"/>
            <a:ext cx="5978072" cy="970450"/>
          </a:xfrm>
        </p:spPr>
        <p:txBody>
          <a:bodyPr>
            <a:normAutofit/>
          </a:bodyPr>
          <a:lstStyle/>
          <a:p>
            <a:pPr>
              <a:lnSpc>
                <a:spcPct val="90000"/>
              </a:lnSpc>
            </a:pPr>
            <a:r>
              <a:rPr lang="en-US" sz="3400" dirty="0"/>
              <a:t>Inspect the Code | Iteration 1</a:t>
            </a:r>
          </a:p>
        </p:txBody>
      </p:sp>
      <p:sp>
        <p:nvSpPr>
          <p:cNvPr id="13" name="Content Placeholder 12">
            <a:extLst>
              <a:ext uri="{FF2B5EF4-FFF2-40B4-BE49-F238E27FC236}">
                <a16:creationId xmlns:a16="http://schemas.microsoft.com/office/drawing/2014/main" id="{DBC147F1-A2F1-C1F5-467A-DF5CC6C64FD8}"/>
              </a:ext>
            </a:extLst>
          </p:cNvPr>
          <p:cNvSpPr>
            <a:spLocks noGrp="1"/>
          </p:cNvSpPr>
          <p:nvPr>
            <p:ph idx="1"/>
          </p:nvPr>
        </p:nvSpPr>
        <p:spPr>
          <a:xfrm>
            <a:off x="913795" y="1828801"/>
            <a:ext cx="5978072" cy="3866048"/>
          </a:xfrm>
        </p:spPr>
        <p:txBody>
          <a:bodyPr anchor="ctr">
            <a:normAutofit/>
          </a:bodyPr>
          <a:lstStyle/>
          <a:p>
            <a:r>
              <a:rPr lang="en-US" dirty="0"/>
              <a:t>Demo Time!</a:t>
            </a:r>
          </a:p>
          <a:p>
            <a:r>
              <a:rPr lang="en-US" dirty="0"/>
              <a:t>Let’s give it a spin!</a:t>
            </a:r>
          </a:p>
        </p:txBody>
      </p:sp>
      <p:pic>
        <p:nvPicPr>
          <p:cNvPr id="9" name="Content Placeholder 8" descr="Doctors discussing test results">
            <a:extLst>
              <a:ext uri="{FF2B5EF4-FFF2-40B4-BE49-F238E27FC236}">
                <a16:creationId xmlns:a16="http://schemas.microsoft.com/office/drawing/2014/main" id="{B15E5410-E955-0D6F-C8EF-D7FCFDE7F813}"/>
              </a:ext>
            </a:extLst>
          </p:cNvPr>
          <p:cNvPicPr>
            <a:picLocks noChangeAspect="1"/>
          </p:cNvPicPr>
          <p:nvPr/>
        </p:nvPicPr>
        <p:blipFill>
          <a:blip r:embed="rId2">
            <a:extLst>
              <a:ext uri="{28A0092B-C50C-407E-A947-70E740481C1C}">
                <a14:useLocalDpi xmlns:a14="http://schemas.microsoft.com/office/drawing/2010/main" val="0"/>
              </a:ext>
            </a:extLst>
          </a:blip>
          <a:srcRect l="39984" r="7756" b="1"/>
          <a:stretch>
            <a:fillRect/>
          </a:stretch>
        </p:blipFill>
        <p:spPr>
          <a:xfrm>
            <a:off x="7552945" y="643465"/>
            <a:ext cx="3995592" cy="5103372"/>
          </a:xfrm>
          <a:prstGeom prst="rect">
            <a:avLst/>
          </a:prstGeom>
        </p:spPr>
      </p:pic>
    </p:spTree>
    <p:extLst>
      <p:ext uri="{BB962C8B-B14F-4D97-AF65-F5344CB8AC3E}">
        <p14:creationId xmlns:p14="http://schemas.microsoft.com/office/powerpoint/2010/main" val="48731314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00F2C6-61CB-8A8D-A1DF-CEEE10FCD0F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EAF2B4D-B49C-0051-30D0-B00D694E8773}"/>
              </a:ext>
            </a:extLst>
          </p:cNvPr>
          <p:cNvSpPr>
            <a:spLocks noGrp="1"/>
          </p:cNvSpPr>
          <p:nvPr>
            <p:ph type="title"/>
          </p:nvPr>
        </p:nvSpPr>
        <p:spPr/>
        <p:txBody>
          <a:bodyPr/>
          <a:lstStyle/>
          <a:p>
            <a:r>
              <a:rPr lang="en-US" dirty="0" err="1"/>
              <a:t>FastAPI</a:t>
            </a:r>
            <a:r>
              <a:rPr lang="en-US" dirty="0"/>
              <a:t> Security | Built-In Features</a:t>
            </a:r>
          </a:p>
        </p:txBody>
      </p:sp>
      <p:sp>
        <p:nvSpPr>
          <p:cNvPr id="3" name="Content Placeholder 2">
            <a:extLst>
              <a:ext uri="{FF2B5EF4-FFF2-40B4-BE49-F238E27FC236}">
                <a16:creationId xmlns:a16="http://schemas.microsoft.com/office/drawing/2014/main" id="{1AEC0489-3E35-7A93-F5C3-C644F53DA807}"/>
              </a:ext>
            </a:extLst>
          </p:cNvPr>
          <p:cNvSpPr>
            <a:spLocks noGrp="1"/>
          </p:cNvSpPr>
          <p:nvPr>
            <p:ph idx="1"/>
          </p:nvPr>
        </p:nvSpPr>
        <p:spPr/>
        <p:txBody>
          <a:bodyPr/>
          <a:lstStyle/>
          <a:p>
            <a:r>
              <a:rPr lang="en-US" dirty="0"/>
              <a:t>Fast API contains small helper dependencies available in the </a:t>
            </a:r>
            <a:r>
              <a:rPr lang="en-US" sz="1800" dirty="0" err="1">
                <a:solidFill>
                  <a:schemeClr val="accent1"/>
                </a:solidFill>
                <a:latin typeface="OCR A Extended" panose="02010509020102010303" pitchFamily="50" charset="0"/>
              </a:rPr>
              <a:t>fastapi.security</a:t>
            </a:r>
            <a:r>
              <a:rPr lang="en-US" sz="1800" dirty="0">
                <a:solidFill>
                  <a:schemeClr val="accent1"/>
                </a:solidFill>
                <a:latin typeface="OCR A Extended" panose="02010509020102010303" pitchFamily="50" charset="0"/>
              </a:rPr>
              <a:t> </a:t>
            </a:r>
            <a:r>
              <a:rPr lang="en-US" dirty="0"/>
              <a:t>module</a:t>
            </a:r>
          </a:p>
          <a:p>
            <a:r>
              <a:rPr lang="en-US" dirty="0"/>
              <a:t>These are some utilities available</a:t>
            </a:r>
          </a:p>
          <a:p>
            <a:pPr lvl="1"/>
            <a:r>
              <a:rPr lang="en-US" dirty="0"/>
              <a:t>OAuth2 </a:t>
            </a:r>
            <a:r>
              <a:rPr lang="en-US" dirty="0" err="1"/>
              <a:t>PasswordBearer</a:t>
            </a:r>
            <a:endParaRPr lang="en-US" dirty="0"/>
          </a:p>
          <a:p>
            <a:pPr lvl="1"/>
            <a:r>
              <a:rPr lang="en-US" dirty="0"/>
              <a:t>OAuth2</a:t>
            </a:r>
          </a:p>
          <a:p>
            <a:pPr lvl="1"/>
            <a:r>
              <a:rPr lang="en-US" dirty="0"/>
              <a:t>HTTP Basic</a:t>
            </a:r>
          </a:p>
          <a:p>
            <a:pPr lvl="1"/>
            <a:r>
              <a:rPr lang="en-US" dirty="0"/>
              <a:t>HTTP Bearer</a:t>
            </a:r>
          </a:p>
          <a:p>
            <a:pPr lvl="1"/>
            <a:r>
              <a:rPr lang="en-US" dirty="0"/>
              <a:t>HTTP Digest</a:t>
            </a:r>
          </a:p>
          <a:p>
            <a:pPr lvl="1"/>
            <a:r>
              <a:rPr lang="en-US" dirty="0" err="1"/>
              <a:t>APIKey</a:t>
            </a:r>
            <a:r>
              <a:rPr lang="en-US" dirty="0"/>
              <a:t> Header</a:t>
            </a:r>
          </a:p>
          <a:p>
            <a:pPr lvl="1"/>
            <a:r>
              <a:rPr lang="en-US" dirty="0" err="1"/>
              <a:t>APIKey</a:t>
            </a:r>
            <a:r>
              <a:rPr lang="en-US" dirty="0"/>
              <a:t> Query</a:t>
            </a:r>
          </a:p>
        </p:txBody>
      </p:sp>
    </p:spTree>
    <p:extLst>
      <p:ext uri="{BB962C8B-B14F-4D97-AF65-F5344CB8AC3E}">
        <p14:creationId xmlns:p14="http://schemas.microsoft.com/office/powerpoint/2010/main" val="8531045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DE0D48-1B3A-DED5-598C-AA4C9B2FA95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1C4EA25-1DA6-D700-E2A6-2379814B1B0D}"/>
              </a:ext>
            </a:extLst>
          </p:cNvPr>
          <p:cNvSpPr>
            <a:spLocks noGrp="1"/>
          </p:cNvSpPr>
          <p:nvPr>
            <p:ph type="title"/>
          </p:nvPr>
        </p:nvSpPr>
        <p:spPr/>
        <p:txBody>
          <a:bodyPr/>
          <a:lstStyle/>
          <a:p>
            <a:r>
              <a:rPr lang="en-US" dirty="0" err="1"/>
              <a:t>FastAPI</a:t>
            </a:r>
            <a:r>
              <a:rPr lang="en-US" dirty="0"/>
              <a:t> Security | Rate-Limiting</a:t>
            </a:r>
          </a:p>
        </p:txBody>
      </p:sp>
      <p:sp>
        <p:nvSpPr>
          <p:cNvPr id="3" name="Content Placeholder 2">
            <a:extLst>
              <a:ext uri="{FF2B5EF4-FFF2-40B4-BE49-F238E27FC236}">
                <a16:creationId xmlns:a16="http://schemas.microsoft.com/office/drawing/2014/main" id="{285B0522-DBCA-1597-A8C9-7C6DBB6F131E}"/>
              </a:ext>
            </a:extLst>
          </p:cNvPr>
          <p:cNvSpPr>
            <a:spLocks noGrp="1"/>
          </p:cNvSpPr>
          <p:nvPr>
            <p:ph idx="1"/>
          </p:nvPr>
        </p:nvSpPr>
        <p:spPr/>
        <p:txBody>
          <a:bodyPr>
            <a:normAutofit fontScale="92500" lnSpcReduction="10000"/>
          </a:bodyPr>
          <a:lstStyle/>
          <a:p>
            <a:r>
              <a:rPr lang="en-US" dirty="0"/>
              <a:t>API Rate-Limiting</a:t>
            </a:r>
          </a:p>
          <a:p>
            <a:pPr lvl="1"/>
            <a:r>
              <a:rPr lang="en-US" dirty="0"/>
              <a:t>Helps control the frequency of requests to the entirety or selected routes of a REST API with a fixed limit</a:t>
            </a:r>
          </a:p>
          <a:p>
            <a:pPr lvl="1"/>
            <a:r>
              <a:rPr lang="en-US" dirty="0"/>
              <a:t>Callers can be uniquely identified by IP Address, API Key, user ID, etc.</a:t>
            </a:r>
          </a:p>
          <a:p>
            <a:pPr lvl="1"/>
            <a:r>
              <a:rPr lang="en-US" dirty="0"/>
              <a:t>Can be applied uniformly to the whole API or routes of the API</a:t>
            </a:r>
          </a:p>
          <a:p>
            <a:pPr lvl="1"/>
            <a:r>
              <a:rPr lang="en-US" dirty="0"/>
              <a:t>When limit is hit, subsequent requests are blocked (HTTP 429 Too Many Requests)</a:t>
            </a:r>
          </a:p>
          <a:p>
            <a:pPr lvl="1"/>
            <a:r>
              <a:rPr lang="en-US" dirty="0"/>
              <a:t>Focus is towards prevent API abuse (DDoS)</a:t>
            </a:r>
          </a:p>
          <a:p>
            <a:r>
              <a:rPr lang="en-US" dirty="0"/>
              <a:t>API Throttling</a:t>
            </a:r>
          </a:p>
          <a:p>
            <a:pPr lvl="1"/>
            <a:r>
              <a:rPr lang="en-US" dirty="0"/>
              <a:t>It is another API access control which aims to control frequency of requests with a dynamic value that changes based on sever criteria such as Server Load, User Priority, Request Type, Time of Day, etc.</a:t>
            </a:r>
          </a:p>
          <a:p>
            <a:pPr lvl="1"/>
            <a:r>
              <a:rPr lang="en-US" dirty="0"/>
              <a:t>Focus is towards system performance and availability</a:t>
            </a:r>
          </a:p>
          <a:p>
            <a:endParaRPr lang="en-US" dirty="0"/>
          </a:p>
        </p:txBody>
      </p:sp>
    </p:spTree>
    <p:extLst>
      <p:ext uri="{BB962C8B-B14F-4D97-AF65-F5344CB8AC3E}">
        <p14:creationId xmlns:p14="http://schemas.microsoft.com/office/powerpoint/2010/main" val="173435720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D2AB53-9A5A-2A52-664B-436FFFDE6D0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91BE33A-C861-D092-B3AE-8D957CB76CA1}"/>
              </a:ext>
            </a:extLst>
          </p:cNvPr>
          <p:cNvSpPr>
            <a:spLocks noGrp="1"/>
          </p:cNvSpPr>
          <p:nvPr>
            <p:ph type="title"/>
          </p:nvPr>
        </p:nvSpPr>
        <p:spPr>
          <a:xfrm>
            <a:off x="913795" y="609600"/>
            <a:ext cx="5978072" cy="970450"/>
          </a:xfrm>
        </p:spPr>
        <p:txBody>
          <a:bodyPr>
            <a:normAutofit/>
          </a:bodyPr>
          <a:lstStyle/>
          <a:p>
            <a:pPr>
              <a:lnSpc>
                <a:spcPct val="90000"/>
              </a:lnSpc>
            </a:pPr>
            <a:r>
              <a:rPr lang="en-US" sz="3400" dirty="0"/>
              <a:t>Inspect the Code | Iteration 2</a:t>
            </a:r>
          </a:p>
        </p:txBody>
      </p:sp>
      <p:sp>
        <p:nvSpPr>
          <p:cNvPr id="13" name="Content Placeholder 12">
            <a:extLst>
              <a:ext uri="{FF2B5EF4-FFF2-40B4-BE49-F238E27FC236}">
                <a16:creationId xmlns:a16="http://schemas.microsoft.com/office/drawing/2014/main" id="{12BC83F8-5048-A7CF-3367-3C0CBF1AC322}"/>
              </a:ext>
            </a:extLst>
          </p:cNvPr>
          <p:cNvSpPr>
            <a:spLocks noGrp="1"/>
          </p:cNvSpPr>
          <p:nvPr>
            <p:ph idx="1"/>
          </p:nvPr>
        </p:nvSpPr>
        <p:spPr>
          <a:xfrm>
            <a:off x="913795" y="1828801"/>
            <a:ext cx="5978072" cy="3866048"/>
          </a:xfrm>
        </p:spPr>
        <p:txBody>
          <a:bodyPr anchor="ctr">
            <a:normAutofit/>
          </a:bodyPr>
          <a:lstStyle/>
          <a:p>
            <a:r>
              <a:rPr lang="en-US" dirty="0"/>
              <a:t>Demo Time!</a:t>
            </a:r>
          </a:p>
          <a:p>
            <a:r>
              <a:rPr lang="en-US" dirty="0"/>
              <a:t>Let’s give it a spin!</a:t>
            </a:r>
          </a:p>
        </p:txBody>
      </p:sp>
      <p:pic>
        <p:nvPicPr>
          <p:cNvPr id="9" name="Content Placeholder 8" descr="Doctors discussing test results">
            <a:extLst>
              <a:ext uri="{FF2B5EF4-FFF2-40B4-BE49-F238E27FC236}">
                <a16:creationId xmlns:a16="http://schemas.microsoft.com/office/drawing/2014/main" id="{694305EB-96E2-D355-307C-3E49D9637A0A}"/>
              </a:ext>
            </a:extLst>
          </p:cNvPr>
          <p:cNvPicPr>
            <a:picLocks noChangeAspect="1"/>
          </p:cNvPicPr>
          <p:nvPr/>
        </p:nvPicPr>
        <p:blipFill>
          <a:blip r:embed="rId2">
            <a:extLst>
              <a:ext uri="{28A0092B-C50C-407E-A947-70E740481C1C}">
                <a14:useLocalDpi xmlns:a14="http://schemas.microsoft.com/office/drawing/2010/main" val="0"/>
              </a:ext>
            </a:extLst>
          </a:blip>
          <a:srcRect l="39984" r="7756" b="1"/>
          <a:stretch>
            <a:fillRect/>
          </a:stretch>
        </p:blipFill>
        <p:spPr>
          <a:xfrm>
            <a:off x="7552945" y="643465"/>
            <a:ext cx="3995592" cy="5103372"/>
          </a:xfrm>
          <a:prstGeom prst="rect">
            <a:avLst/>
          </a:prstGeom>
        </p:spPr>
      </p:pic>
    </p:spTree>
    <p:extLst>
      <p:ext uri="{BB962C8B-B14F-4D97-AF65-F5344CB8AC3E}">
        <p14:creationId xmlns:p14="http://schemas.microsoft.com/office/powerpoint/2010/main" val="311229490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80000"/>
                <a:lumMod val="80000"/>
              </a:schemeClr>
              <a:schemeClr val="bg2">
                <a:tint val="98000"/>
              </a:schemeClr>
            </a:duotone>
          </a:blip>
          <a:stretch/>
        </a:blipFill>
        <a:effectLst/>
      </p:bgPr>
    </p:bg>
    <p:spTree>
      <p:nvGrpSpPr>
        <p:cNvPr id="1" name="">
          <a:extLst>
            <a:ext uri="{FF2B5EF4-FFF2-40B4-BE49-F238E27FC236}">
              <a16:creationId xmlns:a16="http://schemas.microsoft.com/office/drawing/2014/main" id="{84DE880A-296D-E2B1-BADF-DFE65D7F9EE9}"/>
            </a:ext>
          </a:extLst>
        </p:cNvPr>
        <p:cNvGrpSpPr/>
        <p:nvPr/>
      </p:nvGrpSpPr>
      <p:grpSpPr>
        <a:xfrm>
          <a:off x="0" y="0"/>
          <a:ext cx="0" cy="0"/>
          <a:chOff x="0" y="0"/>
          <a:chExt cx="0" cy="0"/>
        </a:xfrm>
      </p:grpSpPr>
      <p:sp>
        <p:nvSpPr>
          <p:cNvPr id="8" name="Rectangle 7">
            <a:extLst>
              <a:ext uri="{FF2B5EF4-FFF2-40B4-BE49-F238E27FC236}">
                <a16:creationId xmlns:a16="http://schemas.microsoft.com/office/drawing/2014/main" id="{6E256899-F1C0-6115-5C15-768B72CF50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321564" y="320040"/>
            <a:ext cx="11548872" cy="6217920"/>
          </a:xfrm>
          <a:prstGeom prst="rect">
            <a:avLst/>
          </a:prstGeom>
          <a:solidFill>
            <a:schemeClr val="bg1">
              <a:lumMod val="75000"/>
              <a:lumOff val="25000"/>
            </a:schemeClr>
          </a:solidFill>
          <a:ln>
            <a:noFill/>
          </a:ln>
          <a:effectLst>
            <a:innerShdw blurRad="63500" dist="50800" dir="162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FE6D06F-299A-4E93-B021-D53922182F0E}"/>
              </a:ext>
            </a:extLst>
          </p:cNvPr>
          <p:cNvSpPr>
            <a:spLocks noGrp="1"/>
          </p:cNvSpPr>
          <p:nvPr>
            <p:ph type="title"/>
          </p:nvPr>
        </p:nvSpPr>
        <p:spPr>
          <a:xfrm>
            <a:off x="4377625" y="963507"/>
            <a:ext cx="6849344" cy="4995027"/>
          </a:xfrm>
        </p:spPr>
        <p:txBody>
          <a:bodyPr vert="horz" lIns="91440" tIns="45720" rIns="91440" bIns="45720" rtlCol="0" anchor="ctr">
            <a:normAutofit/>
          </a:bodyPr>
          <a:lstStyle/>
          <a:p>
            <a:pPr algn="l"/>
            <a:r>
              <a:rPr lang="en-US" sz="5200" dirty="0"/>
              <a:t>Module 7</a:t>
            </a:r>
          </a:p>
        </p:txBody>
      </p:sp>
      <p:sp>
        <p:nvSpPr>
          <p:cNvPr id="3" name="Content Placeholder 2">
            <a:extLst>
              <a:ext uri="{FF2B5EF4-FFF2-40B4-BE49-F238E27FC236}">
                <a16:creationId xmlns:a16="http://schemas.microsoft.com/office/drawing/2014/main" id="{858D151E-CB46-4369-80A6-59A26AA77460}"/>
              </a:ext>
            </a:extLst>
          </p:cNvPr>
          <p:cNvSpPr>
            <a:spLocks noGrp="1"/>
          </p:cNvSpPr>
          <p:nvPr>
            <p:ph idx="1"/>
          </p:nvPr>
        </p:nvSpPr>
        <p:spPr>
          <a:xfrm>
            <a:off x="965031" y="957287"/>
            <a:ext cx="2760795" cy="4995027"/>
          </a:xfrm>
        </p:spPr>
        <p:txBody>
          <a:bodyPr vert="horz" lIns="91440" tIns="45720" rIns="91440" bIns="45720" rtlCol="0" anchor="ctr">
            <a:normAutofit/>
          </a:bodyPr>
          <a:lstStyle/>
          <a:p>
            <a:pPr marL="0" indent="0" algn="r">
              <a:buNone/>
            </a:pPr>
            <a:r>
              <a:rPr lang="en-US" dirty="0">
                <a:solidFill>
                  <a:schemeClr val="tx1"/>
                </a:solidFill>
              </a:rPr>
              <a:t>Building</a:t>
            </a:r>
          </a:p>
          <a:p>
            <a:pPr marL="0" indent="0" algn="r">
              <a:buNone/>
            </a:pPr>
            <a:r>
              <a:rPr lang="en-US" dirty="0">
                <a:solidFill>
                  <a:schemeClr val="tx1"/>
                </a:solidFill>
              </a:rPr>
              <a:t>Evolvable</a:t>
            </a:r>
          </a:p>
          <a:p>
            <a:pPr marL="0" indent="0" algn="r">
              <a:buNone/>
            </a:pPr>
            <a:r>
              <a:rPr lang="en-US" dirty="0">
                <a:solidFill>
                  <a:schemeClr val="tx1"/>
                </a:solidFill>
              </a:rPr>
              <a:t>APIs</a:t>
            </a:r>
          </a:p>
        </p:txBody>
      </p:sp>
      <p:cxnSp>
        <p:nvCxnSpPr>
          <p:cNvPr id="10" name="Straight Connector 9">
            <a:extLst>
              <a:ext uri="{FF2B5EF4-FFF2-40B4-BE49-F238E27FC236}">
                <a16:creationId xmlns:a16="http://schemas.microsoft.com/office/drawing/2014/main" id="{CC42B081-F7CF-24E8-EB1A-75E8F0DCC001}"/>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055891" y="2057399"/>
            <a:ext cx="0" cy="2743200"/>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985976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BDADFE-C4E0-32D2-F0FE-733249CED3C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3C60CB8-585C-A03D-11B9-BC09FCA0FF9E}"/>
              </a:ext>
            </a:extLst>
          </p:cNvPr>
          <p:cNvSpPr>
            <a:spLocks noGrp="1"/>
          </p:cNvSpPr>
          <p:nvPr>
            <p:ph type="title"/>
          </p:nvPr>
        </p:nvSpPr>
        <p:spPr>
          <a:xfrm>
            <a:off x="913795" y="143256"/>
            <a:ext cx="10353762" cy="970450"/>
          </a:xfrm>
        </p:spPr>
        <p:txBody>
          <a:bodyPr/>
          <a:lstStyle/>
          <a:p>
            <a:r>
              <a:rPr lang="en-US" dirty="0"/>
              <a:t>Evolvable APIs| Versioning</a:t>
            </a:r>
          </a:p>
        </p:txBody>
      </p:sp>
      <p:sp>
        <p:nvSpPr>
          <p:cNvPr id="3" name="Content Placeholder 2">
            <a:extLst>
              <a:ext uri="{FF2B5EF4-FFF2-40B4-BE49-F238E27FC236}">
                <a16:creationId xmlns:a16="http://schemas.microsoft.com/office/drawing/2014/main" id="{46792B71-99B6-5A23-EC65-0E7CF9F9447D}"/>
              </a:ext>
            </a:extLst>
          </p:cNvPr>
          <p:cNvSpPr>
            <a:spLocks noGrp="1"/>
          </p:cNvSpPr>
          <p:nvPr>
            <p:ph idx="1"/>
          </p:nvPr>
        </p:nvSpPr>
        <p:spPr>
          <a:xfrm>
            <a:off x="913795" y="1580051"/>
            <a:ext cx="10353762" cy="4866470"/>
          </a:xfrm>
        </p:spPr>
        <p:txBody>
          <a:bodyPr>
            <a:normAutofit fontScale="92500" lnSpcReduction="20000"/>
          </a:bodyPr>
          <a:lstStyle/>
          <a:p>
            <a:r>
              <a:rPr lang="en-US" dirty="0"/>
              <a:t>REST API versioning allows an API to evolve overtime and introduce braking changes without interrupting service to clients using a previous API version</a:t>
            </a:r>
          </a:p>
          <a:p>
            <a:r>
              <a:rPr lang="en-US" dirty="0"/>
              <a:t>Consider implementing if you are exposing your API to public Internet</a:t>
            </a:r>
          </a:p>
          <a:p>
            <a:r>
              <a:rPr lang="en-US" dirty="0"/>
              <a:t>Define a policy of how your API contract may change and make clients aware of it</a:t>
            </a:r>
          </a:p>
          <a:p>
            <a:r>
              <a:rPr lang="en-US" dirty="0"/>
              <a:t>Leverage concepts from Semantic Versioning v2.0.0 (</a:t>
            </a:r>
            <a:r>
              <a:rPr lang="en-US" sz="1500" dirty="0" err="1">
                <a:solidFill>
                  <a:schemeClr val="accent1"/>
                </a:solidFill>
                <a:latin typeface="OCR A Extended" panose="02010509020102010303" pitchFamily="50" charset="0"/>
              </a:rPr>
              <a:t>major.minor.patch</a:t>
            </a:r>
            <a:r>
              <a:rPr lang="en-US" dirty="0"/>
              <a:t>)</a:t>
            </a:r>
          </a:p>
          <a:p>
            <a:pPr lvl="1"/>
            <a:r>
              <a:rPr lang="en-US" dirty="0"/>
              <a:t>Purpose/Scope – communication stability between provider-consumer of the API</a:t>
            </a:r>
          </a:p>
          <a:p>
            <a:pPr lvl="1"/>
            <a:r>
              <a:rPr lang="en-US" dirty="0"/>
              <a:t>Format – Use </a:t>
            </a:r>
            <a:r>
              <a:rPr lang="en-US" sz="1500" dirty="0">
                <a:solidFill>
                  <a:schemeClr val="accent1"/>
                </a:solidFill>
                <a:latin typeface="OCR A Extended" panose="02010509020102010303" pitchFamily="50" charset="0"/>
              </a:rPr>
              <a:t>v1</a:t>
            </a:r>
            <a:r>
              <a:rPr lang="en-US" dirty="0"/>
              <a:t> or </a:t>
            </a:r>
            <a:r>
              <a:rPr lang="en-US" sz="1500" dirty="0">
                <a:solidFill>
                  <a:schemeClr val="accent1"/>
                </a:solidFill>
                <a:latin typeface="OCR A Extended" panose="02010509020102010303" pitchFamily="50" charset="0"/>
              </a:rPr>
              <a:t>v1.1</a:t>
            </a:r>
            <a:r>
              <a:rPr lang="en-US" dirty="0"/>
              <a:t>, no need to introduce “patch” number</a:t>
            </a:r>
          </a:p>
          <a:p>
            <a:pPr lvl="1"/>
            <a:r>
              <a:rPr lang="en-US" dirty="0"/>
              <a:t>Meaning of Increments – You are in control. Example:</a:t>
            </a:r>
          </a:p>
          <a:p>
            <a:pPr lvl="2"/>
            <a:r>
              <a:rPr lang="en-US" dirty="0"/>
              <a:t>Major – breaking changes to existing endpoints, removed fields from request/response pairs</a:t>
            </a:r>
          </a:p>
          <a:p>
            <a:pPr lvl="2"/>
            <a:r>
              <a:rPr lang="en-US" dirty="0"/>
              <a:t>Minor – new endpoints or optional fields in existing endpoints, no fields removed in existing request/response pairs</a:t>
            </a:r>
          </a:p>
          <a:p>
            <a:pPr lvl="1"/>
            <a:r>
              <a:rPr lang="en-US" dirty="0"/>
              <a:t>Backwards compatibility – You must guarantee and commit to it. Document it!</a:t>
            </a:r>
          </a:p>
          <a:p>
            <a:pPr lvl="1"/>
            <a:r>
              <a:rPr lang="en-US" dirty="0"/>
              <a:t>Version Lifecycle – Deprecate old versions (e.g., anything older than 3 versions ago)</a:t>
            </a:r>
          </a:p>
          <a:p>
            <a:r>
              <a:rPr lang="en-US" dirty="0"/>
              <a:t>Standards?  You’ll need to define one and make your clients aware</a:t>
            </a:r>
          </a:p>
          <a:p>
            <a:pPr lvl="1"/>
            <a:endParaRPr lang="en-US" dirty="0"/>
          </a:p>
        </p:txBody>
      </p:sp>
    </p:spTree>
    <p:extLst>
      <p:ext uri="{BB962C8B-B14F-4D97-AF65-F5344CB8AC3E}">
        <p14:creationId xmlns:p14="http://schemas.microsoft.com/office/powerpoint/2010/main" val="260354788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6BB23C-0EA8-9267-CCA5-B94DFEF8959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3C26144-F29E-01F5-8354-44FA515CB90B}"/>
              </a:ext>
            </a:extLst>
          </p:cNvPr>
          <p:cNvSpPr>
            <a:spLocks noGrp="1"/>
          </p:cNvSpPr>
          <p:nvPr>
            <p:ph type="title"/>
          </p:nvPr>
        </p:nvSpPr>
        <p:spPr>
          <a:xfrm>
            <a:off x="913795" y="143256"/>
            <a:ext cx="10353762" cy="670560"/>
          </a:xfrm>
        </p:spPr>
        <p:txBody>
          <a:bodyPr>
            <a:normAutofit fontScale="90000"/>
          </a:bodyPr>
          <a:lstStyle/>
          <a:p>
            <a:r>
              <a:rPr lang="en-US" dirty="0"/>
              <a:t>Evolvable APIs| Versioning Strategies</a:t>
            </a:r>
          </a:p>
        </p:txBody>
      </p:sp>
      <p:sp>
        <p:nvSpPr>
          <p:cNvPr id="3" name="Content Placeholder 2">
            <a:extLst>
              <a:ext uri="{FF2B5EF4-FFF2-40B4-BE49-F238E27FC236}">
                <a16:creationId xmlns:a16="http://schemas.microsoft.com/office/drawing/2014/main" id="{1D12C1FE-C44B-C81E-3017-8741B68CABFA}"/>
              </a:ext>
            </a:extLst>
          </p:cNvPr>
          <p:cNvSpPr>
            <a:spLocks noGrp="1"/>
          </p:cNvSpPr>
          <p:nvPr>
            <p:ph idx="1"/>
          </p:nvPr>
        </p:nvSpPr>
        <p:spPr>
          <a:xfrm>
            <a:off x="913795" y="950976"/>
            <a:ext cx="10353762" cy="5495545"/>
          </a:xfrm>
        </p:spPr>
        <p:txBody>
          <a:bodyPr>
            <a:normAutofit fontScale="85000" lnSpcReduction="20000"/>
          </a:bodyPr>
          <a:lstStyle/>
          <a:p>
            <a:r>
              <a:rPr lang="en-US" dirty="0"/>
              <a:t>URI Versioning (very common)</a:t>
            </a:r>
          </a:p>
          <a:p>
            <a:pPr lvl="1"/>
            <a:r>
              <a:rPr lang="en-US" dirty="0"/>
              <a:t>The API version is defined on the route itself. Explicit. Easy to read. Cacheable.</a:t>
            </a:r>
          </a:p>
          <a:p>
            <a:pPr lvl="1"/>
            <a:r>
              <a:rPr lang="en-US" dirty="0"/>
              <a:t>Can lead to “URL Clutter”.</a:t>
            </a:r>
          </a:p>
          <a:p>
            <a:pPr lvl="1"/>
            <a:r>
              <a:rPr lang="en-US" dirty="0"/>
              <a:t>Example v1 | </a:t>
            </a:r>
            <a:r>
              <a:rPr lang="en-US" sz="1400" dirty="0">
                <a:solidFill>
                  <a:schemeClr val="accent1"/>
                </a:solidFill>
                <a:latin typeface="OCR A Extended" panose="02010509020102010303" pitchFamily="50" charset="0"/>
              </a:rPr>
              <a:t>GET </a:t>
            </a:r>
            <a:r>
              <a:rPr lang="en-US" sz="1400" dirty="0" err="1">
                <a:solidFill>
                  <a:schemeClr val="accent1"/>
                </a:solidFill>
                <a:latin typeface="OCR A Extended" panose="02010509020102010303" pitchFamily="50" charset="0"/>
              </a:rPr>
              <a:t>api</a:t>
            </a:r>
            <a:r>
              <a:rPr lang="en-US" sz="1400" dirty="0">
                <a:solidFill>
                  <a:schemeClr val="accent1"/>
                </a:solidFill>
                <a:latin typeface="OCR A Extended" panose="02010509020102010303" pitchFamily="50" charset="0"/>
              </a:rPr>
              <a:t>/v1/</a:t>
            </a:r>
            <a:r>
              <a:rPr lang="en-US" sz="1400" dirty="0" err="1">
                <a:solidFill>
                  <a:schemeClr val="accent1"/>
                </a:solidFill>
                <a:latin typeface="OCR A Extended" panose="02010509020102010303" pitchFamily="50" charset="0"/>
              </a:rPr>
              <a:t>books?skip</a:t>
            </a:r>
            <a:r>
              <a:rPr lang="en-US" sz="1400" dirty="0">
                <a:solidFill>
                  <a:schemeClr val="accent1"/>
                </a:solidFill>
                <a:latin typeface="OCR A Extended" panose="02010509020102010303" pitchFamily="50" charset="0"/>
              </a:rPr>
              <a:t>=0&amp;limit=100</a:t>
            </a:r>
          </a:p>
          <a:p>
            <a:pPr lvl="1"/>
            <a:r>
              <a:rPr lang="en-US" dirty="0"/>
              <a:t>Example v2 | </a:t>
            </a:r>
            <a:r>
              <a:rPr lang="en-US" sz="1400" dirty="0">
                <a:solidFill>
                  <a:schemeClr val="accent1"/>
                </a:solidFill>
                <a:latin typeface="OCR A Extended" panose="02010509020102010303" pitchFamily="50" charset="0"/>
              </a:rPr>
              <a:t>GET </a:t>
            </a:r>
            <a:r>
              <a:rPr lang="en-US" sz="1400" dirty="0" err="1">
                <a:solidFill>
                  <a:schemeClr val="accent1"/>
                </a:solidFill>
                <a:latin typeface="OCR A Extended" panose="02010509020102010303" pitchFamily="50" charset="0"/>
              </a:rPr>
              <a:t>api</a:t>
            </a:r>
            <a:r>
              <a:rPr lang="en-US" sz="1400" dirty="0">
                <a:solidFill>
                  <a:schemeClr val="accent1"/>
                </a:solidFill>
                <a:latin typeface="OCR A Extended" panose="02010509020102010303" pitchFamily="50" charset="0"/>
              </a:rPr>
              <a:t>/v1/</a:t>
            </a:r>
            <a:r>
              <a:rPr lang="en-US" sz="1400" dirty="0" err="1">
                <a:solidFill>
                  <a:schemeClr val="accent1"/>
                </a:solidFill>
                <a:latin typeface="OCR A Extended" panose="02010509020102010303" pitchFamily="50" charset="0"/>
              </a:rPr>
              <a:t>books?skip</a:t>
            </a:r>
            <a:r>
              <a:rPr lang="en-US" sz="1400" dirty="0">
                <a:solidFill>
                  <a:schemeClr val="accent1"/>
                </a:solidFill>
                <a:latin typeface="OCR A Extended" panose="02010509020102010303" pitchFamily="50" charset="0"/>
              </a:rPr>
              <a:t>=0&amp;limit=100</a:t>
            </a:r>
            <a:endParaRPr lang="en-US" sz="1400" dirty="0"/>
          </a:p>
          <a:p>
            <a:r>
              <a:rPr lang="en-US" dirty="0"/>
              <a:t>Query</a:t>
            </a:r>
          </a:p>
          <a:p>
            <a:pPr lvl="1"/>
            <a:r>
              <a:rPr lang="en-US" dirty="0"/>
              <a:t>The API version is defined one of the </a:t>
            </a:r>
            <a:r>
              <a:rPr lang="en-US" sz="1400" dirty="0">
                <a:solidFill>
                  <a:schemeClr val="accent1"/>
                </a:solidFill>
                <a:latin typeface="OCR A Extended" panose="02010509020102010303" pitchFamily="50" charset="0"/>
              </a:rPr>
              <a:t>query-string</a:t>
            </a:r>
            <a:r>
              <a:rPr lang="en-US" dirty="0"/>
              <a:t> parameters. Explicit. Could be difficult see a version if the </a:t>
            </a:r>
            <a:r>
              <a:rPr lang="en-US" sz="1400" dirty="0">
                <a:solidFill>
                  <a:schemeClr val="accent1"/>
                </a:solidFill>
                <a:latin typeface="OCR A Extended" panose="02010509020102010303" pitchFamily="50" charset="0"/>
              </a:rPr>
              <a:t>query-string</a:t>
            </a:r>
            <a:r>
              <a:rPr lang="en-US" dirty="0"/>
              <a:t> is long.</a:t>
            </a:r>
          </a:p>
          <a:p>
            <a:pPr lvl="1"/>
            <a:r>
              <a:rPr lang="en-US" dirty="0"/>
              <a:t>Example v1 | </a:t>
            </a:r>
            <a:r>
              <a:rPr lang="en-US" sz="1400" dirty="0">
                <a:solidFill>
                  <a:schemeClr val="accent1"/>
                </a:solidFill>
                <a:latin typeface="OCR A Extended" panose="02010509020102010303" pitchFamily="50" charset="0"/>
              </a:rPr>
              <a:t>GET </a:t>
            </a:r>
            <a:r>
              <a:rPr lang="en-US" sz="1400" dirty="0" err="1">
                <a:solidFill>
                  <a:schemeClr val="accent1"/>
                </a:solidFill>
                <a:latin typeface="OCR A Extended" panose="02010509020102010303" pitchFamily="50" charset="0"/>
              </a:rPr>
              <a:t>api</a:t>
            </a:r>
            <a:r>
              <a:rPr lang="en-US" sz="1400" dirty="0">
                <a:solidFill>
                  <a:schemeClr val="accent1"/>
                </a:solidFill>
                <a:latin typeface="OCR A Extended" panose="02010509020102010303" pitchFamily="50" charset="0"/>
              </a:rPr>
              <a:t>/</a:t>
            </a:r>
            <a:r>
              <a:rPr lang="en-US" sz="1400" dirty="0" err="1">
                <a:solidFill>
                  <a:schemeClr val="accent1"/>
                </a:solidFill>
                <a:latin typeface="OCR A Extended" panose="02010509020102010303" pitchFamily="50" charset="0"/>
              </a:rPr>
              <a:t>books?version</a:t>
            </a:r>
            <a:r>
              <a:rPr lang="en-US" sz="1400" dirty="0">
                <a:solidFill>
                  <a:schemeClr val="accent1"/>
                </a:solidFill>
                <a:latin typeface="OCR A Extended" panose="02010509020102010303" pitchFamily="50" charset="0"/>
              </a:rPr>
              <a:t>=1&amp;skip=0&amp;limit=100</a:t>
            </a:r>
            <a:endParaRPr lang="en-US" sz="1400" dirty="0"/>
          </a:p>
          <a:p>
            <a:pPr lvl="1"/>
            <a:r>
              <a:rPr lang="en-US" dirty="0"/>
              <a:t>Example v2 | </a:t>
            </a:r>
            <a:r>
              <a:rPr lang="en-US" sz="1400" dirty="0">
                <a:solidFill>
                  <a:schemeClr val="accent1"/>
                </a:solidFill>
                <a:latin typeface="OCR A Extended" panose="02010509020102010303" pitchFamily="50" charset="0"/>
              </a:rPr>
              <a:t>GET </a:t>
            </a:r>
            <a:r>
              <a:rPr lang="en-US" sz="1400" dirty="0" err="1">
                <a:solidFill>
                  <a:schemeClr val="accent1"/>
                </a:solidFill>
                <a:latin typeface="OCR A Extended" panose="02010509020102010303" pitchFamily="50" charset="0"/>
              </a:rPr>
              <a:t>api</a:t>
            </a:r>
            <a:r>
              <a:rPr lang="en-US" sz="1400" dirty="0">
                <a:solidFill>
                  <a:schemeClr val="accent1"/>
                </a:solidFill>
                <a:latin typeface="OCR A Extended" panose="02010509020102010303" pitchFamily="50" charset="0"/>
              </a:rPr>
              <a:t>/</a:t>
            </a:r>
            <a:r>
              <a:rPr lang="en-US" sz="1400" dirty="0" err="1">
                <a:solidFill>
                  <a:schemeClr val="accent1"/>
                </a:solidFill>
                <a:latin typeface="OCR A Extended" panose="02010509020102010303" pitchFamily="50" charset="0"/>
              </a:rPr>
              <a:t>books?version</a:t>
            </a:r>
            <a:r>
              <a:rPr lang="en-US" sz="1400" dirty="0">
                <a:solidFill>
                  <a:schemeClr val="accent1"/>
                </a:solidFill>
                <a:latin typeface="OCR A Extended" panose="02010509020102010303" pitchFamily="50" charset="0"/>
              </a:rPr>
              <a:t>=2&amp;skip=0&amp;limit=100</a:t>
            </a:r>
          </a:p>
          <a:p>
            <a:r>
              <a:rPr lang="en-US" dirty="0"/>
              <a:t>HTTP Header</a:t>
            </a:r>
          </a:p>
          <a:p>
            <a:pPr lvl="1"/>
            <a:r>
              <a:rPr lang="en-US" dirty="0"/>
              <a:t>Requires a client to explicitly send a HEADER for each call</a:t>
            </a:r>
          </a:p>
          <a:p>
            <a:pPr lvl="1"/>
            <a:r>
              <a:rPr lang="en-US" dirty="0"/>
              <a:t>Keeps URI clean (REST-purist)</a:t>
            </a:r>
          </a:p>
          <a:p>
            <a:pPr lvl="1"/>
            <a:r>
              <a:rPr lang="en-US" dirty="0"/>
              <a:t>Example: </a:t>
            </a:r>
            <a:r>
              <a:rPr lang="en-US" sz="1400" dirty="0">
                <a:solidFill>
                  <a:schemeClr val="accent1"/>
                </a:solidFill>
                <a:latin typeface="OCR A Extended" panose="02010509020102010303" pitchFamily="50" charset="0"/>
              </a:rPr>
              <a:t>X-API-Version: 1 </a:t>
            </a:r>
            <a:r>
              <a:rPr lang="en-US" dirty="0"/>
              <a:t>or  </a:t>
            </a:r>
            <a:r>
              <a:rPr lang="en-US" sz="1400" dirty="0">
                <a:solidFill>
                  <a:schemeClr val="accent1"/>
                </a:solidFill>
                <a:latin typeface="OCR A Extended" panose="02010509020102010303" pitchFamily="50" charset="0"/>
              </a:rPr>
              <a:t>X-API-Version: 2</a:t>
            </a:r>
          </a:p>
          <a:p>
            <a:r>
              <a:rPr lang="en-US" dirty="0"/>
              <a:t>Media-Type Versioning</a:t>
            </a:r>
          </a:p>
          <a:p>
            <a:pPr lvl="1"/>
            <a:r>
              <a:rPr lang="en-US" dirty="0"/>
              <a:t>More complex to implement and manage. Clients are required to specify media-types</a:t>
            </a:r>
          </a:p>
          <a:p>
            <a:pPr lvl="1"/>
            <a:r>
              <a:rPr lang="en-US" dirty="0"/>
              <a:t>Aligns well with REST principles</a:t>
            </a:r>
          </a:p>
          <a:p>
            <a:pPr lvl="1"/>
            <a:r>
              <a:rPr lang="en-US" dirty="0"/>
              <a:t>Example: </a:t>
            </a:r>
            <a:r>
              <a:rPr lang="en-US" sz="1400" dirty="0">
                <a:solidFill>
                  <a:schemeClr val="accent1"/>
                </a:solidFill>
                <a:latin typeface="OCR A Extended" panose="02010509020102010303" pitchFamily="50" charset="0"/>
              </a:rPr>
              <a:t>Accept: application/vnd.mycompany.v1+json </a:t>
            </a:r>
            <a:r>
              <a:rPr lang="en-US" sz="1400" dirty="0"/>
              <a:t>or </a:t>
            </a:r>
            <a:r>
              <a:rPr lang="en-US" sz="1400" dirty="0">
                <a:solidFill>
                  <a:schemeClr val="accent1"/>
                </a:solidFill>
                <a:latin typeface="OCR A Extended" panose="02010509020102010303" pitchFamily="50" charset="0"/>
              </a:rPr>
              <a:t>Accept: application/</a:t>
            </a:r>
            <a:r>
              <a:rPr lang="en-US" sz="1400" dirty="0" err="1">
                <a:solidFill>
                  <a:schemeClr val="accent1"/>
                </a:solidFill>
                <a:latin typeface="OCR A Extended" panose="02010509020102010303" pitchFamily="50" charset="0"/>
              </a:rPr>
              <a:t>vnd</a:t>
            </a:r>
            <a:r>
              <a:rPr lang="en-US" sz="1400" dirty="0">
                <a:solidFill>
                  <a:schemeClr val="accent1"/>
                </a:solidFill>
                <a:latin typeface="OCR A Extended" panose="02010509020102010303" pitchFamily="50" charset="0"/>
              </a:rPr>
              <a:t>/myco.v2+json</a:t>
            </a:r>
            <a:endParaRPr lang="en-US" sz="1400" dirty="0"/>
          </a:p>
        </p:txBody>
      </p:sp>
    </p:spTree>
    <p:extLst>
      <p:ext uri="{BB962C8B-B14F-4D97-AF65-F5344CB8AC3E}">
        <p14:creationId xmlns:p14="http://schemas.microsoft.com/office/powerpoint/2010/main" val="402174030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EB2781-A450-74C2-4507-90EE1A311BE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E1C5239-1038-5B00-9F5F-87D70794AA70}"/>
              </a:ext>
            </a:extLst>
          </p:cNvPr>
          <p:cNvSpPr>
            <a:spLocks noGrp="1"/>
          </p:cNvSpPr>
          <p:nvPr>
            <p:ph type="title"/>
          </p:nvPr>
        </p:nvSpPr>
        <p:spPr>
          <a:xfrm>
            <a:off x="913795" y="143256"/>
            <a:ext cx="10353762" cy="670560"/>
          </a:xfrm>
        </p:spPr>
        <p:txBody>
          <a:bodyPr>
            <a:normAutofit fontScale="90000"/>
          </a:bodyPr>
          <a:lstStyle/>
          <a:p>
            <a:r>
              <a:rPr lang="en-US" dirty="0"/>
              <a:t>Evolvable APIs| Best Practices</a:t>
            </a:r>
          </a:p>
        </p:txBody>
      </p:sp>
      <p:sp>
        <p:nvSpPr>
          <p:cNvPr id="3" name="Content Placeholder 2">
            <a:extLst>
              <a:ext uri="{FF2B5EF4-FFF2-40B4-BE49-F238E27FC236}">
                <a16:creationId xmlns:a16="http://schemas.microsoft.com/office/drawing/2014/main" id="{7384A34E-4915-06D4-54E7-86EB24B34B55}"/>
              </a:ext>
            </a:extLst>
          </p:cNvPr>
          <p:cNvSpPr>
            <a:spLocks noGrp="1"/>
          </p:cNvSpPr>
          <p:nvPr>
            <p:ph idx="1"/>
          </p:nvPr>
        </p:nvSpPr>
        <p:spPr>
          <a:xfrm>
            <a:off x="913795" y="950976"/>
            <a:ext cx="6730589" cy="5111495"/>
          </a:xfrm>
        </p:spPr>
        <p:txBody>
          <a:bodyPr>
            <a:normAutofit/>
          </a:bodyPr>
          <a:lstStyle/>
          <a:p>
            <a:r>
              <a:rPr lang="en-US" sz="1800" dirty="0"/>
              <a:t>Start with versioning early</a:t>
            </a:r>
          </a:p>
          <a:p>
            <a:pPr lvl="1"/>
            <a:r>
              <a:rPr lang="en-US" sz="1600" dirty="0"/>
              <a:t>If possible, implement it from the beginning of your API development</a:t>
            </a:r>
          </a:p>
          <a:p>
            <a:r>
              <a:rPr lang="en-US" sz="1800" dirty="0"/>
              <a:t>Choose a consistent strategy</a:t>
            </a:r>
          </a:p>
          <a:p>
            <a:pPr lvl="1"/>
            <a:r>
              <a:rPr lang="en-US" sz="1600" dirty="0"/>
              <a:t>Select one approach and apply it uniformly across your API</a:t>
            </a:r>
          </a:p>
          <a:p>
            <a:r>
              <a:rPr lang="en-US" sz="1800" dirty="0"/>
              <a:t>Document thoroughly</a:t>
            </a:r>
          </a:p>
          <a:p>
            <a:pPr lvl="1"/>
            <a:r>
              <a:rPr lang="en-US" sz="1600" dirty="0"/>
              <a:t>Provide clear documentation for all API versions, including breaking changes and migration paths</a:t>
            </a:r>
          </a:p>
          <a:p>
            <a:r>
              <a:rPr lang="en-US" sz="1800" dirty="0"/>
              <a:t>Communicate effectively</a:t>
            </a:r>
          </a:p>
          <a:p>
            <a:pPr lvl="1"/>
            <a:r>
              <a:rPr lang="en-US" sz="1600" dirty="0"/>
              <a:t>Inform API consumers about changes, deprecations, and new features well in advance. If possible, provide a time-line of events and the drop-dead date for deprecated endpoints</a:t>
            </a:r>
          </a:p>
          <a:p>
            <a:r>
              <a:rPr lang="en-US" sz="1800" dirty="0"/>
              <a:t>Monitor usage</a:t>
            </a:r>
          </a:p>
          <a:p>
            <a:pPr lvl="1"/>
            <a:r>
              <a:rPr lang="en-US" sz="1600" dirty="0"/>
              <a:t>Track which API versions are actively being used to inform your deprecation planning</a:t>
            </a:r>
          </a:p>
        </p:txBody>
      </p:sp>
      <p:pic>
        <p:nvPicPr>
          <p:cNvPr id="7" name="Picture 6">
            <a:extLst>
              <a:ext uri="{FF2B5EF4-FFF2-40B4-BE49-F238E27FC236}">
                <a16:creationId xmlns:a16="http://schemas.microsoft.com/office/drawing/2014/main" id="{F4586E78-4DEE-5921-50C7-CAAAB46FA2F4}"/>
              </a:ext>
            </a:extLst>
          </p:cNvPr>
          <p:cNvPicPr>
            <a:picLocks noChangeAspect="1"/>
          </p:cNvPicPr>
          <p:nvPr/>
        </p:nvPicPr>
        <p:blipFill>
          <a:blip r:embed="rId2"/>
          <a:stretch>
            <a:fillRect/>
          </a:stretch>
        </p:blipFill>
        <p:spPr>
          <a:xfrm>
            <a:off x="10091124" y="3821229"/>
            <a:ext cx="1202705" cy="1728679"/>
          </a:xfrm>
          <a:prstGeom prst="rect">
            <a:avLst/>
          </a:prstGeom>
        </p:spPr>
      </p:pic>
      <p:pic>
        <p:nvPicPr>
          <p:cNvPr id="9" name="Picture 8">
            <a:extLst>
              <a:ext uri="{FF2B5EF4-FFF2-40B4-BE49-F238E27FC236}">
                <a16:creationId xmlns:a16="http://schemas.microsoft.com/office/drawing/2014/main" id="{66D92794-4789-CF9D-761E-47D6505E422C}"/>
              </a:ext>
            </a:extLst>
          </p:cNvPr>
          <p:cNvPicPr>
            <a:picLocks noChangeAspect="1"/>
          </p:cNvPicPr>
          <p:nvPr/>
        </p:nvPicPr>
        <p:blipFill>
          <a:blip r:embed="rId3"/>
          <a:stretch>
            <a:fillRect/>
          </a:stretch>
        </p:blipFill>
        <p:spPr>
          <a:xfrm>
            <a:off x="8778423" y="1591529"/>
            <a:ext cx="1202975" cy="1837471"/>
          </a:xfrm>
          <a:prstGeom prst="rect">
            <a:avLst/>
          </a:prstGeom>
        </p:spPr>
      </p:pic>
    </p:spTree>
    <p:extLst>
      <p:ext uri="{BB962C8B-B14F-4D97-AF65-F5344CB8AC3E}">
        <p14:creationId xmlns:p14="http://schemas.microsoft.com/office/powerpoint/2010/main" val="282327794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0F8C1F-4814-C695-4E15-50DBBF36D92F}"/>
              </a:ext>
            </a:extLst>
          </p:cNvPr>
          <p:cNvSpPr>
            <a:spLocks noGrp="1"/>
          </p:cNvSpPr>
          <p:nvPr>
            <p:ph type="title"/>
          </p:nvPr>
        </p:nvSpPr>
        <p:spPr/>
        <p:txBody>
          <a:bodyPr/>
          <a:lstStyle/>
          <a:p>
            <a:r>
              <a:rPr lang="en-US" dirty="0"/>
              <a:t>Evolvable APIs | Dox &amp; </a:t>
            </a:r>
            <a:r>
              <a:rPr lang="en-US" dirty="0" err="1"/>
              <a:t>OpenAPI</a:t>
            </a:r>
            <a:endParaRPr lang="en-US" dirty="0"/>
          </a:p>
        </p:txBody>
      </p:sp>
      <p:sp>
        <p:nvSpPr>
          <p:cNvPr id="3" name="Content Placeholder 2">
            <a:extLst>
              <a:ext uri="{FF2B5EF4-FFF2-40B4-BE49-F238E27FC236}">
                <a16:creationId xmlns:a16="http://schemas.microsoft.com/office/drawing/2014/main" id="{EDF35D6C-70F6-716E-5BED-31A308D9BF1E}"/>
              </a:ext>
            </a:extLst>
          </p:cNvPr>
          <p:cNvSpPr>
            <a:spLocks noGrp="1"/>
          </p:cNvSpPr>
          <p:nvPr>
            <p:ph idx="1"/>
          </p:nvPr>
        </p:nvSpPr>
        <p:spPr/>
        <p:txBody>
          <a:bodyPr>
            <a:normAutofit fontScale="92500" lnSpcReduction="10000"/>
          </a:bodyPr>
          <a:lstStyle/>
          <a:p>
            <a:r>
              <a:rPr lang="en-US" dirty="0"/>
              <a:t>Fast API helps with documentation</a:t>
            </a:r>
          </a:p>
          <a:p>
            <a:pPr lvl="1"/>
            <a:r>
              <a:rPr lang="en-US" dirty="0"/>
              <a:t>Automatically produces a valid </a:t>
            </a:r>
            <a:r>
              <a:rPr lang="en-US" dirty="0" err="1"/>
              <a:t>OpenAPI</a:t>
            </a:r>
            <a:r>
              <a:rPr lang="en-US" dirty="0"/>
              <a:t> Spec JSON document</a:t>
            </a:r>
          </a:p>
          <a:p>
            <a:pPr lvl="1"/>
            <a:r>
              <a:rPr lang="en-US" dirty="0"/>
              <a:t>Automatically produces a Swagger Style User Interface</a:t>
            </a:r>
          </a:p>
          <a:p>
            <a:pPr lvl="2"/>
            <a:r>
              <a:rPr lang="en-US" dirty="0"/>
              <a:t>Endpoint  </a:t>
            </a:r>
            <a:r>
              <a:rPr lang="en-US" sz="1200" dirty="0">
                <a:solidFill>
                  <a:schemeClr val="accent1"/>
                </a:solidFill>
                <a:latin typeface="OCR A Extended" panose="02010509020102010303" pitchFamily="50" charset="0"/>
              </a:rPr>
              <a:t>http(s)://{host}:port/docs</a:t>
            </a:r>
          </a:p>
          <a:p>
            <a:pPr lvl="1"/>
            <a:r>
              <a:rPr lang="en-US" dirty="0"/>
              <a:t>Automatically produces a </a:t>
            </a:r>
            <a:r>
              <a:rPr lang="en-US" dirty="0" err="1"/>
              <a:t>ReDoc</a:t>
            </a:r>
            <a:r>
              <a:rPr lang="en-US" dirty="0"/>
              <a:t> Style User Interface</a:t>
            </a:r>
          </a:p>
          <a:p>
            <a:pPr lvl="2"/>
            <a:r>
              <a:rPr lang="en-US" dirty="0"/>
              <a:t>Endpoint </a:t>
            </a:r>
            <a:r>
              <a:rPr lang="en-US" sz="1200" dirty="0">
                <a:solidFill>
                  <a:schemeClr val="accent1"/>
                </a:solidFill>
                <a:latin typeface="OCR A Extended" panose="02010509020102010303" pitchFamily="50" charset="0"/>
              </a:rPr>
              <a:t>http(s)://{host}:port/</a:t>
            </a:r>
            <a:r>
              <a:rPr lang="en-US" sz="1200" dirty="0" err="1">
                <a:solidFill>
                  <a:schemeClr val="accent1"/>
                </a:solidFill>
                <a:latin typeface="OCR A Extended" panose="02010509020102010303" pitchFamily="50" charset="0"/>
              </a:rPr>
              <a:t>redoc</a:t>
            </a:r>
            <a:endParaRPr lang="en-US" sz="1200" dirty="0">
              <a:solidFill>
                <a:schemeClr val="accent1"/>
              </a:solidFill>
              <a:latin typeface="OCR A Extended" panose="02010509020102010303" pitchFamily="50" charset="0"/>
            </a:endParaRPr>
          </a:p>
          <a:p>
            <a:r>
              <a:rPr lang="en-US" dirty="0"/>
              <a:t>Familiarize yourself with </a:t>
            </a:r>
            <a:r>
              <a:rPr lang="en-US" dirty="0" err="1"/>
              <a:t>OpenAPI</a:t>
            </a:r>
            <a:r>
              <a:rPr lang="en-US" dirty="0"/>
              <a:t> Specifications</a:t>
            </a:r>
          </a:p>
          <a:p>
            <a:pPr lvl="1"/>
            <a:r>
              <a:rPr lang="en-US" sz="1200" dirty="0">
                <a:solidFill>
                  <a:schemeClr val="accent1"/>
                </a:solidFill>
                <a:latin typeface="OCR A Extended" panose="02010509020102010303" pitchFamily="50" charset="0"/>
              </a:rPr>
              <a:t>https://spec.openapis.org/oas/v3.0.3.html</a:t>
            </a:r>
            <a:r>
              <a:rPr lang="en-US" dirty="0"/>
              <a:t>  </a:t>
            </a:r>
          </a:p>
          <a:p>
            <a:r>
              <a:rPr lang="en-US" dirty="0"/>
              <a:t>Documentation of your API will</a:t>
            </a:r>
          </a:p>
          <a:p>
            <a:pPr lvl="1"/>
            <a:r>
              <a:rPr lang="en-US" dirty="0"/>
              <a:t>facilitate integrations with other services</a:t>
            </a:r>
          </a:p>
          <a:p>
            <a:pPr lvl="1"/>
            <a:r>
              <a:rPr lang="en-US" dirty="0"/>
              <a:t>facilitate MCP implementation</a:t>
            </a:r>
          </a:p>
          <a:p>
            <a:pPr lvl="1"/>
            <a:endParaRPr lang="en-US" dirty="0"/>
          </a:p>
          <a:p>
            <a:pPr lvl="1"/>
            <a:endParaRPr lang="en-US" dirty="0"/>
          </a:p>
        </p:txBody>
      </p:sp>
      <p:pic>
        <p:nvPicPr>
          <p:cNvPr id="5" name="Picture 4">
            <a:extLst>
              <a:ext uri="{FF2B5EF4-FFF2-40B4-BE49-F238E27FC236}">
                <a16:creationId xmlns:a16="http://schemas.microsoft.com/office/drawing/2014/main" id="{FA5ADFCC-D8F0-2956-26F7-FA1F7C5FFB81}"/>
              </a:ext>
            </a:extLst>
          </p:cNvPr>
          <p:cNvPicPr>
            <a:picLocks noChangeAspect="1"/>
          </p:cNvPicPr>
          <p:nvPr/>
        </p:nvPicPr>
        <p:blipFill>
          <a:blip r:embed="rId2"/>
          <a:stretch>
            <a:fillRect/>
          </a:stretch>
        </p:blipFill>
        <p:spPr>
          <a:xfrm>
            <a:off x="6627674" y="4340994"/>
            <a:ext cx="5179516" cy="2205878"/>
          </a:xfrm>
          <a:prstGeom prst="rect">
            <a:avLst/>
          </a:prstGeom>
        </p:spPr>
      </p:pic>
    </p:spTree>
    <p:extLst>
      <p:ext uri="{BB962C8B-B14F-4D97-AF65-F5344CB8AC3E}">
        <p14:creationId xmlns:p14="http://schemas.microsoft.com/office/powerpoint/2010/main" val="380639360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271713-3332-C5B6-F289-BFFCA0A6217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F4A7CA5-8618-9059-E3B8-13B3298F83EF}"/>
              </a:ext>
            </a:extLst>
          </p:cNvPr>
          <p:cNvSpPr>
            <a:spLocks noGrp="1"/>
          </p:cNvSpPr>
          <p:nvPr>
            <p:ph type="title"/>
          </p:nvPr>
        </p:nvSpPr>
        <p:spPr>
          <a:xfrm>
            <a:off x="913795" y="609600"/>
            <a:ext cx="5978072" cy="970450"/>
          </a:xfrm>
        </p:spPr>
        <p:txBody>
          <a:bodyPr>
            <a:normAutofit/>
          </a:bodyPr>
          <a:lstStyle/>
          <a:p>
            <a:pPr>
              <a:lnSpc>
                <a:spcPct val="90000"/>
              </a:lnSpc>
            </a:pPr>
            <a:r>
              <a:rPr lang="en-US" sz="3400" dirty="0"/>
              <a:t>Inspect the Code | Iteration 3</a:t>
            </a:r>
          </a:p>
        </p:txBody>
      </p:sp>
      <p:sp>
        <p:nvSpPr>
          <p:cNvPr id="13" name="Content Placeholder 12">
            <a:extLst>
              <a:ext uri="{FF2B5EF4-FFF2-40B4-BE49-F238E27FC236}">
                <a16:creationId xmlns:a16="http://schemas.microsoft.com/office/drawing/2014/main" id="{BE62FC0E-7F38-A768-685D-B7B7FA3B1D15}"/>
              </a:ext>
            </a:extLst>
          </p:cNvPr>
          <p:cNvSpPr>
            <a:spLocks noGrp="1"/>
          </p:cNvSpPr>
          <p:nvPr>
            <p:ph idx="1"/>
          </p:nvPr>
        </p:nvSpPr>
        <p:spPr>
          <a:xfrm>
            <a:off x="913795" y="1828801"/>
            <a:ext cx="5978072" cy="3866048"/>
          </a:xfrm>
        </p:spPr>
        <p:txBody>
          <a:bodyPr anchor="ctr">
            <a:normAutofit/>
          </a:bodyPr>
          <a:lstStyle/>
          <a:p>
            <a:r>
              <a:rPr lang="en-US" dirty="0"/>
              <a:t>Demo Time!</a:t>
            </a:r>
          </a:p>
          <a:p>
            <a:r>
              <a:rPr lang="en-US" dirty="0"/>
              <a:t>Let’s give it a spin!</a:t>
            </a:r>
          </a:p>
        </p:txBody>
      </p:sp>
      <p:pic>
        <p:nvPicPr>
          <p:cNvPr id="9" name="Content Placeholder 8" descr="Doctors discussing test results">
            <a:extLst>
              <a:ext uri="{FF2B5EF4-FFF2-40B4-BE49-F238E27FC236}">
                <a16:creationId xmlns:a16="http://schemas.microsoft.com/office/drawing/2014/main" id="{CBB572A6-9496-939B-B374-60E7CA7C712E}"/>
              </a:ext>
            </a:extLst>
          </p:cNvPr>
          <p:cNvPicPr>
            <a:picLocks noChangeAspect="1"/>
          </p:cNvPicPr>
          <p:nvPr/>
        </p:nvPicPr>
        <p:blipFill>
          <a:blip r:embed="rId2">
            <a:extLst>
              <a:ext uri="{28A0092B-C50C-407E-A947-70E740481C1C}">
                <a14:useLocalDpi xmlns:a14="http://schemas.microsoft.com/office/drawing/2010/main" val="0"/>
              </a:ext>
            </a:extLst>
          </a:blip>
          <a:srcRect l="39984" r="7756" b="1"/>
          <a:stretch>
            <a:fillRect/>
          </a:stretch>
        </p:blipFill>
        <p:spPr>
          <a:xfrm>
            <a:off x="7552945" y="643465"/>
            <a:ext cx="3995592" cy="5103372"/>
          </a:xfrm>
          <a:prstGeom prst="rect">
            <a:avLst/>
          </a:prstGeom>
        </p:spPr>
      </p:pic>
    </p:spTree>
    <p:extLst>
      <p:ext uri="{BB962C8B-B14F-4D97-AF65-F5344CB8AC3E}">
        <p14:creationId xmlns:p14="http://schemas.microsoft.com/office/powerpoint/2010/main" val="217415001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80000"/>
                <a:lumMod val="80000"/>
              </a:schemeClr>
              <a:schemeClr val="bg2">
                <a:tint val="98000"/>
              </a:schemeClr>
            </a:duotone>
          </a:blip>
          <a:stretch/>
        </a:blipFill>
        <a:effectLst/>
      </p:bgPr>
    </p:bg>
    <p:spTree>
      <p:nvGrpSpPr>
        <p:cNvPr id="1" name="">
          <a:extLst>
            <a:ext uri="{FF2B5EF4-FFF2-40B4-BE49-F238E27FC236}">
              <a16:creationId xmlns:a16="http://schemas.microsoft.com/office/drawing/2014/main" id="{8C076728-C9B4-46FB-22B0-F9918F3309A7}"/>
            </a:ext>
          </a:extLst>
        </p:cNvPr>
        <p:cNvGrpSpPr/>
        <p:nvPr/>
      </p:nvGrpSpPr>
      <p:grpSpPr>
        <a:xfrm>
          <a:off x="0" y="0"/>
          <a:ext cx="0" cy="0"/>
          <a:chOff x="0" y="0"/>
          <a:chExt cx="0" cy="0"/>
        </a:xfrm>
      </p:grpSpPr>
      <p:sp>
        <p:nvSpPr>
          <p:cNvPr id="8" name="Rectangle 7">
            <a:extLst>
              <a:ext uri="{FF2B5EF4-FFF2-40B4-BE49-F238E27FC236}">
                <a16:creationId xmlns:a16="http://schemas.microsoft.com/office/drawing/2014/main" id="{A2647538-478C-6CB5-98C2-4E5BE25EB51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321564" y="320040"/>
            <a:ext cx="11548872" cy="6217920"/>
          </a:xfrm>
          <a:prstGeom prst="rect">
            <a:avLst/>
          </a:prstGeom>
          <a:solidFill>
            <a:schemeClr val="bg1">
              <a:lumMod val="75000"/>
              <a:lumOff val="25000"/>
            </a:schemeClr>
          </a:solidFill>
          <a:ln>
            <a:noFill/>
          </a:ln>
          <a:effectLst>
            <a:innerShdw blurRad="63500" dist="50800" dir="162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E946DC9-3F51-12F7-7CE4-6A84DC30C8DF}"/>
              </a:ext>
            </a:extLst>
          </p:cNvPr>
          <p:cNvSpPr>
            <a:spLocks noGrp="1"/>
          </p:cNvSpPr>
          <p:nvPr>
            <p:ph type="title"/>
          </p:nvPr>
        </p:nvSpPr>
        <p:spPr>
          <a:xfrm>
            <a:off x="4377625" y="963507"/>
            <a:ext cx="6849344" cy="4995027"/>
          </a:xfrm>
        </p:spPr>
        <p:txBody>
          <a:bodyPr vert="horz" lIns="91440" tIns="45720" rIns="91440" bIns="45720" rtlCol="0" anchor="ctr">
            <a:normAutofit/>
          </a:bodyPr>
          <a:lstStyle/>
          <a:p>
            <a:pPr algn="l"/>
            <a:r>
              <a:rPr lang="en-US" sz="5200" dirty="0"/>
              <a:t>Module 8</a:t>
            </a:r>
          </a:p>
        </p:txBody>
      </p:sp>
      <p:sp>
        <p:nvSpPr>
          <p:cNvPr id="3" name="Content Placeholder 2">
            <a:extLst>
              <a:ext uri="{FF2B5EF4-FFF2-40B4-BE49-F238E27FC236}">
                <a16:creationId xmlns:a16="http://schemas.microsoft.com/office/drawing/2014/main" id="{04DDF3FA-9EA8-D9A1-F439-056391F6A697}"/>
              </a:ext>
            </a:extLst>
          </p:cNvPr>
          <p:cNvSpPr>
            <a:spLocks noGrp="1"/>
          </p:cNvSpPr>
          <p:nvPr>
            <p:ph idx="1"/>
          </p:nvPr>
        </p:nvSpPr>
        <p:spPr>
          <a:xfrm>
            <a:off x="965031" y="957287"/>
            <a:ext cx="2760795" cy="4995027"/>
          </a:xfrm>
        </p:spPr>
        <p:txBody>
          <a:bodyPr vert="horz" lIns="91440" tIns="45720" rIns="91440" bIns="45720" rtlCol="0" anchor="ctr">
            <a:normAutofit/>
          </a:bodyPr>
          <a:lstStyle/>
          <a:p>
            <a:pPr marL="0" indent="0" algn="r">
              <a:buNone/>
            </a:pPr>
            <a:r>
              <a:rPr lang="en-US" dirty="0">
                <a:solidFill>
                  <a:schemeClr val="tx1"/>
                </a:solidFill>
              </a:rPr>
              <a:t>Manufacturing</a:t>
            </a:r>
          </a:p>
          <a:p>
            <a:pPr marL="0" indent="0" algn="r">
              <a:buNone/>
            </a:pPr>
            <a:r>
              <a:rPr lang="en-US" dirty="0">
                <a:solidFill>
                  <a:schemeClr val="tx1"/>
                </a:solidFill>
              </a:rPr>
              <a:t>Applications</a:t>
            </a:r>
          </a:p>
          <a:p>
            <a:pPr marL="0" indent="0" algn="r">
              <a:buNone/>
            </a:pPr>
            <a:r>
              <a:rPr lang="en-US" dirty="0">
                <a:solidFill>
                  <a:schemeClr val="tx1"/>
                </a:solidFill>
              </a:rPr>
              <a:t>And MCP</a:t>
            </a:r>
          </a:p>
          <a:p>
            <a:pPr marL="0" indent="0" algn="r">
              <a:buNone/>
            </a:pPr>
            <a:r>
              <a:rPr lang="en-US" dirty="0">
                <a:solidFill>
                  <a:schemeClr val="tx1"/>
                </a:solidFill>
              </a:rPr>
              <a:t>Integrations</a:t>
            </a:r>
          </a:p>
        </p:txBody>
      </p:sp>
      <p:cxnSp>
        <p:nvCxnSpPr>
          <p:cNvPr id="10" name="Straight Connector 9">
            <a:extLst>
              <a:ext uri="{FF2B5EF4-FFF2-40B4-BE49-F238E27FC236}">
                <a16:creationId xmlns:a16="http://schemas.microsoft.com/office/drawing/2014/main" id="{75FC463A-8E64-5E32-AC27-01DFE05D1A6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055891" y="2057399"/>
            <a:ext cx="0" cy="2743200"/>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5507983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372D6A-3FF2-161C-F5ED-4A66C9E65ED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61CE1B1-48F7-D174-8C6F-D46A58D7BCC5}"/>
              </a:ext>
            </a:extLst>
          </p:cNvPr>
          <p:cNvSpPr>
            <a:spLocks noGrp="1"/>
          </p:cNvSpPr>
          <p:nvPr>
            <p:ph type="title"/>
          </p:nvPr>
        </p:nvSpPr>
        <p:spPr>
          <a:xfrm>
            <a:off x="919119" y="117157"/>
            <a:ext cx="10353762" cy="492443"/>
          </a:xfrm>
        </p:spPr>
        <p:txBody>
          <a:bodyPr>
            <a:normAutofit fontScale="90000"/>
          </a:bodyPr>
          <a:lstStyle/>
          <a:p>
            <a:r>
              <a:rPr lang="en-US" dirty="0"/>
              <a:t>Industrial Use Cases</a:t>
            </a:r>
          </a:p>
        </p:txBody>
      </p:sp>
      <p:sp>
        <p:nvSpPr>
          <p:cNvPr id="7" name="Content Placeholder 6">
            <a:extLst>
              <a:ext uri="{FF2B5EF4-FFF2-40B4-BE49-F238E27FC236}">
                <a16:creationId xmlns:a16="http://schemas.microsoft.com/office/drawing/2014/main" id="{26F62B33-19F2-4E3D-ECCD-59B8E07D9815}"/>
              </a:ext>
            </a:extLst>
          </p:cNvPr>
          <p:cNvSpPr>
            <a:spLocks noGrp="1"/>
          </p:cNvSpPr>
          <p:nvPr>
            <p:ph idx="1"/>
          </p:nvPr>
        </p:nvSpPr>
        <p:spPr>
          <a:xfrm>
            <a:off x="720157" y="1161827"/>
            <a:ext cx="3141838" cy="3119717"/>
          </a:xfrm>
        </p:spPr>
        <p:txBody>
          <a:bodyPr/>
          <a:lstStyle/>
          <a:p>
            <a:pPr marL="36900" indent="0">
              <a:buNone/>
            </a:pPr>
            <a:r>
              <a:rPr lang="en-US" dirty="0">
                <a:solidFill>
                  <a:srgbClr val="00B050"/>
                </a:solidFill>
              </a:rPr>
              <a:t>An API oriented towards ISA-95 style contract</a:t>
            </a:r>
          </a:p>
          <a:p>
            <a:r>
              <a:rPr lang="en-US" dirty="0" err="1"/>
              <a:t>api</a:t>
            </a:r>
            <a:r>
              <a:rPr lang="en-US" dirty="0"/>
              <a:t>/v1/enterprise</a:t>
            </a:r>
          </a:p>
          <a:p>
            <a:r>
              <a:rPr lang="en-US" dirty="0" err="1"/>
              <a:t>api</a:t>
            </a:r>
            <a:r>
              <a:rPr lang="en-US" dirty="0"/>
              <a:t>/v1/sites</a:t>
            </a:r>
          </a:p>
          <a:p>
            <a:r>
              <a:rPr lang="en-US" dirty="0" err="1"/>
              <a:t>api</a:t>
            </a:r>
            <a:r>
              <a:rPr lang="en-US" dirty="0"/>
              <a:t>/v1/areas/</a:t>
            </a:r>
          </a:p>
          <a:p>
            <a:r>
              <a:rPr lang="en-US" dirty="0" err="1"/>
              <a:t>api</a:t>
            </a:r>
            <a:r>
              <a:rPr lang="en-US" dirty="0"/>
              <a:t>/v1/cells</a:t>
            </a:r>
          </a:p>
          <a:p>
            <a:r>
              <a:rPr lang="en-US" dirty="0" err="1"/>
              <a:t>api</a:t>
            </a:r>
            <a:r>
              <a:rPr lang="en-US" dirty="0"/>
              <a:t>/v1/devices</a:t>
            </a:r>
          </a:p>
        </p:txBody>
      </p:sp>
      <p:sp>
        <p:nvSpPr>
          <p:cNvPr id="8" name="Content Placeholder 6">
            <a:extLst>
              <a:ext uri="{FF2B5EF4-FFF2-40B4-BE49-F238E27FC236}">
                <a16:creationId xmlns:a16="http://schemas.microsoft.com/office/drawing/2014/main" id="{3D055BFC-94EC-C496-52CB-364505050BAA}"/>
              </a:ext>
            </a:extLst>
          </p:cNvPr>
          <p:cNvSpPr txBox="1">
            <a:spLocks/>
          </p:cNvSpPr>
          <p:nvPr/>
        </p:nvSpPr>
        <p:spPr>
          <a:xfrm>
            <a:off x="3195021" y="4195483"/>
            <a:ext cx="3141838" cy="2216075"/>
          </a:xfrm>
          <a:prstGeom prst="rect">
            <a:avLst/>
          </a:prstGeom>
          <a:effectLst>
            <a:outerShdw blurRad="25400" dir="17880000">
              <a:srgbClr val="000000">
                <a:alpha val="46000"/>
              </a:srgbClr>
            </a:outerShdw>
          </a:effectLst>
        </p:spPr>
        <p:txBody>
          <a:bodyPr vert="horz" lIns="91440" tIns="45720" rIns="91440" bIns="45720" rtlCol="0" anchor="t">
            <a:normAutofit/>
          </a:bodyPr>
          <a:lstStyle>
            <a:lvl1pPr marL="342900" indent="-306000" algn="l" defTabSz="457200" rtl="0" eaLnBrk="1" latinLnBrk="0" hangingPunct="1">
              <a:spcBef>
                <a:spcPct val="20000"/>
              </a:spcBef>
              <a:spcAft>
                <a:spcPts val="600"/>
              </a:spcAft>
              <a:buClr>
                <a:schemeClr val="tx2"/>
              </a:buClr>
              <a:buSzPct val="70000"/>
              <a:buFont typeface="Wingdings 2" charset="2"/>
              <a:buChar char=""/>
              <a:defRPr sz="2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1pPr>
            <a:lvl2pPr marL="720000" indent="-270000" algn="l" defTabSz="457200" rtl="0" eaLnBrk="1" latinLnBrk="0" hangingPunct="1">
              <a:spcBef>
                <a:spcPct val="20000"/>
              </a:spcBef>
              <a:spcAft>
                <a:spcPts val="600"/>
              </a:spcAft>
              <a:buClr>
                <a:schemeClr val="tx2"/>
              </a:buClr>
              <a:buSzPct val="70000"/>
              <a:buFont typeface="Wingdings 2" charset="2"/>
              <a:buChar char=""/>
              <a:defRPr sz="18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2pPr>
            <a:lvl3pPr marL="1026000" indent="-216000" algn="l" defTabSz="457200" rtl="0" eaLnBrk="1" latinLnBrk="0" hangingPunct="1">
              <a:spcBef>
                <a:spcPct val="20000"/>
              </a:spcBef>
              <a:spcAft>
                <a:spcPts val="600"/>
              </a:spcAft>
              <a:buClr>
                <a:schemeClr val="tx2"/>
              </a:buClr>
              <a:buSzPct val="70000"/>
              <a:buFont typeface="Wingdings 2" charset="2"/>
              <a:buChar char=""/>
              <a:defRPr sz="16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3pPr>
            <a:lvl4pPr marL="1386000" indent="-2160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4pPr>
            <a:lvl5pPr marL="1674000" indent="-2160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5pPr>
            <a:lvl6pPr marL="20146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6pPr>
            <a:lvl7pPr marL="24018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7pPr>
            <a:lvl8pPr marL="27890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8pPr>
            <a:lvl9pPr marL="31062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9pPr>
          </a:lstStyle>
          <a:p>
            <a:pPr marL="36900" indent="0">
              <a:buNone/>
            </a:pPr>
            <a:r>
              <a:rPr lang="en-US" dirty="0">
                <a:solidFill>
                  <a:srgbClr val="00B0F0"/>
                </a:solidFill>
              </a:rPr>
              <a:t>Where to get individual resources?</a:t>
            </a:r>
          </a:p>
          <a:p>
            <a:r>
              <a:rPr lang="en-US" dirty="0" err="1"/>
              <a:t>api</a:t>
            </a:r>
            <a:r>
              <a:rPr lang="en-US" dirty="0"/>
              <a:t>/v1/areas/{id}</a:t>
            </a:r>
          </a:p>
          <a:p>
            <a:r>
              <a:rPr lang="en-US" dirty="0" err="1"/>
              <a:t>api</a:t>
            </a:r>
            <a:r>
              <a:rPr lang="en-US" dirty="0"/>
              <a:t>/v1/cells/{id}</a:t>
            </a:r>
          </a:p>
          <a:p>
            <a:r>
              <a:rPr lang="en-US" dirty="0" err="1"/>
              <a:t>api</a:t>
            </a:r>
            <a:r>
              <a:rPr lang="en-US" dirty="0"/>
              <a:t>/v1/devices/{id}</a:t>
            </a:r>
          </a:p>
        </p:txBody>
      </p:sp>
      <p:sp>
        <p:nvSpPr>
          <p:cNvPr id="9" name="Content Placeholder 6">
            <a:extLst>
              <a:ext uri="{FF2B5EF4-FFF2-40B4-BE49-F238E27FC236}">
                <a16:creationId xmlns:a16="http://schemas.microsoft.com/office/drawing/2014/main" id="{0C5BDB2C-7FAC-5278-2F79-791CAE4F0947}"/>
              </a:ext>
            </a:extLst>
          </p:cNvPr>
          <p:cNvSpPr txBox="1">
            <a:spLocks/>
          </p:cNvSpPr>
          <p:nvPr/>
        </p:nvSpPr>
        <p:spPr>
          <a:xfrm>
            <a:off x="5177409" y="1401491"/>
            <a:ext cx="4633565" cy="2002100"/>
          </a:xfrm>
          <a:prstGeom prst="rect">
            <a:avLst/>
          </a:prstGeom>
          <a:effectLst>
            <a:outerShdw blurRad="25400" dir="17880000">
              <a:srgbClr val="000000">
                <a:alpha val="46000"/>
              </a:srgbClr>
            </a:outerShdw>
          </a:effectLst>
        </p:spPr>
        <p:txBody>
          <a:bodyPr vert="horz" lIns="91440" tIns="45720" rIns="91440" bIns="45720" rtlCol="0" anchor="t">
            <a:normAutofit/>
          </a:bodyPr>
          <a:lstStyle>
            <a:lvl1pPr marL="342900" indent="-306000" algn="l" defTabSz="457200" rtl="0" eaLnBrk="1" latinLnBrk="0" hangingPunct="1">
              <a:spcBef>
                <a:spcPct val="20000"/>
              </a:spcBef>
              <a:spcAft>
                <a:spcPts val="600"/>
              </a:spcAft>
              <a:buClr>
                <a:schemeClr val="tx2"/>
              </a:buClr>
              <a:buSzPct val="70000"/>
              <a:buFont typeface="Wingdings 2" charset="2"/>
              <a:buChar char=""/>
              <a:defRPr sz="2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1pPr>
            <a:lvl2pPr marL="720000" indent="-270000" algn="l" defTabSz="457200" rtl="0" eaLnBrk="1" latinLnBrk="0" hangingPunct="1">
              <a:spcBef>
                <a:spcPct val="20000"/>
              </a:spcBef>
              <a:spcAft>
                <a:spcPts val="600"/>
              </a:spcAft>
              <a:buClr>
                <a:schemeClr val="tx2"/>
              </a:buClr>
              <a:buSzPct val="70000"/>
              <a:buFont typeface="Wingdings 2" charset="2"/>
              <a:buChar char=""/>
              <a:defRPr sz="18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2pPr>
            <a:lvl3pPr marL="1026000" indent="-216000" algn="l" defTabSz="457200" rtl="0" eaLnBrk="1" latinLnBrk="0" hangingPunct="1">
              <a:spcBef>
                <a:spcPct val="20000"/>
              </a:spcBef>
              <a:spcAft>
                <a:spcPts val="600"/>
              </a:spcAft>
              <a:buClr>
                <a:schemeClr val="tx2"/>
              </a:buClr>
              <a:buSzPct val="70000"/>
              <a:buFont typeface="Wingdings 2" charset="2"/>
              <a:buChar char=""/>
              <a:defRPr sz="16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3pPr>
            <a:lvl4pPr marL="1386000" indent="-2160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4pPr>
            <a:lvl5pPr marL="1674000" indent="-2160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5pPr>
            <a:lvl6pPr marL="20146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6pPr>
            <a:lvl7pPr marL="24018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7pPr>
            <a:lvl8pPr marL="27890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8pPr>
            <a:lvl9pPr marL="31062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9pPr>
          </a:lstStyle>
          <a:p>
            <a:pPr marL="36900" indent="0">
              <a:buNone/>
            </a:pPr>
            <a:r>
              <a:rPr lang="en-US" dirty="0">
                <a:solidFill>
                  <a:srgbClr val="FFC000"/>
                </a:solidFill>
              </a:rPr>
              <a:t>Where to get work orders?</a:t>
            </a:r>
          </a:p>
          <a:p>
            <a:r>
              <a:rPr lang="en-US" dirty="0" err="1"/>
              <a:t>api</a:t>
            </a:r>
            <a:r>
              <a:rPr lang="en-US" dirty="0"/>
              <a:t>/v1/areas/{id}/work-orders</a:t>
            </a:r>
          </a:p>
          <a:p>
            <a:r>
              <a:rPr lang="en-US" dirty="0" err="1"/>
              <a:t>api</a:t>
            </a:r>
            <a:r>
              <a:rPr lang="en-US" dirty="0"/>
              <a:t>/v1/cells/{id}/work-orders</a:t>
            </a:r>
          </a:p>
          <a:p>
            <a:r>
              <a:rPr lang="en-US" dirty="0" err="1"/>
              <a:t>api</a:t>
            </a:r>
            <a:r>
              <a:rPr lang="en-US" dirty="0"/>
              <a:t>/v1/devices/{id}/work-orders</a:t>
            </a:r>
          </a:p>
        </p:txBody>
      </p:sp>
      <p:sp>
        <p:nvSpPr>
          <p:cNvPr id="10" name="Content Placeholder 6">
            <a:extLst>
              <a:ext uri="{FF2B5EF4-FFF2-40B4-BE49-F238E27FC236}">
                <a16:creationId xmlns:a16="http://schemas.microsoft.com/office/drawing/2014/main" id="{58589B28-9079-B774-974A-CD1AF4C07D34}"/>
              </a:ext>
            </a:extLst>
          </p:cNvPr>
          <p:cNvSpPr txBox="1">
            <a:spLocks/>
          </p:cNvSpPr>
          <p:nvPr/>
        </p:nvSpPr>
        <p:spPr>
          <a:xfrm>
            <a:off x="7844117" y="4195482"/>
            <a:ext cx="3141838" cy="2216075"/>
          </a:xfrm>
          <a:prstGeom prst="rect">
            <a:avLst/>
          </a:prstGeom>
          <a:effectLst>
            <a:outerShdw blurRad="25400" dir="17880000">
              <a:srgbClr val="000000">
                <a:alpha val="46000"/>
              </a:srgbClr>
            </a:outerShdw>
          </a:effectLst>
        </p:spPr>
        <p:txBody>
          <a:bodyPr vert="horz" lIns="91440" tIns="45720" rIns="91440" bIns="45720" rtlCol="0" anchor="t">
            <a:normAutofit/>
          </a:bodyPr>
          <a:lstStyle>
            <a:lvl1pPr marL="342900" indent="-306000" algn="l" defTabSz="457200" rtl="0" eaLnBrk="1" latinLnBrk="0" hangingPunct="1">
              <a:spcBef>
                <a:spcPct val="20000"/>
              </a:spcBef>
              <a:spcAft>
                <a:spcPts val="600"/>
              </a:spcAft>
              <a:buClr>
                <a:schemeClr val="tx2"/>
              </a:buClr>
              <a:buSzPct val="70000"/>
              <a:buFont typeface="Wingdings 2" charset="2"/>
              <a:buChar char=""/>
              <a:defRPr sz="2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1pPr>
            <a:lvl2pPr marL="720000" indent="-270000" algn="l" defTabSz="457200" rtl="0" eaLnBrk="1" latinLnBrk="0" hangingPunct="1">
              <a:spcBef>
                <a:spcPct val="20000"/>
              </a:spcBef>
              <a:spcAft>
                <a:spcPts val="600"/>
              </a:spcAft>
              <a:buClr>
                <a:schemeClr val="tx2"/>
              </a:buClr>
              <a:buSzPct val="70000"/>
              <a:buFont typeface="Wingdings 2" charset="2"/>
              <a:buChar char=""/>
              <a:defRPr sz="18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2pPr>
            <a:lvl3pPr marL="1026000" indent="-216000" algn="l" defTabSz="457200" rtl="0" eaLnBrk="1" latinLnBrk="0" hangingPunct="1">
              <a:spcBef>
                <a:spcPct val="20000"/>
              </a:spcBef>
              <a:spcAft>
                <a:spcPts val="600"/>
              </a:spcAft>
              <a:buClr>
                <a:schemeClr val="tx2"/>
              </a:buClr>
              <a:buSzPct val="70000"/>
              <a:buFont typeface="Wingdings 2" charset="2"/>
              <a:buChar char=""/>
              <a:defRPr sz="16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3pPr>
            <a:lvl4pPr marL="1386000" indent="-2160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4pPr>
            <a:lvl5pPr marL="1674000" indent="-2160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5pPr>
            <a:lvl6pPr marL="20146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6pPr>
            <a:lvl7pPr marL="24018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7pPr>
            <a:lvl8pPr marL="27890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8pPr>
            <a:lvl9pPr marL="31062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9pPr>
          </a:lstStyle>
          <a:p>
            <a:pPr marL="36900" indent="0">
              <a:buNone/>
            </a:pPr>
            <a:r>
              <a:rPr lang="en-US" dirty="0">
                <a:solidFill>
                  <a:schemeClr val="accent3"/>
                </a:solidFill>
              </a:rPr>
              <a:t>What about relationships?</a:t>
            </a:r>
          </a:p>
          <a:p>
            <a:r>
              <a:rPr lang="en-US" dirty="0"/>
              <a:t>???</a:t>
            </a:r>
          </a:p>
          <a:p>
            <a:r>
              <a:rPr lang="en-US" dirty="0"/>
              <a:t>???</a:t>
            </a:r>
          </a:p>
          <a:p>
            <a:r>
              <a:rPr lang="en-US" dirty="0"/>
              <a:t>???</a:t>
            </a:r>
          </a:p>
        </p:txBody>
      </p:sp>
    </p:spTree>
    <p:extLst>
      <p:ext uri="{BB962C8B-B14F-4D97-AF65-F5344CB8AC3E}">
        <p14:creationId xmlns:p14="http://schemas.microsoft.com/office/powerpoint/2010/main" val="425984437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931C3D-83D1-B193-043A-79D0154942AE}"/>
              </a:ext>
            </a:extLst>
          </p:cNvPr>
          <p:cNvSpPr>
            <a:spLocks noGrp="1"/>
          </p:cNvSpPr>
          <p:nvPr>
            <p:ph type="title"/>
          </p:nvPr>
        </p:nvSpPr>
        <p:spPr>
          <a:xfrm>
            <a:off x="512536" y="75383"/>
            <a:ext cx="10353762" cy="492443"/>
          </a:xfrm>
        </p:spPr>
        <p:txBody>
          <a:bodyPr>
            <a:normAutofit fontScale="90000"/>
          </a:bodyPr>
          <a:lstStyle/>
          <a:p>
            <a:pPr algn="l"/>
            <a:r>
              <a:rPr lang="en-US" dirty="0"/>
              <a:t>Industrial Use Cases</a:t>
            </a:r>
          </a:p>
        </p:txBody>
      </p:sp>
      <p:sp>
        <p:nvSpPr>
          <p:cNvPr id="3" name="Content Placeholder 2">
            <a:extLst>
              <a:ext uri="{FF2B5EF4-FFF2-40B4-BE49-F238E27FC236}">
                <a16:creationId xmlns:a16="http://schemas.microsoft.com/office/drawing/2014/main" id="{D3DD9EA5-7158-2341-0F8D-4935FEEC6E71}"/>
              </a:ext>
            </a:extLst>
          </p:cNvPr>
          <p:cNvSpPr>
            <a:spLocks noGrp="1"/>
          </p:cNvSpPr>
          <p:nvPr>
            <p:ph idx="1"/>
          </p:nvPr>
        </p:nvSpPr>
        <p:spPr>
          <a:xfrm>
            <a:off x="660935" y="914136"/>
            <a:ext cx="5697017" cy="1087249"/>
          </a:xfrm>
        </p:spPr>
        <p:txBody>
          <a:bodyPr>
            <a:normAutofit lnSpcReduction="10000"/>
          </a:bodyPr>
          <a:lstStyle/>
          <a:p>
            <a:pPr marL="36900" indent="0">
              <a:buNone/>
            </a:pPr>
            <a:r>
              <a:rPr lang="en-US" dirty="0"/>
              <a:t>An API oriented towards  CESMII/API standardization | </a:t>
            </a:r>
            <a:r>
              <a:rPr lang="en-US" sz="1300" dirty="0">
                <a:solidFill>
                  <a:schemeClr val="accent1"/>
                </a:solidFill>
                <a:latin typeface="OCR A Extended" panose="02010509020102010303" pitchFamily="50" charset="0"/>
              </a:rPr>
              <a:t>github.com/</a:t>
            </a:r>
            <a:r>
              <a:rPr lang="en-US" sz="1300" dirty="0" err="1">
                <a:solidFill>
                  <a:schemeClr val="accent1"/>
                </a:solidFill>
                <a:latin typeface="OCR A Extended" panose="02010509020102010303" pitchFamily="50" charset="0"/>
              </a:rPr>
              <a:t>cesmii</a:t>
            </a:r>
            <a:r>
              <a:rPr lang="en-US" sz="1300" dirty="0">
                <a:solidFill>
                  <a:schemeClr val="accent1"/>
                </a:solidFill>
                <a:latin typeface="OCR A Extended" panose="02010509020102010303" pitchFamily="50" charset="0"/>
              </a:rPr>
              <a:t>/</a:t>
            </a:r>
            <a:r>
              <a:rPr lang="en-US" sz="1300" dirty="0" err="1">
                <a:solidFill>
                  <a:schemeClr val="accent1"/>
                </a:solidFill>
                <a:latin typeface="OCR A Extended" panose="02010509020102010303" pitchFamily="50" charset="0"/>
              </a:rPr>
              <a:t>api</a:t>
            </a:r>
            <a:r>
              <a:rPr lang="en-US" sz="1300" dirty="0">
                <a:solidFill>
                  <a:schemeClr val="accent1"/>
                </a:solidFill>
                <a:latin typeface="OCR A Extended" panose="02010509020102010303" pitchFamily="50" charset="0"/>
              </a:rPr>
              <a:t>/issues/94</a:t>
            </a:r>
          </a:p>
          <a:p>
            <a:r>
              <a:rPr lang="en-US" dirty="0"/>
              <a:t>Is it easier to generalize?</a:t>
            </a:r>
          </a:p>
        </p:txBody>
      </p:sp>
      <p:pic>
        <p:nvPicPr>
          <p:cNvPr id="5" name="Picture 4">
            <a:extLst>
              <a:ext uri="{FF2B5EF4-FFF2-40B4-BE49-F238E27FC236}">
                <a16:creationId xmlns:a16="http://schemas.microsoft.com/office/drawing/2014/main" id="{E0B6E626-4BBA-7DE1-417C-6913A6F2DB37}"/>
              </a:ext>
            </a:extLst>
          </p:cNvPr>
          <p:cNvPicPr>
            <a:picLocks noChangeAspect="1"/>
          </p:cNvPicPr>
          <p:nvPr/>
        </p:nvPicPr>
        <p:blipFill>
          <a:blip r:embed="rId2"/>
          <a:stretch>
            <a:fillRect/>
          </a:stretch>
        </p:blipFill>
        <p:spPr>
          <a:xfrm>
            <a:off x="7594899" y="567826"/>
            <a:ext cx="4084565" cy="6152456"/>
          </a:xfrm>
          <a:prstGeom prst="rect">
            <a:avLst/>
          </a:prstGeom>
        </p:spPr>
      </p:pic>
      <p:pic>
        <p:nvPicPr>
          <p:cNvPr id="6" name="Picture 5">
            <a:extLst>
              <a:ext uri="{FF2B5EF4-FFF2-40B4-BE49-F238E27FC236}">
                <a16:creationId xmlns:a16="http://schemas.microsoft.com/office/drawing/2014/main" id="{973765EB-8786-F6A2-1C4E-F88F8AED777A}"/>
              </a:ext>
            </a:extLst>
          </p:cNvPr>
          <p:cNvPicPr>
            <a:picLocks noChangeAspect="1"/>
          </p:cNvPicPr>
          <p:nvPr/>
        </p:nvPicPr>
        <p:blipFill>
          <a:blip r:embed="rId3"/>
          <a:stretch>
            <a:fillRect/>
          </a:stretch>
        </p:blipFill>
        <p:spPr>
          <a:xfrm>
            <a:off x="512536" y="2266293"/>
            <a:ext cx="5845416" cy="4350569"/>
          </a:xfrm>
          <a:prstGeom prst="rect">
            <a:avLst/>
          </a:prstGeom>
        </p:spPr>
      </p:pic>
    </p:spTree>
    <p:extLst>
      <p:ext uri="{BB962C8B-B14F-4D97-AF65-F5344CB8AC3E}">
        <p14:creationId xmlns:p14="http://schemas.microsoft.com/office/powerpoint/2010/main" val="197843859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80000"/>
                <a:lumMod val="80000"/>
              </a:schemeClr>
              <a:schemeClr val="bg2">
                <a:tint val="98000"/>
              </a:schemeClr>
            </a:duotone>
          </a:blip>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2B0C8C-06B0-43B1-2572-F3D4D2527147}"/>
              </a:ext>
            </a:extLst>
          </p:cNvPr>
          <p:cNvSpPr>
            <a:spLocks noGrp="1"/>
          </p:cNvSpPr>
          <p:nvPr>
            <p:ph type="title"/>
          </p:nvPr>
        </p:nvSpPr>
        <p:spPr>
          <a:xfrm>
            <a:off x="5146159" y="146613"/>
            <a:ext cx="5978072" cy="970450"/>
          </a:xfrm>
        </p:spPr>
        <p:txBody>
          <a:bodyPr>
            <a:normAutofit/>
          </a:bodyPr>
          <a:lstStyle/>
          <a:p>
            <a:r>
              <a:rPr lang="en-US" dirty="0"/>
              <a:t>REST for MCP…</a:t>
            </a:r>
          </a:p>
        </p:txBody>
      </p:sp>
      <p:pic>
        <p:nvPicPr>
          <p:cNvPr id="5" name="Picture 4">
            <a:extLst>
              <a:ext uri="{FF2B5EF4-FFF2-40B4-BE49-F238E27FC236}">
                <a16:creationId xmlns:a16="http://schemas.microsoft.com/office/drawing/2014/main" id="{A9AEA669-AB17-EC13-BBE9-5EBBFF53145B}"/>
              </a:ext>
            </a:extLst>
          </p:cNvPr>
          <p:cNvPicPr>
            <a:picLocks noChangeAspect="1"/>
          </p:cNvPicPr>
          <p:nvPr/>
        </p:nvPicPr>
        <p:blipFill>
          <a:blip r:embed="rId3"/>
          <a:srcRect l="12619" r="20384"/>
          <a:stretch>
            <a:fillRect/>
          </a:stretch>
        </p:blipFill>
        <p:spPr>
          <a:xfrm>
            <a:off x="-10649" y="1"/>
            <a:ext cx="4571649" cy="6858000"/>
          </a:xfrm>
          <a:prstGeom prst="rect">
            <a:avLst/>
          </a:prstGeom>
        </p:spPr>
      </p:pic>
      <p:sp>
        <p:nvSpPr>
          <p:cNvPr id="3" name="Content Placeholder 2">
            <a:extLst>
              <a:ext uri="{FF2B5EF4-FFF2-40B4-BE49-F238E27FC236}">
                <a16:creationId xmlns:a16="http://schemas.microsoft.com/office/drawing/2014/main" id="{B7B5E19D-BF47-A836-101E-8C11F00A35B6}"/>
              </a:ext>
            </a:extLst>
          </p:cNvPr>
          <p:cNvSpPr>
            <a:spLocks noGrp="1"/>
          </p:cNvSpPr>
          <p:nvPr>
            <p:ph idx="1"/>
          </p:nvPr>
        </p:nvSpPr>
        <p:spPr>
          <a:xfrm>
            <a:off x="5146159" y="1203767"/>
            <a:ext cx="6683167" cy="5347504"/>
          </a:xfrm>
        </p:spPr>
        <p:txBody>
          <a:bodyPr anchor="ctr">
            <a:noAutofit/>
          </a:bodyPr>
          <a:lstStyle/>
          <a:p>
            <a:pPr>
              <a:lnSpc>
                <a:spcPct val="90000"/>
              </a:lnSpc>
            </a:pPr>
            <a:r>
              <a:rPr lang="en-US" sz="1600" dirty="0">
                <a:solidFill>
                  <a:schemeClr val="accent3"/>
                </a:solidFill>
              </a:rPr>
              <a:t>Decoupled nature of a REST API </a:t>
            </a:r>
            <a:r>
              <a:rPr lang="en-US" sz="1600" dirty="0"/>
              <a:t>allows agents to access relevant tools</a:t>
            </a:r>
          </a:p>
          <a:p>
            <a:pPr lvl="1">
              <a:lnSpc>
                <a:spcPct val="90000"/>
              </a:lnSpc>
            </a:pPr>
            <a:r>
              <a:rPr lang="en-US" sz="1600" dirty="0"/>
              <a:t>Helps reduce custom integrations ( </a:t>
            </a:r>
            <a:r>
              <a:rPr lang="en-US" sz="1600" dirty="0" err="1"/>
              <a:t>NxM</a:t>
            </a:r>
            <a:r>
              <a:rPr lang="en-US" sz="1600" dirty="0"/>
              <a:t> problem)</a:t>
            </a:r>
          </a:p>
          <a:p>
            <a:pPr>
              <a:lnSpc>
                <a:spcPct val="90000"/>
              </a:lnSpc>
            </a:pPr>
            <a:r>
              <a:rPr lang="en-US" sz="1600" dirty="0">
                <a:solidFill>
                  <a:schemeClr val="accent3"/>
                </a:solidFill>
              </a:rPr>
              <a:t>Statelessness of REST</a:t>
            </a:r>
            <a:r>
              <a:rPr lang="en-US" sz="1600" dirty="0"/>
              <a:t> enables MCP scalability (think NFRs)</a:t>
            </a:r>
          </a:p>
          <a:p>
            <a:pPr lvl="1">
              <a:lnSpc>
                <a:spcPct val="90000"/>
              </a:lnSpc>
            </a:pPr>
            <a:r>
              <a:rPr lang="en-US" sz="1600" dirty="0"/>
              <a:t>Helps with context window limits issues</a:t>
            </a:r>
          </a:p>
          <a:p>
            <a:pPr>
              <a:lnSpc>
                <a:spcPct val="90000"/>
              </a:lnSpc>
            </a:pPr>
            <a:r>
              <a:rPr lang="en-US" sz="1600" dirty="0">
                <a:solidFill>
                  <a:schemeClr val="accent3"/>
                </a:solidFill>
              </a:rPr>
              <a:t>Cache-ability of REST </a:t>
            </a:r>
            <a:r>
              <a:rPr lang="en-US" sz="1600" dirty="0"/>
              <a:t>improves MCP Efficiency</a:t>
            </a:r>
          </a:p>
          <a:p>
            <a:pPr lvl="1">
              <a:lnSpc>
                <a:spcPct val="90000"/>
              </a:lnSpc>
            </a:pPr>
            <a:r>
              <a:rPr lang="en-US" sz="1600" dirty="0"/>
              <a:t>Reduces latency. Improves model response</a:t>
            </a:r>
          </a:p>
          <a:p>
            <a:pPr>
              <a:lnSpc>
                <a:spcPct val="90000"/>
              </a:lnSpc>
            </a:pPr>
            <a:r>
              <a:rPr lang="en-US" sz="1600" dirty="0">
                <a:solidFill>
                  <a:schemeClr val="accent3"/>
                </a:solidFill>
              </a:rPr>
              <a:t>A stable API “contract” </a:t>
            </a:r>
            <a:r>
              <a:rPr lang="en-US" sz="1600" dirty="0"/>
              <a:t>promotes MCP Interoperability</a:t>
            </a:r>
          </a:p>
          <a:p>
            <a:pPr lvl="1">
              <a:lnSpc>
                <a:spcPct val="90000"/>
              </a:lnSpc>
            </a:pPr>
            <a:r>
              <a:rPr lang="en-US" sz="1600" dirty="0"/>
              <a:t>Helps reduce hallucinations</a:t>
            </a:r>
          </a:p>
          <a:p>
            <a:pPr>
              <a:lnSpc>
                <a:spcPct val="90000"/>
              </a:lnSpc>
            </a:pPr>
            <a:r>
              <a:rPr lang="en-US" sz="1600" dirty="0">
                <a:solidFill>
                  <a:schemeClr val="accent3"/>
                </a:solidFill>
              </a:rPr>
              <a:t>Layered System</a:t>
            </a:r>
            <a:r>
              <a:rPr lang="en-US" sz="1600" dirty="0"/>
              <a:t> enables MCP Extensibility</a:t>
            </a:r>
          </a:p>
          <a:p>
            <a:pPr lvl="1">
              <a:lnSpc>
                <a:spcPct val="90000"/>
              </a:lnSpc>
            </a:pPr>
            <a:r>
              <a:rPr lang="en-US" sz="1600" dirty="0"/>
              <a:t>Security. Control abuse. Logging.</a:t>
            </a:r>
          </a:p>
          <a:p>
            <a:pPr>
              <a:lnSpc>
                <a:spcPct val="90000"/>
              </a:lnSpc>
            </a:pPr>
            <a:r>
              <a:rPr lang="en-US" sz="1600" dirty="0">
                <a:solidFill>
                  <a:schemeClr val="accent3"/>
                </a:solidFill>
              </a:rPr>
              <a:t>Richardson Maturity Model </a:t>
            </a:r>
            <a:r>
              <a:rPr lang="en-US" sz="1600" dirty="0"/>
              <a:t>adoption improves MCP interpretation of tool capabilities</a:t>
            </a:r>
          </a:p>
          <a:p>
            <a:pPr lvl="1">
              <a:lnSpc>
                <a:spcPct val="90000"/>
              </a:lnSpc>
            </a:pPr>
            <a:r>
              <a:rPr lang="en-US" sz="1600" dirty="0"/>
              <a:t>Adequate HTTP Verbs, HTTP response codes, and </a:t>
            </a:r>
            <a:r>
              <a:rPr lang="en-US" sz="1600" dirty="0" err="1"/>
              <a:t>OpenAPI</a:t>
            </a:r>
            <a:r>
              <a:rPr lang="en-US" sz="1600" dirty="0"/>
              <a:t> Spec definitions educate an Agent about MCP capabilities</a:t>
            </a:r>
          </a:p>
          <a:p>
            <a:pPr>
              <a:lnSpc>
                <a:spcPct val="90000"/>
              </a:lnSpc>
            </a:pPr>
            <a:r>
              <a:rPr lang="en-US" sz="1600" dirty="0"/>
              <a:t>Others?</a:t>
            </a:r>
          </a:p>
        </p:txBody>
      </p:sp>
      <p:pic>
        <p:nvPicPr>
          <p:cNvPr id="10" name="Picture 9">
            <a:extLst>
              <a:ext uri="{FF2B5EF4-FFF2-40B4-BE49-F238E27FC236}">
                <a16:creationId xmlns:a16="http://schemas.microsoft.com/office/drawing/2014/main" id="{A59FFE16-5BBD-489F-B8B3-934A79241F2B}"/>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t="964" r="2807" b="1446"/>
          <a:stretch/>
        </p:blipFill>
        <p:spPr>
          <a:xfrm>
            <a:off x="-10649" y="1"/>
            <a:ext cx="4690532" cy="6858000"/>
          </a:xfrm>
          <a:prstGeom prst="rect">
            <a:avLst/>
          </a:prstGeom>
        </p:spPr>
      </p:pic>
    </p:spTree>
    <p:extLst>
      <p:ext uri="{BB962C8B-B14F-4D97-AF65-F5344CB8AC3E}">
        <p14:creationId xmlns:p14="http://schemas.microsoft.com/office/powerpoint/2010/main" val="208906787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AEAA12-0E4F-DD04-0FB7-68254602F9D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D8DDFBF-0239-975F-0879-2A6F8B0D8B47}"/>
              </a:ext>
            </a:extLst>
          </p:cNvPr>
          <p:cNvSpPr>
            <a:spLocks noGrp="1"/>
          </p:cNvSpPr>
          <p:nvPr>
            <p:ph type="title"/>
          </p:nvPr>
        </p:nvSpPr>
        <p:spPr>
          <a:xfrm>
            <a:off x="4377625" y="963507"/>
            <a:ext cx="6849344" cy="4995027"/>
          </a:xfrm>
        </p:spPr>
        <p:txBody>
          <a:bodyPr vert="horz" lIns="91440" tIns="45720" rIns="91440" bIns="45720" rtlCol="0" anchor="ctr">
            <a:normAutofit/>
          </a:bodyPr>
          <a:lstStyle/>
          <a:p>
            <a:pPr algn="l"/>
            <a:r>
              <a:rPr lang="en-US" sz="5200" dirty="0"/>
              <a:t>The</a:t>
            </a:r>
            <a:br>
              <a:rPr lang="en-US" sz="5200" dirty="0"/>
            </a:br>
            <a:r>
              <a:rPr lang="en-US" sz="5200" dirty="0"/>
              <a:t>Recap _</a:t>
            </a:r>
          </a:p>
        </p:txBody>
      </p:sp>
      <p:sp>
        <p:nvSpPr>
          <p:cNvPr id="3" name="Content Placeholder 2">
            <a:extLst>
              <a:ext uri="{FF2B5EF4-FFF2-40B4-BE49-F238E27FC236}">
                <a16:creationId xmlns:a16="http://schemas.microsoft.com/office/drawing/2014/main" id="{14694732-554A-B817-3CF2-24C5282F4DE4}"/>
              </a:ext>
            </a:extLst>
          </p:cNvPr>
          <p:cNvSpPr>
            <a:spLocks noGrp="1"/>
          </p:cNvSpPr>
          <p:nvPr>
            <p:ph idx="1"/>
          </p:nvPr>
        </p:nvSpPr>
        <p:spPr>
          <a:xfrm>
            <a:off x="965031" y="957287"/>
            <a:ext cx="2760795" cy="4995027"/>
          </a:xfrm>
        </p:spPr>
        <p:txBody>
          <a:bodyPr vert="horz" lIns="91440" tIns="45720" rIns="91440" bIns="45720" rtlCol="0" anchor="ctr">
            <a:normAutofit/>
          </a:bodyPr>
          <a:lstStyle/>
          <a:p>
            <a:pPr marL="0" indent="0" algn="r">
              <a:buNone/>
            </a:pPr>
            <a:r>
              <a:rPr lang="en-US" dirty="0">
                <a:solidFill>
                  <a:schemeClr val="tx1"/>
                </a:solidFill>
              </a:rPr>
              <a:t>Day</a:t>
            </a:r>
          </a:p>
          <a:p>
            <a:pPr marL="0" indent="0" algn="r">
              <a:buNone/>
            </a:pPr>
            <a:r>
              <a:rPr lang="en-US" dirty="0">
                <a:solidFill>
                  <a:schemeClr val="tx1"/>
                </a:solidFill>
              </a:rPr>
              <a:t>Dos</a:t>
            </a:r>
          </a:p>
        </p:txBody>
      </p:sp>
    </p:spTree>
    <p:extLst>
      <p:ext uri="{BB962C8B-B14F-4D97-AF65-F5344CB8AC3E}">
        <p14:creationId xmlns:p14="http://schemas.microsoft.com/office/powerpoint/2010/main" val="7547071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A1F2D0-7645-8C0D-6D38-1695E40D0860}"/>
              </a:ext>
            </a:extLst>
          </p:cNvPr>
          <p:cNvSpPr>
            <a:spLocks noGrp="1"/>
          </p:cNvSpPr>
          <p:nvPr>
            <p:ph type="title"/>
          </p:nvPr>
        </p:nvSpPr>
        <p:spPr/>
        <p:txBody>
          <a:bodyPr/>
          <a:lstStyle/>
          <a:p>
            <a:r>
              <a:rPr lang="en-US" dirty="0"/>
              <a:t>Day Two | Recap</a:t>
            </a:r>
          </a:p>
        </p:txBody>
      </p:sp>
      <p:sp>
        <p:nvSpPr>
          <p:cNvPr id="3" name="Content Placeholder 2">
            <a:extLst>
              <a:ext uri="{FF2B5EF4-FFF2-40B4-BE49-F238E27FC236}">
                <a16:creationId xmlns:a16="http://schemas.microsoft.com/office/drawing/2014/main" id="{74ED2E6E-0FA0-9295-55FF-481260CA906B}"/>
              </a:ext>
            </a:extLst>
          </p:cNvPr>
          <p:cNvSpPr>
            <a:spLocks noGrp="1"/>
          </p:cNvSpPr>
          <p:nvPr>
            <p:ph idx="1"/>
          </p:nvPr>
        </p:nvSpPr>
        <p:spPr>
          <a:xfrm>
            <a:off x="913795" y="1732449"/>
            <a:ext cx="4490309" cy="4058751"/>
          </a:xfrm>
        </p:spPr>
        <p:txBody>
          <a:bodyPr>
            <a:normAutofit fontScale="85000" lnSpcReduction="10000"/>
          </a:bodyPr>
          <a:lstStyle/>
          <a:p>
            <a:r>
              <a:rPr lang="en-US" dirty="0"/>
              <a:t>Created REST API application with Python’s </a:t>
            </a:r>
            <a:r>
              <a:rPr lang="en-US" dirty="0" err="1"/>
              <a:t>FastAPI</a:t>
            </a:r>
            <a:r>
              <a:rPr lang="en-US" dirty="0"/>
              <a:t> library</a:t>
            </a:r>
          </a:p>
          <a:p>
            <a:r>
              <a:rPr lang="en-US" dirty="0"/>
              <a:t>Implemented a basic REST API for a library</a:t>
            </a:r>
          </a:p>
          <a:p>
            <a:r>
              <a:rPr lang="en-US" dirty="0"/>
              <a:t>Discussed Error Handling</a:t>
            </a:r>
          </a:p>
          <a:p>
            <a:r>
              <a:rPr lang="en-US" dirty="0"/>
              <a:t>Discussed API Security basics</a:t>
            </a:r>
          </a:p>
          <a:p>
            <a:r>
              <a:rPr lang="en-US" dirty="0"/>
              <a:t>Iterated on the basic API and added a security layer with OAuth 2.0 (with Auth0)</a:t>
            </a:r>
          </a:p>
          <a:p>
            <a:r>
              <a:rPr lang="en-US" dirty="0"/>
              <a:t>Iterated on the API and added rate-limiting capabilities</a:t>
            </a:r>
          </a:p>
          <a:p>
            <a:r>
              <a:rPr lang="en-US" dirty="0"/>
              <a:t>Iterated on the API and added sustainable evolution (versioning) approach</a:t>
            </a:r>
          </a:p>
        </p:txBody>
      </p:sp>
      <p:sp>
        <p:nvSpPr>
          <p:cNvPr id="4" name="Content Placeholder 2">
            <a:extLst>
              <a:ext uri="{FF2B5EF4-FFF2-40B4-BE49-F238E27FC236}">
                <a16:creationId xmlns:a16="http://schemas.microsoft.com/office/drawing/2014/main" id="{852E801D-814F-6A93-6B68-EA86D9377845}"/>
              </a:ext>
            </a:extLst>
          </p:cNvPr>
          <p:cNvSpPr txBox="1">
            <a:spLocks/>
          </p:cNvSpPr>
          <p:nvPr/>
        </p:nvSpPr>
        <p:spPr>
          <a:xfrm>
            <a:off x="6090676" y="1732449"/>
            <a:ext cx="4490309" cy="4058751"/>
          </a:xfrm>
          <a:prstGeom prst="rect">
            <a:avLst/>
          </a:prstGeom>
          <a:effectLst>
            <a:outerShdw blurRad="25400" dir="17880000">
              <a:srgbClr val="000000">
                <a:alpha val="46000"/>
              </a:srgbClr>
            </a:outerShdw>
          </a:effectLst>
        </p:spPr>
        <p:txBody>
          <a:bodyPr vert="horz" lIns="91440" tIns="45720" rIns="91440" bIns="45720" rtlCol="0" anchor="t">
            <a:normAutofit/>
          </a:bodyPr>
          <a:lstStyle>
            <a:lvl1pPr marL="342900" indent="-306000" algn="l" defTabSz="457200" rtl="0" eaLnBrk="1" latinLnBrk="0" hangingPunct="1">
              <a:spcBef>
                <a:spcPct val="20000"/>
              </a:spcBef>
              <a:spcAft>
                <a:spcPts val="600"/>
              </a:spcAft>
              <a:buClr>
                <a:schemeClr val="tx2"/>
              </a:buClr>
              <a:buSzPct val="70000"/>
              <a:buFont typeface="Wingdings 2" charset="2"/>
              <a:buChar char=""/>
              <a:defRPr sz="2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1pPr>
            <a:lvl2pPr marL="720000" indent="-270000" algn="l" defTabSz="457200" rtl="0" eaLnBrk="1" latinLnBrk="0" hangingPunct="1">
              <a:spcBef>
                <a:spcPct val="20000"/>
              </a:spcBef>
              <a:spcAft>
                <a:spcPts val="600"/>
              </a:spcAft>
              <a:buClr>
                <a:schemeClr val="tx2"/>
              </a:buClr>
              <a:buSzPct val="70000"/>
              <a:buFont typeface="Wingdings 2" charset="2"/>
              <a:buChar char=""/>
              <a:defRPr sz="18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2pPr>
            <a:lvl3pPr marL="1026000" indent="-216000" algn="l" defTabSz="457200" rtl="0" eaLnBrk="1" latinLnBrk="0" hangingPunct="1">
              <a:spcBef>
                <a:spcPct val="20000"/>
              </a:spcBef>
              <a:spcAft>
                <a:spcPts val="600"/>
              </a:spcAft>
              <a:buClr>
                <a:schemeClr val="tx2"/>
              </a:buClr>
              <a:buSzPct val="70000"/>
              <a:buFont typeface="Wingdings 2" charset="2"/>
              <a:buChar char=""/>
              <a:defRPr sz="16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3pPr>
            <a:lvl4pPr marL="1386000" indent="-2160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4pPr>
            <a:lvl5pPr marL="1674000" indent="-2160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5pPr>
            <a:lvl6pPr marL="20146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6pPr>
            <a:lvl7pPr marL="24018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7pPr>
            <a:lvl8pPr marL="27890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8pPr>
            <a:lvl9pPr marL="31062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9pPr>
          </a:lstStyle>
          <a:p>
            <a:r>
              <a:rPr lang="en-US" dirty="0"/>
              <a:t>Discussed manufacturing implications</a:t>
            </a:r>
          </a:p>
          <a:p>
            <a:pPr lvl="1"/>
            <a:r>
              <a:rPr lang="en-US" dirty="0"/>
              <a:t>ISA-95 Hierarchy</a:t>
            </a:r>
          </a:p>
          <a:p>
            <a:pPr lvl="1"/>
            <a:r>
              <a:rPr lang="en-US" dirty="0"/>
              <a:t>CESMII / API Initiative</a:t>
            </a:r>
          </a:p>
          <a:p>
            <a:r>
              <a:rPr lang="en-US" dirty="0"/>
              <a:t>Industrial Use Cases</a:t>
            </a:r>
          </a:p>
          <a:p>
            <a:pPr lvl="1"/>
            <a:r>
              <a:rPr lang="en-US" dirty="0"/>
              <a:t>Machine data APIs</a:t>
            </a:r>
          </a:p>
          <a:p>
            <a:pPr lvl="1"/>
            <a:r>
              <a:rPr lang="en-US" dirty="0"/>
              <a:t>Production Monitoring</a:t>
            </a:r>
          </a:p>
          <a:p>
            <a:r>
              <a:rPr lang="en-US" dirty="0"/>
              <a:t>MCP Workshop in November!</a:t>
            </a:r>
          </a:p>
          <a:p>
            <a:endParaRPr lang="en-US" dirty="0"/>
          </a:p>
        </p:txBody>
      </p:sp>
    </p:spTree>
    <p:extLst>
      <p:ext uri="{BB962C8B-B14F-4D97-AF65-F5344CB8AC3E}">
        <p14:creationId xmlns:p14="http://schemas.microsoft.com/office/powerpoint/2010/main" val="1796939782"/>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Slate">
  <a:themeElements>
    <a:clrScheme name="Slate">
      <a:dk1>
        <a:sysClr val="windowText" lastClr="000000"/>
      </a:dk1>
      <a:lt1>
        <a:sysClr val="window" lastClr="FFFFFF"/>
      </a:lt1>
      <a:dk2>
        <a:srgbClr val="212123"/>
      </a:dk2>
      <a:lt2>
        <a:srgbClr val="DADADA"/>
      </a:lt2>
      <a:accent1>
        <a:srgbClr val="3EC26C"/>
      </a:accent1>
      <a:accent2>
        <a:srgbClr val="B3D463"/>
      </a:accent2>
      <a:accent3>
        <a:srgbClr val="3BBC9D"/>
      </a:accent3>
      <a:accent4>
        <a:srgbClr val="97AF75"/>
      </a:accent4>
      <a:accent5>
        <a:srgbClr val="6BA841"/>
      </a:accent5>
      <a:accent6>
        <a:srgbClr val="79AE90"/>
      </a:accent6>
      <a:hlink>
        <a:srgbClr val="85E4A6"/>
      </a:hlink>
      <a:folHlink>
        <a:srgbClr val="BDF3D0"/>
      </a:folHlink>
    </a:clrScheme>
    <a:fontScheme name="Slate">
      <a:majorFont>
        <a:latin typeface="Calisto MT" panose="02040603050505030304"/>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alisto MT" panose="02040603050505030304"/>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late">
      <a:fillStyleLst>
        <a:solidFill>
          <a:schemeClr val="phClr"/>
        </a:solidFill>
        <a:gradFill rotWithShape="1">
          <a:gsLst>
            <a:gs pos="0">
              <a:schemeClr val="phClr">
                <a:tint val="60000"/>
                <a:lumMod val="110000"/>
              </a:schemeClr>
            </a:gs>
            <a:gs pos="100000">
              <a:schemeClr val="phClr">
                <a:tint val="88000"/>
              </a:schemeClr>
            </a:gs>
          </a:gsLst>
          <a:lin ang="5400000" scaled="0"/>
        </a:gradFill>
        <a:gradFill rotWithShape="1">
          <a:gsLst>
            <a:gs pos="0">
              <a:schemeClr val="phClr">
                <a:tint val="96000"/>
                <a:lumMod val="104000"/>
              </a:schemeClr>
            </a:gs>
            <a:gs pos="100000">
              <a:schemeClr val="phClr">
                <a:shade val="90000"/>
                <a:lumMod val="90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63500" dist="25400" dir="5400000" rotWithShape="0">
              <a:srgbClr val="000000">
                <a:alpha val="60000"/>
              </a:srgbClr>
            </a:outerShdw>
          </a:effectLst>
        </a:effectStyle>
        <a:effectStyle>
          <a:effectLst>
            <a:outerShdw blurRad="76200" dist="38100" dir="5400000" rotWithShape="0">
              <a:srgbClr val="000000">
                <a:alpha val="75000"/>
              </a:srgbClr>
            </a:outerShdw>
          </a:effectLst>
          <a:scene3d>
            <a:camera prst="orthographicFront">
              <a:rot lat="0" lon="0" rev="0"/>
            </a:camera>
            <a:lightRig rig="threePt" dir="t">
              <a:rot lat="0" lon="0" rev="1200000"/>
            </a:lightRig>
          </a:scene3d>
          <a:sp3d>
            <a:bevelT w="63500" h="25400" prst="hardEdge"/>
          </a:sp3d>
        </a:effectStyle>
      </a:effectStyleLst>
      <a:bgFillStyleLst>
        <a:solidFill>
          <a:schemeClr val="phClr"/>
        </a:solidFill>
        <a:solidFill>
          <a:schemeClr val="phClr"/>
        </a:solidFill>
        <a:blipFill rotWithShape="1">
          <a:blip xmlns:r="http://schemas.openxmlformats.org/officeDocument/2006/relationships" r:embed="rId1">
            <a:duotone>
              <a:schemeClr val="phClr">
                <a:shade val="80000"/>
                <a:lumMod val="80000"/>
              </a:schemeClr>
              <a:schemeClr val="phClr">
                <a:tint val="98000"/>
              </a:schemeClr>
            </a:duotone>
          </a:blip>
          <a:stretch/>
        </a:blipFill>
      </a:bgFillStyleLst>
    </a:fmtScheme>
  </a:themeElements>
  <a:objectDefaults/>
  <a:extraClrSchemeLst/>
  <a:extLst>
    <a:ext uri="{05A4C25C-085E-4340-85A3-A5531E510DB2}">
      <thm15:themeFamily xmlns:thm15="http://schemas.microsoft.com/office/thememl/2012/main" name="Slate" id="{C3F70B94-7CE9-428E-ADC1-3269CC2C3385}" vid="{43372978-11FE-4814-AC26-BC300187D8C7}"/>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Slate</Template>
  <TotalTime>38054</TotalTime>
  <Words>2419</Words>
  <Application>Microsoft Office PowerPoint</Application>
  <PresentationFormat>Widescreen</PresentationFormat>
  <Paragraphs>386</Paragraphs>
  <Slides>43</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43</vt:i4>
      </vt:variant>
    </vt:vector>
  </HeadingPairs>
  <TitlesOfParts>
    <vt:vector size="51" baseType="lpstr">
      <vt:lpstr>Abadi</vt:lpstr>
      <vt:lpstr>Aptos</vt:lpstr>
      <vt:lpstr>Arial</vt:lpstr>
      <vt:lpstr>Calisto MT</vt:lpstr>
      <vt:lpstr>OCR A Extended</vt:lpstr>
      <vt:lpstr>Wingdings</vt:lpstr>
      <vt:lpstr>Wingdings 2</vt:lpstr>
      <vt:lpstr>Slate</vt:lpstr>
      <vt:lpstr>REST APIs</vt:lpstr>
      <vt:lpstr>Module 5</vt:lpstr>
      <vt:lpstr>Recap |  REST API Design</vt:lpstr>
      <vt:lpstr>Pre-Flight Check</vt:lpstr>
      <vt:lpstr>Recall | Conceptual Model</vt:lpstr>
      <vt:lpstr>Inspect the Code | Browse</vt:lpstr>
      <vt:lpstr>Inspect the Code | App Structure</vt:lpstr>
      <vt:lpstr>Inspect the Code | ERD v0.1</vt:lpstr>
      <vt:lpstr>Inspect the Code | ERD v0.2</vt:lpstr>
      <vt:lpstr>Inspect the Code | ERD v0.3</vt:lpstr>
      <vt:lpstr>Inspect the Code | C.R.U.D. Ops</vt:lpstr>
      <vt:lpstr>Inspect the Code | Iteration 0</vt:lpstr>
      <vt:lpstr>Inspect the Code | Error Handling</vt:lpstr>
      <vt:lpstr>Manufacturing Context</vt:lpstr>
      <vt:lpstr>Manufacturing Context</vt:lpstr>
      <vt:lpstr>Module 6</vt:lpstr>
      <vt:lpstr>Sec-Basics | Thread Modeling</vt:lpstr>
      <vt:lpstr>Sec-Basics | AuthN v AuthR</vt:lpstr>
      <vt:lpstr>Sec-Basics | TLS</vt:lpstr>
      <vt:lpstr>Sec-Basics | Tokens &amp; Secrets Lifecycle</vt:lpstr>
      <vt:lpstr>Sec-Basics | Input Validation</vt:lpstr>
      <vt:lpstr>Sec-Basics | Preventing Overuse</vt:lpstr>
      <vt:lpstr>Sec-Basics | Other Best-Practices</vt:lpstr>
      <vt:lpstr>Sec-Basics | API Keys v. JWT Tokens</vt:lpstr>
      <vt:lpstr>Sec-Basics | OAuth 2.0 m2m Flow</vt:lpstr>
      <vt:lpstr>Sec-Basics | OAuth 2.0 Prequel</vt:lpstr>
      <vt:lpstr>FastAPI Security</vt:lpstr>
      <vt:lpstr>Inspect the Code | Iteration 1</vt:lpstr>
      <vt:lpstr>FastAPI Security | Built-In Features</vt:lpstr>
      <vt:lpstr>FastAPI Security | Rate-Limiting</vt:lpstr>
      <vt:lpstr>Inspect the Code | Iteration 2</vt:lpstr>
      <vt:lpstr>Module 7</vt:lpstr>
      <vt:lpstr>Evolvable APIs| Versioning</vt:lpstr>
      <vt:lpstr>Evolvable APIs| Versioning Strategies</vt:lpstr>
      <vt:lpstr>Evolvable APIs| Best Practices</vt:lpstr>
      <vt:lpstr>Evolvable APIs | Dox &amp; OpenAPI</vt:lpstr>
      <vt:lpstr>Inspect the Code | Iteration 3</vt:lpstr>
      <vt:lpstr>Module 8</vt:lpstr>
      <vt:lpstr>Industrial Use Cases</vt:lpstr>
      <vt:lpstr>Industrial Use Cases</vt:lpstr>
      <vt:lpstr>REST for MCP…</vt:lpstr>
      <vt:lpstr>The Recap _</vt:lpstr>
      <vt:lpstr>Day Two | Recap</vt:lpstr>
    </vt:vector>
  </TitlesOfParts>
  <Company>Protolabs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Anibal Velarde</dc:creator>
  <cp:lastModifiedBy>Anibal Velarde</cp:lastModifiedBy>
  <cp:revision>22</cp:revision>
  <dcterms:created xsi:type="dcterms:W3CDTF">2025-08-20T21:28:44Z</dcterms:created>
  <dcterms:modified xsi:type="dcterms:W3CDTF">2025-09-29T19:33:55Z</dcterms:modified>
</cp:coreProperties>
</file>